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image" Target="../media/image-36-6.png"/><Relationship Id="rId7" Type="http://schemas.openxmlformats.org/officeDocument/2006/relationships/image" Target="../media/image-36-7.png"/><Relationship Id="rId8" Type="http://schemas.openxmlformats.org/officeDocument/2006/relationships/image" Target="../media/image-3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6035040" cy="6035040"/>
          </a:xfrm>
          <a:prstGeom prst="ellipse">
            <a:avLst/>
          </a:prstGeom>
          <a:solidFill>
            <a:srgbClr val="163A5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474720"/>
            <a:ext cx="4937760" cy="493776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3246120"/>
            <a:ext cx="2926080" cy="2926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68B8"/>
            </a:solidFill>
            <a:prstDash val="solid"/>
          </a:ln>
        </p:spPr>
      </p:sp>
      <p:pic>
        <p:nvPicPr>
          <p:cNvPr id="5" name="Image 0" descr="img/bc111548b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6304" y="3675888"/>
            <a:ext cx="1733632" cy="2157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1051560"/>
            <a:ext cx="457200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PORTFOLIO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160020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endParaRPr lang="en-US" sz="66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788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Google-Certified Digital &amp; Performance Marketer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281160" y="685800"/>
            <a:ext cx="228600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11" name="Image 1" descr="img/e1f98473b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464" y="846420"/>
            <a:ext cx="1993392" cy="68459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06240" y="4892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  </a:t>
            </a:r>
            <a:pPr algn="l" indent="0" marL="0">
              <a:buNone/>
            </a:pPr>
            <a:r>
              <a:rPr lang="en-US" sz="14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www.aakashpareek.in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206240" y="54589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  </a:t>
            </a:r>
            <a:pPr algn="l" indent="0" marL="0">
              <a:buNone/>
            </a:pPr>
            <a:r>
              <a:rPr lang="en-US" sz="14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akashpareek000@gmail.com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4206240" y="602589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  </a:t>
            </a:r>
            <a:pPr algn="l" indent="0" marL="0">
              <a:buNone/>
            </a:pPr>
            <a:r>
              <a:rPr lang="en-US" sz="14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79767 84738  ·  +971 55851 8360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 Am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160520" cy="3703320"/>
          </a:xfrm>
          <a:prstGeom prst="roundRect">
            <a:avLst>
              <a:gd name="adj" fmla="val 271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68880"/>
            <a:ext cx="1371600" cy="1371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668B8"/>
            </a:solidFill>
            <a:prstDash val="solid"/>
          </a:ln>
        </p:spPr>
      </p:sp>
      <p:pic>
        <p:nvPicPr>
          <p:cNvPr id="7" name="Image 0" descr="img/bc111548b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456" y="2670048"/>
            <a:ext cx="808049" cy="10058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977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370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50" kern="0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MARKETER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800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— Marketing Major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Dubai, UAE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074920" y="219456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Google-certified digital marketer working with companies around the world.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074920" y="3246120"/>
            <a:ext cx="6492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hold a Master's in Business Administration with a Marketing major from Dubai, UAE.</a:t>
            </a:r>
            <a:endParaRPr lang="en-US" sz="1550" dirty="0"/>
          </a:p>
          <a:p>
            <a:pPr algn="l"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about four years I have worked as a Digital &amp; Performance Marketing Specialist with a variety of well-reputed businesses — building strategy, running campaigns, and turning data into growth.</a:t>
            </a:r>
            <a:endParaRPr lang="en-US" sz="1550" dirty="0"/>
          </a:p>
        </p:txBody>
      </p:sp>
      <p:sp>
        <p:nvSpPr>
          <p:cNvPr id="13" name="Text 10"/>
          <p:cNvSpPr txBox="1"/>
          <p:nvPr/>
        </p:nvSpPr>
        <p:spPr>
          <a:xfrm>
            <a:off x="5074920" y="50749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yrs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5074920" y="58613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5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269480" y="50749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7269480" y="58613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5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CLIENTELE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464040" y="50749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9464040" y="58613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5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DO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Expertise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93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Full-funnel digital marketing across organic, paid, and creative.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487168"/>
            <a:ext cx="3639312" cy="868680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670048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E8F1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578608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Marketing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61688" y="2487168"/>
            <a:ext cx="3639312" cy="868680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670048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E8F1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2578608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Planning &amp; Strategy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74736" y="2487168"/>
            <a:ext cx="3639312" cy="868680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9328" y="2670048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E8F1F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39328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979408" y="2578608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Advertising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3465576"/>
            <a:ext cx="3639312" cy="868680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648456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E8F1F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3232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3557016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Website Design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361688" y="3465576"/>
            <a:ext cx="3639312" cy="868680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26280" y="3648456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E8F1F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2628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166360" y="3557016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Development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174736" y="3465576"/>
            <a:ext cx="3639312" cy="868680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39328" y="3648456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E8F1F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339328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979408" y="3557016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Marketing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48640" y="4443984"/>
            <a:ext cx="3639312" cy="868680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" y="4626864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E8F1F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13232" y="4626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353312" y="4535424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Design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4361688" y="4443984"/>
            <a:ext cx="3639312" cy="868680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26280" y="4626864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E8F1F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526280" y="4626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5166360" y="4535424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Marketing &amp; Automation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8174736" y="4443984"/>
            <a:ext cx="3639312" cy="868680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39328" y="4626864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E8F1F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339328" y="4626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8979408" y="4535424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&amp; Competitor Research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548640" y="5422392"/>
            <a:ext cx="3639312" cy="868680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3232" y="5605272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E8F1FB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13232" y="5605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1353312" y="5513832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 Optimization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4361688" y="5422392"/>
            <a:ext cx="3639312" cy="868680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26280" y="5605272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E8F1FB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526280" y="5605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5166360" y="5513832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&amp; Reporting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8174736" y="5422392"/>
            <a:ext cx="3639312" cy="868680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39328" y="5605272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E8F1FB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8339328" y="5605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8979408" y="5513832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Optimization</a:t>
            </a:r>
            <a:endParaRPr lang="en-US" sz="135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RECORD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My Experience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managed communities and social accounts and helped clients enrich their social presence — from full profile audits to advertising strategy and data-driven recommendations.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45K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9469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5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COMMUNITY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4160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20K+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49469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5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FOLLOWERS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20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19K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070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5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AUDIENCE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5120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22.5K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59070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5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SUBSCRIBERS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32120" y="2148840"/>
            <a:ext cx="3017520" cy="187452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15" name="Image 0" descr="img/4447a349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112" y="2258568"/>
            <a:ext cx="1577536" cy="165506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750808" y="2148840"/>
            <a:ext cx="3017520" cy="187452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17" name="Image 1" descr="img/9ac09d70b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437" y="2258568"/>
            <a:ext cx="1628261" cy="165506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532120" y="4224528"/>
            <a:ext cx="3017520" cy="187452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19" name="Image 2" descr="img/ba3f4b512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629" y="4334256"/>
            <a:ext cx="1604502" cy="1655064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750808" y="4224528"/>
            <a:ext cx="3017520" cy="187452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21" name="Image 3" descr="img/96023c66b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219" y="4334256"/>
            <a:ext cx="1722699" cy="16550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513832" cy="173736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43200"/>
            <a:ext cx="731520" cy="7315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55117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2807208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of Business Administration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3447288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Major · Dubai, UAE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45352" y="2240280"/>
            <a:ext cx="5513832" cy="173736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9672" y="2743200"/>
            <a:ext cx="731520" cy="731520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19672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479792" y="255117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479792" y="2807208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Fundamentals of Digital Marketing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7479792" y="3447288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Digital Garage · ID: JKJG3UZDB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5513832" cy="173736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4663440"/>
            <a:ext cx="731520" cy="731520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663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783080" y="447141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783080" y="4727448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Search &amp; Display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1783080" y="5367528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· ID: 113015369, 108288402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45352" y="4160520"/>
            <a:ext cx="5513832" cy="173736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19672" y="4663440"/>
            <a:ext cx="731520" cy="731520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19672" y="4663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7479792" y="447141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479792" y="4727448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Google Analytics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7479792" y="5367528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 · Issued Dec 2021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Skills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6720840" cy="1170432"/>
          </a:xfrm>
          <a:prstGeom prst="roundRect">
            <a:avLst>
              <a:gd name="adj" fmla="val 859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432304"/>
            <a:ext cx="694944" cy="694944"/>
          </a:xfrm>
          <a:prstGeom prst="roundRect">
            <a:avLst>
              <a:gd name="adj" fmla="val 15789"/>
            </a:avLst>
          </a:prstGeom>
          <a:solidFill>
            <a:srgbClr val="E8F1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43230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4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24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39572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Management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79806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Facebook &amp; LinkedIn — content, community and reputation management.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511296"/>
            <a:ext cx="6720840" cy="1170432"/>
          </a:xfrm>
          <a:prstGeom prst="roundRect">
            <a:avLst>
              <a:gd name="adj" fmla="val 859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749040"/>
            <a:ext cx="694944" cy="694944"/>
          </a:xfrm>
          <a:prstGeom prst="roundRect">
            <a:avLst>
              <a:gd name="adj" fmla="val 15789"/>
            </a:avLst>
          </a:prstGeom>
          <a:solidFill>
            <a:srgbClr val="FDEED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74904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4" b="1" dirty="0">
                <a:solidFill>
                  <a:srgbClr val="C7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24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71246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/ Advertising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4114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Facebook, LinkedIn, Google, YouTube, Microsoft &amp; Snapchat Ads.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828032"/>
            <a:ext cx="6720840" cy="1170432"/>
          </a:xfrm>
          <a:prstGeom prst="roundRect">
            <a:avLst>
              <a:gd name="adj" fmla="val 859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5065776"/>
            <a:ext cx="694944" cy="694944"/>
          </a:xfrm>
          <a:prstGeom prst="roundRect">
            <a:avLst>
              <a:gd name="adj" fmla="val 15789"/>
            </a:avLst>
          </a:prstGeom>
          <a:solidFill>
            <a:srgbClr val="E8F1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506577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4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24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5029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Certification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543153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Marketing, Social Media &amp; Digital Marketing tools.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43800" y="2194560"/>
            <a:ext cx="4069080" cy="3803904"/>
          </a:xfrm>
          <a:prstGeom prst="roundRect">
            <a:avLst>
              <a:gd name="adj" fmla="val 2644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81812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I MANAGE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18120" y="297180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pic>
        <p:nvPicPr>
          <p:cNvPr id="23" name="Image 0" descr="img/719a0330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3063240"/>
            <a:ext cx="594360" cy="59436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8778240" y="2971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818120" y="3904488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pic>
        <p:nvPicPr>
          <p:cNvPr id="26" name="Image 1" descr="img/6396b55a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3995928"/>
            <a:ext cx="594360" cy="59436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8778240" y="390448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7818120" y="4837176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pic>
        <p:nvPicPr>
          <p:cNvPr id="29" name="Image 2" descr="img/c455fb4b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4928616"/>
            <a:ext cx="594360" cy="59436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778240" y="4837176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32" name="Text 27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108960"/>
            <a:ext cx="5669280" cy="5669280"/>
          </a:xfrm>
          <a:prstGeom prst="ellipse">
            <a:avLst/>
          </a:prstGeom>
          <a:solidFill>
            <a:srgbClr val="163A5F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194560"/>
            <a:ext cx="4206240" cy="4206240"/>
          </a:xfrm>
          <a:prstGeom prst="ellipse">
            <a:avLst/>
          </a:prstGeom>
          <a:solidFill>
            <a:srgbClr val="16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0" y="182880"/>
            <a:ext cx="475488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0" dirty="0"/>
          </a:p>
        </p:txBody>
      </p:sp>
      <p:sp>
        <p:nvSpPr>
          <p:cNvPr id="5" name="Shape 3"/>
          <p:cNvSpPr/>
          <p:nvPr/>
        </p:nvSpPr>
        <p:spPr>
          <a:xfrm>
            <a:off x="914400" y="2331720"/>
            <a:ext cx="457200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5146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ONE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52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70916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brand communities and driving engagement through organic content and strategy.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GROWTH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Social Presence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leveraging the full potential of social media marketing, I have increased brand visibility while facilitating meaningful interactions and customer engagement. Carefully crafted content and strategic ad placement have driven soaring reach, amplified conversions, and increased website traffic.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084832"/>
            <a:ext cx="4572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Shape 5"/>
          <p:cNvSpPr/>
          <p:nvPr/>
        </p:nvSpPr>
        <p:spPr>
          <a:xfrm>
            <a:off x="5532120" y="2194560"/>
            <a:ext cx="3017520" cy="187452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8" name="Image 0" descr="img/b67c2423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6947" y="2304288"/>
            <a:ext cx="2087865" cy="16550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0" y="2194560"/>
            <a:ext cx="2926080" cy="187452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10" name="Image 1" descr="img/02de3a44b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9933" y="2304288"/>
            <a:ext cx="2059813" cy="165506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532120" y="4251960"/>
            <a:ext cx="6080760" cy="1737360"/>
          </a:xfrm>
          <a:prstGeom prst="roundRect">
            <a:avLst>
              <a:gd name="adj" fmla="val 5789"/>
            </a:avLst>
          </a:prstGeom>
          <a:solidFill>
            <a:srgbClr val="E8F1FB"/>
          </a:solidFill>
          <a:ln/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580644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806440" y="475488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profile audits and content strategy</a:t>
            </a:r>
            <a:endParaRPr lang="en-US" sz="1350" dirty="0"/>
          </a:p>
          <a:p>
            <a:pPr algn="l" marL="203200" indent="-2032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growth and engagement</a:t>
            </a:r>
            <a:endParaRPr lang="en-US" sz="1350" dirty="0"/>
          </a:p>
          <a:p>
            <a:pPr algn="l" marL="203200" indent="-2032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Copywriting and reputation management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FACEBOOK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Page Growth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299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managing a client's Facebook page I drove dramatic organic growth in a single week.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2880360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8620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+1,107%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3447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LIKES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11880" y="2697480"/>
            <a:ext cx="2880360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840480" y="28620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+1,250%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858768" y="3447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REACH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2880360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42793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+397%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48646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VIEWS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11880" y="4114800"/>
            <a:ext cx="2880360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840480" y="42793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+392%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3858768" y="48646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ENGAGEMENT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623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 </a:t>
            </a:r>
            <a:pPr algn="l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page likes &amp; followers gained in just 7 days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086600" y="2148840"/>
            <a:ext cx="4526280" cy="3931920"/>
          </a:xfrm>
          <a:prstGeom prst="roundRect">
            <a:avLst>
              <a:gd name="adj" fmla="val 255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20" name="Image 0" descr="img/646ed10d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9205" y="2276856"/>
            <a:ext cx="3281070" cy="367588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· FACEBOOK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Page Insights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performance from 1 Sep 2020 – 8 April 2022.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96828" y="2514600"/>
            <a:ext cx="7798039" cy="3858768"/>
          </a:xfrm>
          <a:prstGeom prst="roundRect">
            <a:avLst>
              <a:gd name="adj" fmla="val 260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7" name="Image 0" descr="img/9f9f128fd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132" y="2660904"/>
            <a:ext cx="7505431" cy="35661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· LINKEDIN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Organic Growth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organic marketing traffic from 1 Sep 2020 – 8 April 2022.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73744" y="2514600"/>
            <a:ext cx="7644206" cy="3858768"/>
          </a:xfrm>
          <a:prstGeom prst="roundRect">
            <a:avLst>
              <a:gd name="adj" fmla="val 260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7" name="Image 0" descr="img/981d5641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0048" y="2660904"/>
            <a:ext cx="7351598" cy="35661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· LINKEDIN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Insight — April 2021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 </a:t>
            </a:r>
            <a:pPr algn="l" indent="0" marL="0">
              <a:buNone/>
            </a:pPr>
            <a:r>
              <a:rPr lang="en-US" sz="14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followers gained on the LinkedIn page in April 2021.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12672" y="2514600"/>
            <a:ext cx="7566351" cy="3858768"/>
          </a:xfrm>
          <a:prstGeom prst="roundRect">
            <a:avLst>
              <a:gd name="adj" fmla="val 260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7" name="Image 0" descr="img/0ec7f92ea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8976" y="2660904"/>
            <a:ext cx="7273743" cy="35661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· LINKEDIN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Insight — March 2022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+1,915 </a:t>
            </a:r>
            <a:pPr algn="l" indent="0" marL="0">
              <a:buNone/>
            </a:pPr>
            <a:r>
              <a:rPr lang="en-US" sz="14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followers in March 2022 — 15% higher than the previous month.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77705" y="2514600"/>
            <a:ext cx="7636284" cy="3858768"/>
          </a:xfrm>
          <a:prstGeom prst="roundRect">
            <a:avLst>
              <a:gd name="adj" fmla="val 260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7" name="Image 0" descr="img/9aa42d97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4009" y="2660904"/>
            <a:ext cx="7343676" cy="35661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Pages into Communities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4297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strategic and consistent social media marketing, page likes and followers have grown remarkably — transforming each brand's online presence into a thriving community of loyal supporters.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66928" y="2039112"/>
            <a:ext cx="4572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Shape 5"/>
          <p:cNvSpPr/>
          <p:nvPr/>
        </p:nvSpPr>
        <p:spPr>
          <a:xfrm>
            <a:off x="5166360" y="2148840"/>
            <a:ext cx="3154680" cy="2148840"/>
          </a:xfrm>
          <a:prstGeom prst="roundRect">
            <a:avLst>
              <a:gd name="adj" fmla="val 468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8" name="Image 0" descr="img/5b906f51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0499" y="2258568"/>
            <a:ext cx="2366401" cy="19293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58200" y="2148840"/>
            <a:ext cx="3154680" cy="2148840"/>
          </a:xfrm>
          <a:prstGeom prst="roundRect">
            <a:avLst>
              <a:gd name="adj" fmla="val 468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10" name="Image 1" descr="img/54de787e5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7923" y="2258568"/>
            <a:ext cx="2415234" cy="19293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166360" y="4434840"/>
            <a:ext cx="6446520" cy="1600200"/>
          </a:xfrm>
          <a:prstGeom prst="roundRect">
            <a:avLst>
              <a:gd name="adj" fmla="val 628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12" name="Image 2" descr="img/47fbb062d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476" y="4544568"/>
            <a:ext cx="1248289" cy="1380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14" name="Text 9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108960"/>
            <a:ext cx="5669280" cy="5669280"/>
          </a:xfrm>
          <a:prstGeom prst="ellipse">
            <a:avLst/>
          </a:prstGeom>
          <a:solidFill>
            <a:srgbClr val="163A5F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194560"/>
            <a:ext cx="4206240" cy="4206240"/>
          </a:xfrm>
          <a:prstGeom prst="ellipse">
            <a:avLst/>
          </a:prstGeom>
          <a:solidFill>
            <a:srgbClr val="16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0" y="182880"/>
            <a:ext cx="475488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0" dirty="0"/>
          </a:p>
        </p:txBody>
      </p:sp>
      <p:sp>
        <p:nvSpPr>
          <p:cNvPr id="5" name="Shape 3"/>
          <p:cNvSpPr/>
          <p:nvPr/>
        </p:nvSpPr>
        <p:spPr>
          <a:xfrm>
            <a:off x="914400" y="2331720"/>
            <a:ext cx="457200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5146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TWO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</a:t>
            </a:r>
            <a:endParaRPr lang="en-US" sz="52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Ads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70916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campaigns across Facebook, Instagram, LinkedIn &amp; YouTube — engineered for ROI.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FACEBOOK ADS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Page-Like Campaign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optimization slashed the cost per page like — dramatically improving the efficiency of acquiring new followers.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200400" cy="1600200"/>
          </a:xfrm>
          <a:prstGeom prst="roundRect">
            <a:avLst>
              <a:gd name="adj" fmla="val 628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00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10.89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4005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page like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77640" y="2743200"/>
            <a:ext cx="3520440" cy="1600200"/>
          </a:xfrm>
          <a:prstGeom prst="roundRect">
            <a:avLst>
              <a:gd name="adj" fmla="val 6286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20624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3200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1.25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224528" y="4005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page like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6177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</a:t>
            </a:r>
            <a:pPr algn="l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 per acquisition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12064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— Facebook Page Likes</a:t>
            </a:r>
            <a:endParaRPr lang="en-US" sz="1300" dirty="0"/>
          </a:p>
          <a:p>
            <a:pPr algn="l" marL="203200" indent="-2032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audience &amp; creative testing</a:t>
            </a:r>
            <a:endParaRPr lang="en-US" sz="1300" dirty="0"/>
          </a:p>
          <a:p>
            <a:pPr algn="l" marL="203200" indent="-2032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bid and placement optimization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2148840"/>
            <a:ext cx="3794760" cy="3931920"/>
          </a:xfrm>
          <a:prstGeom prst="roundRect">
            <a:avLst>
              <a:gd name="adj" fmla="val 265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17" name="Image 0" descr="img/5c6599b1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1657" y="2276856"/>
            <a:ext cx="2067687" cy="367588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ADS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Campaign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Single-image ad designed to maximise post engagement and interaction.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657600" cy="3429000"/>
          </a:xfrm>
          <a:prstGeom prst="roundRect">
            <a:avLst>
              <a:gd name="adj" fmla="val 2933"/>
            </a:avLst>
          </a:prstGeom>
          <a:solidFill>
            <a:srgbClr val="E8F1FB"/>
          </a:solidFill>
          <a:ln/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0040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— Post Engagement</a:t>
            </a:r>
            <a:endParaRPr lang="en-US" sz="1450" dirty="0"/>
          </a:p>
          <a:p>
            <a:pPr algn="l" marL="203200" indent="-2032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— Single Image Ad</a:t>
            </a:r>
            <a:endParaRPr lang="en-US" sz="1450" dirty="0"/>
          </a:p>
          <a:p>
            <a:pPr algn="l" marL="203200" indent="-2032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Placements — Facebook &amp; Instagram</a:t>
            </a:r>
            <a:endParaRPr lang="en-US" sz="1450" dirty="0"/>
          </a:p>
          <a:p>
            <a:pPr algn="l" marL="203200" indent="-2032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— reach and interactions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434840" y="2606040"/>
            <a:ext cx="4160520" cy="3429000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10" name="Image 0" descr="img/2f49eb62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2856" y="3507862"/>
            <a:ext cx="3904488" cy="162535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823960" y="2606040"/>
            <a:ext cx="2788920" cy="3429000"/>
          </a:xfrm>
          <a:prstGeom prst="roundRect">
            <a:avLst>
              <a:gd name="adj" fmla="val 360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12" name="Image 1" descr="img/96d10485a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4669" y="2734056"/>
            <a:ext cx="1907503" cy="31729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ADS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Campaign — Carousel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57600" cy="3749040"/>
          </a:xfrm>
          <a:prstGeom prst="roundRect">
            <a:avLst>
              <a:gd name="adj" fmla="val 275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DETAILS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83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3383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886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3886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Facebook, Instagram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389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148840" y="4389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– 46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892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148840" y="4892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&amp; Female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394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148840" y="5394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34840" y="2286000"/>
            <a:ext cx="2514600" cy="3749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20" name="Image 0" descr="img/c43bde68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4568" y="2464237"/>
            <a:ext cx="2295144" cy="3392565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7132320" y="2286000"/>
            <a:ext cx="4480560" cy="374904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22" name="Image 1" descr="img/26c4f353d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336" y="3127858"/>
            <a:ext cx="4224528" cy="206532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ADS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 — Video Ad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57600" cy="3749040"/>
          </a:xfrm>
          <a:prstGeom prst="roundRect">
            <a:avLst>
              <a:gd name="adj" fmla="val 275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DETAILS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83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3383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886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3886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Facebook, Instagram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389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148840" y="4389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– 45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892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148840" y="4892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&amp; Female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394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148840" y="5394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34840" y="2286000"/>
            <a:ext cx="3246120" cy="3749040"/>
          </a:xfrm>
          <a:prstGeom prst="roundRect">
            <a:avLst>
              <a:gd name="adj" fmla="val 309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20" name="Image 0" descr="img/bde33e5c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2856" y="2791191"/>
            <a:ext cx="2990088" cy="273865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7909560" y="2286000"/>
            <a:ext cx="3703320" cy="3749040"/>
          </a:xfrm>
          <a:prstGeom prst="roundRect">
            <a:avLst>
              <a:gd name="adj" fmla="val 271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22" name="Image 1" descr="img/055b62cf0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576" y="3522491"/>
            <a:ext cx="3447288" cy="1276057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ADS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 — Single Image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57600" cy="3749040"/>
          </a:xfrm>
          <a:prstGeom prst="roundRect">
            <a:avLst>
              <a:gd name="adj" fmla="val 275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DETAILS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83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3383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886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3886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Facebook, Instagram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389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148840" y="4389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– 35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892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148840" y="4892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&amp; Female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394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148840" y="5394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&amp; Tier 2 India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34840" y="2286000"/>
            <a:ext cx="3429000" cy="3749040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20" name="Image 0" descr="img/d07ec989c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2856" y="2479743"/>
            <a:ext cx="3172968" cy="3361555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8092440" y="2286000"/>
            <a:ext cx="3520440" cy="37490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22" name="Image 1" descr="img/2c5c3e1a7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456" y="3402553"/>
            <a:ext cx="3264408" cy="151593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ADS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Profile-Visit Reel Campaign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977640" cy="374904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DETAILS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Visits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37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794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3794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– 44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251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4251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&amp; Female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709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4709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5029200"/>
            <a:ext cx="3520440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166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1,03,380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532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 views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965960" y="5166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5532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clicks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154680" y="5166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154680" y="5532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visits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286000"/>
            <a:ext cx="3291840" cy="3749040"/>
          </a:xfrm>
          <a:prstGeom prst="roundRect">
            <a:avLst>
              <a:gd name="adj" fmla="val 305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25" name="Image 0" descr="img/70198311b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9425" y="2395728"/>
            <a:ext cx="2042751" cy="3529584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8229600" y="2286000"/>
            <a:ext cx="3383280" cy="3749040"/>
          </a:xfrm>
          <a:prstGeom prst="roundRect">
            <a:avLst>
              <a:gd name="adj" fmla="val 297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27" name="Image 1" descr="img/a43eeb3c9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435" y="2395728"/>
            <a:ext cx="2045611" cy="352958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ADS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Advertising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063240" cy="3794760"/>
          </a:xfrm>
          <a:prstGeom prst="roundRect">
            <a:avLst>
              <a:gd name="adj" fmla="val 3284"/>
            </a:avLst>
          </a:prstGeom>
          <a:solidFill>
            <a:srgbClr val="E8F1FB"/>
          </a:solidFill>
          <a:ln/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— SALES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900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3401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budget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3840480"/>
            <a:ext cx="2606040" cy="0"/>
          </a:xfrm>
          <a:prstGeom prst="line">
            <a:avLst/>
          </a:prstGeom>
          <a:noFill/>
          <a:ln w="12700">
            <a:solidFill>
              <a:srgbClr val="C9D6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9776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
</a:t>
            </a:r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Visits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94760" y="2240280"/>
            <a:ext cx="3063240" cy="3794760"/>
          </a:xfrm>
          <a:prstGeom prst="roundRect">
            <a:avLst>
              <a:gd name="adj" fmla="val 3284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02336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2788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4041648" y="3456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leads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23360" y="3840480"/>
            <a:ext cx="2606040" cy="0"/>
          </a:xfrm>
          <a:prstGeom prst="line">
            <a:avLst/>
          </a:prstGeom>
          <a:noFill/>
          <a:ln w="12700">
            <a:solidFill>
              <a:srgbClr val="3350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23360" y="397764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budget  </a:t>
            </a:r>
            <a:pPr algn="l"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500
</a:t>
            </a:r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spent  </a:t>
            </a:r>
            <a:pPr algn="l"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4,289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40880" y="2240280"/>
            <a:ext cx="4572000" cy="3794760"/>
          </a:xfrm>
          <a:prstGeom prst="roundRect">
            <a:avLst>
              <a:gd name="adj" fmla="val 265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18" name="Image 0" descr="img/da61a34a8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8896" y="3184550"/>
            <a:ext cx="4315968" cy="1906219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ADVERTISING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Ads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campaigns built for reach, views, and qualified traffic.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49215" y="2514600"/>
            <a:ext cx="7693265" cy="3858768"/>
          </a:xfrm>
          <a:prstGeom prst="roundRect">
            <a:avLst>
              <a:gd name="adj" fmla="val 2607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7" name="Image 0" descr="img/da57efaf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519" y="2660904"/>
            <a:ext cx="7400657" cy="35661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108960"/>
            <a:ext cx="5669280" cy="5669280"/>
          </a:xfrm>
          <a:prstGeom prst="ellipse">
            <a:avLst/>
          </a:prstGeom>
          <a:solidFill>
            <a:srgbClr val="163A5F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194560"/>
            <a:ext cx="4206240" cy="4206240"/>
          </a:xfrm>
          <a:prstGeom prst="ellipse">
            <a:avLst/>
          </a:prstGeom>
          <a:solidFill>
            <a:srgbClr val="16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0" y="182880"/>
            <a:ext cx="475488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0" dirty="0"/>
          </a:p>
        </p:txBody>
      </p:sp>
      <p:sp>
        <p:nvSpPr>
          <p:cNvPr id="5" name="Shape 3"/>
          <p:cNvSpPr/>
          <p:nvPr/>
        </p:nvSpPr>
        <p:spPr>
          <a:xfrm>
            <a:off x="914400" y="2331720"/>
            <a:ext cx="457200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5146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THREE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</a:t>
            </a:r>
            <a:endParaRPr lang="en-US" sz="52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70916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high-intent demand with Google Search &amp; Display advertising.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· GOOGLE ADS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Ads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Keyword-targeted search campaigns that put the brand in front of ready-to-buy audiences.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6766560" cy="3474720"/>
          </a:xfrm>
          <a:prstGeom prst="roundRect">
            <a:avLst>
              <a:gd name="adj" fmla="val 289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7" name="Image 0" descr="img/4ddce64f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720" y="2688336"/>
            <a:ext cx="6024400" cy="32186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98080" y="2560320"/>
            <a:ext cx="4114800" cy="3474720"/>
          </a:xfrm>
          <a:prstGeom prst="roundRect">
            <a:avLst>
              <a:gd name="adj" fmla="val 289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9" name="Image 1" descr="img/6e99ce299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096" y="2705728"/>
            <a:ext cx="3858768" cy="318390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· GOOGLE ADS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Campaign Performance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campaign dashboards showing spend, clicks, impressions and optimization scores.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6766560" cy="3429000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7" name="Image 0" descr="img/d2c95474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906" y="2734056"/>
            <a:ext cx="5952029" cy="31729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98080" y="2606040"/>
            <a:ext cx="4114800" cy="3429000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9" name="Image 1" descr="img/659023ef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096" y="3515022"/>
            <a:ext cx="3858768" cy="16110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· GOOGLE ADS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Setup &amp; Structure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Well-structured ad groups, keywords, and extensions built for quality score and efficiency.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6766560" cy="3429000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7" name="Image 0" descr="img/523aebea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3244203"/>
            <a:ext cx="6510528" cy="21526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98080" y="2606040"/>
            <a:ext cx="4114800" cy="3429000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9" name="Image 1" descr="img/0d3e08a0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162" y="2734056"/>
            <a:ext cx="3090635" cy="31729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 Optimization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on-page and off-page optimization to grow organic visibility and rankings.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520440" cy="3429000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81635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8F1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2816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4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281635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1188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research &amp; analysis</a:t>
            </a:r>
            <a:endParaRPr lang="en-US" sz="130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titles &amp; descriptions</a:t>
            </a:r>
            <a:endParaRPr lang="en-US" sz="130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&amp; external linking</a:t>
            </a:r>
            <a:endParaRPr lang="en-US" sz="130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image optimization</a:t>
            </a:r>
            <a:endParaRPr lang="en-US" sz="130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&amp; page speed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51960" y="2560320"/>
            <a:ext cx="3520440" cy="3429000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7992" y="281635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8F1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07992" y="2816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5184648" y="281635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61188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 &amp; sitemap.xml</a:t>
            </a:r>
            <a:endParaRPr lang="en-US" sz="130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Console</a:t>
            </a:r>
            <a:endParaRPr lang="en-US" sz="130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</a:t>
            </a:r>
            <a:endParaRPr lang="en-US" sz="130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integration</a:t>
            </a:r>
            <a:endParaRPr lang="en-US" sz="130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Vitals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2560320"/>
            <a:ext cx="3520440" cy="3429000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11312" y="281635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8F1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11312" y="2816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40" dirty="0"/>
          </a:p>
        </p:txBody>
      </p:sp>
      <p:sp>
        <p:nvSpPr>
          <p:cNvPr id="19" name="Text 17"/>
          <p:cNvSpPr txBox="1"/>
          <p:nvPr/>
        </p:nvSpPr>
        <p:spPr>
          <a:xfrm>
            <a:off x="8887968" y="281635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Off-Page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361188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 building</a:t>
            </a:r>
            <a:endParaRPr lang="en-US" sz="130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linking</a:t>
            </a:r>
            <a:endParaRPr lang="en-US" sz="130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mentions</a:t>
            </a:r>
            <a:endParaRPr lang="en-US" sz="130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&amp; citations</a:t>
            </a:r>
            <a:endParaRPr lang="en-US" sz="130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signals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108960"/>
            <a:ext cx="5669280" cy="5669280"/>
          </a:xfrm>
          <a:prstGeom prst="ellipse">
            <a:avLst/>
          </a:prstGeom>
          <a:solidFill>
            <a:srgbClr val="163A5F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194560"/>
            <a:ext cx="4206240" cy="4206240"/>
          </a:xfrm>
          <a:prstGeom prst="ellipse">
            <a:avLst/>
          </a:prstGeom>
          <a:solidFill>
            <a:srgbClr val="16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0" y="182880"/>
            <a:ext cx="475488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4000" dirty="0"/>
          </a:p>
        </p:txBody>
      </p:sp>
      <p:sp>
        <p:nvSpPr>
          <p:cNvPr id="5" name="Shape 3"/>
          <p:cNvSpPr/>
          <p:nvPr/>
        </p:nvSpPr>
        <p:spPr>
          <a:xfrm>
            <a:off x="914400" y="2331720"/>
            <a:ext cx="457200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5146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FOUR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Marketing</a:t>
            </a:r>
            <a:endParaRPr lang="en-US" sz="52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70916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SMS, email automation and influencer marketing that extend every campaign's reach.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MARKETING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&amp; WhatsApp Campaigns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40680" cy="3566160"/>
          </a:xfrm>
          <a:prstGeom prst="roundRect">
            <a:avLst>
              <a:gd name="adj" fmla="val 282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0604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E8F1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606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4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67004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Marketing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5760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time- and cost-effective way to share new products, services, offers and app marketing using tools like Mbasket — building awareness and brand presence online and offline.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286000"/>
            <a:ext cx="5440680" cy="3566160"/>
          </a:xfrm>
          <a:prstGeom prst="roundRect">
            <a:avLst>
              <a:gd name="adj" fmla="val 282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60604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FDEED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2606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C7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40" dirty="0"/>
          </a:p>
        </p:txBody>
      </p:sp>
      <p:sp>
        <p:nvSpPr>
          <p:cNvPr id="13" name="Text 11"/>
          <p:cNvSpPr txBox="1"/>
          <p:nvPr/>
        </p:nvSpPr>
        <p:spPr>
          <a:xfrm>
            <a:off x="7452360" y="267004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Marketing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65760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Textlocal business SMS to promote services and stay connected with candidates and clients — job updates, interview confirmations, and follow-ups — boosting productivity and cutting cold calls.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MARKETING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Marketing &amp; Automation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429000" cy="3749040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487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SendGrid</a:t>
            </a:r>
            <a:endParaRPr lang="en-US" sz="145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Mailchimp</a:t>
            </a:r>
            <a:endParaRPr lang="en-US" sz="1450" dirty="0"/>
          </a:p>
          <a:p>
            <a:pPr algn="l"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Mailgun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886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187952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automation</a:t>
            </a:r>
            <a:endParaRPr lang="en-US" sz="1300" dirty="0"/>
          </a:p>
          <a:p>
            <a:pPr algn="l"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forms &amp; testing</a:t>
            </a:r>
            <a:endParaRPr lang="en-US" sz="1300" dirty="0"/>
          </a:p>
          <a:p>
            <a:pPr algn="l"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templates &amp; design</a:t>
            </a:r>
            <a:endParaRPr lang="en-US" sz="1300" dirty="0"/>
          </a:p>
          <a:p>
            <a:pPr algn="l"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open-rate analytics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60520" y="2286000"/>
            <a:ext cx="7479792" cy="374904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11" name="Image 0" descr="img/cdd209314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6824" y="2498484"/>
            <a:ext cx="7187184" cy="3324073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MARKETING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Discovery &amp; Management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and managing influencers for a digital marketing agency — identifying creators on Instagram who meet set criteria to help brands grow their audience organically.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532120" cy="3383280"/>
          </a:xfrm>
          <a:prstGeom prst="roundRect">
            <a:avLst>
              <a:gd name="adj" fmla="val 297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7" name="Image 0" descr="img/907202f5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779776"/>
            <a:ext cx="4690872" cy="31272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63640" y="2651760"/>
            <a:ext cx="5349240" cy="3383280"/>
          </a:xfrm>
          <a:prstGeom prst="roundRect">
            <a:avLst>
              <a:gd name="adj" fmla="val 297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9" name="Image 1" descr="img/00478e516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2839256"/>
            <a:ext cx="5093208" cy="300828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Tools &amp; Platforms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39312" cy="1627632"/>
          </a:xfrm>
          <a:prstGeom prst="roundRect">
            <a:avLst>
              <a:gd name="adj" fmla="val 618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45059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 &amp; VIDEO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182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  ·   VN Video Editor   ·   Pictory   ·   Capcut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1688" y="2286000"/>
            <a:ext cx="3639312" cy="1627632"/>
          </a:xfrm>
          <a:prstGeom prst="roundRect">
            <a:avLst>
              <a:gd name="adj" fmla="val 618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90288" y="245059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PLANNING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2788920"/>
            <a:ext cx="3182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  ·   Hootsuite   ·   Asana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74736" y="2286000"/>
            <a:ext cx="3639312" cy="1627632"/>
          </a:xfrm>
          <a:prstGeom prst="roundRect">
            <a:avLst>
              <a:gd name="adj" fmla="val 618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03336" y="245059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MARKETING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403336" y="2788920"/>
            <a:ext cx="3182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SendGrid   ·   Mailchimp   ·   Mailgun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59936"/>
            <a:ext cx="3639312" cy="1627632"/>
          </a:xfrm>
          <a:prstGeom prst="roundRect">
            <a:avLst>
              <a:gd name="adj" fmla="val 618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22452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&amp; SOCIAL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562856"/>
            <a:ext cx="3182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Business Suite   ·   Facebook &amp; Instagram Ads   ·   LinkedIn Campaign Mgr   ·   Google Ad Manager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61688" y="4059936"/>
            <a:ext cx="3639312" cy="1627632"/>
          </a:xfrm>
          <a:prstGeom prst="roundRect">
            <a:avLst>
              <a:gd name="adj" fmla="val 618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90288" y="422452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90288" y="4562856"/>
            <a:ext cx="3182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SEMrush   ·   Moz   ·   Yoast SEO   ·   Ahrefs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74736" y="4059936"/>
            <a:ext cx="3639312" cy="1627632"/>
          </a:xfrm>
          <a:prstGeom prst="roundRect">
            <a:avLst>
              <a:gd name="adj" fmla="val 618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03336" y="422452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403336" y="4562856"/>
            <a:ext cx="3182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   ·   Search Console   ·   Data reporting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108960"/>
            <a:ext cx="5669280" cy="5669280"/>
          </a:xfrm>
          <a:prstGeom prst="ellipse">
            <a:avLst/>
          </a:prstGeom>
          <a:solidFill>
            <a:srgbClr val="163A5F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194560"/>
            <a:ext cx="4206240" cy="4206240"/>
          </a:xfrm>
          <a:prstGeom prst="ellipse">
            <a:avLst/>
          </a:prstGeom>
          <a:solidFill>
            <a:srgbClr val="16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0" y="182880"/>
            <a:ext cx="475488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b="1" dirty="0">
                <a:solidFill>
                  <a:srgbClr val="16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4000" dirty="0"/>
          </a:p>
        </p:txBody>
      </p:sp>
      <p:sp>
        <p:nvSpPr>
          <p:cNvPr id="5" name="Shape 3"/>
          <p:cNvSpPr/>
          <p:nvPr/>
        </p:nvSpPr>
        <p:spPr>
          <a:xfrm>
            <a:off x="914400" y="2331720"/>
            <a:ext cx="457200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5146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FIVE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</a:t>
            </a:r>
            <a:endParaRPr lang="en-US" sz="52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70916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and print design that gives every campaign a consistent, on-brand look.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Capabilities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66160" cy="3749040"/>
          </a:xfrm>
          <a:prstGeom prst="roundRect">
            <a:avLst>
              <a:gd name="adj" fmla="val 2821"/>
            </a:avLst>
          </a:prstGeom>
          <a:solidFill>
            <a:srgbClr val="E8F1FB"/>
          </a:solidFill>
          <a:ln/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5292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Websites, blogs, social media and digital devices.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840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6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178808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stationery, advertising, packaging, brochures, flyers, roll-ups and more.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2286000"/>
            <a:ext cx="3566160" cy="3749040"/>
          </a:xfrm>
          <a:prstGeom prst="roundRect">
            <a:avLst>
              <a:gd name="adj" fmla="val 282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11" name="Image 0" descr="img/5c48a2dfa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1416" y="2508872"/>
            <a:ext cx="3310128" cy="33032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046720" y="2286000"/>
            <a:ext cx="3566160" cy="3749040"/>
          </a:xfrm>
          <a:prstGeom prst="roundRect">
            <a:avLst>
              <a:gd name="adj" fmla="val 282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13" name="Image 1" descr="img/2527c1e14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736" y="2507834"/>
            <a:ext cx="3310128" cy="330537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961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Creative Work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79192" cy="173736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6" name="Image 0" descr="img/5c8aaa51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" y="2423160"/>
            <a:ext cx="1554480" cy="1554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364992" y="2331720"/>
            <a:ext cx="2679192" cy="173736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8" name="Image 1" descr="img/5bdd8a01f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348" y="2423160"/>
            <a:ext cx="1554480" cy="15544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81344" y="2331720"/>
            <a:ext cx="2679192" cy="173736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10" name="Image 2" descr="img/30db49dac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0" y="2423160"/>
            <a:ext cx="1554480" cy="15544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997696" y="2331720"/>
            <a:ext cx="2679192" cy="173736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12" name="Image 3" descr="img/89132a381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0052" y="2423160"/>
            <a:ext cx="1554480" cy="155448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48640" y="4206240"/>
            <a:ext cx="2679192" cy="173736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14" name="Image 4" descr="img/58df33f7c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4297680"/>
            <a:ext cx="1554480" cy="155448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3364992" y="4206240"/>
            <a:ext cx="2679192" cy="173736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16" name="Image 5" descr="img/f9afce934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7348" y="4297680"/>
            <a:ext cx="1554480" cy="155448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6181344" y="4206240"/>
            <a:ext cx="2679192" cy="173736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18" name="Image 6" descr="img/5c48a2dfa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2092" y="4297680"/>
            <a:ext cx="1557695" cy="1554480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8997696" y="4206240"/>
            <a:ext cx="2679192" cy="173736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50800" dir="5400000">
              <a:srgbClr val="32506e">
                <a:alpha val="16000"/>
              </a:srgbClr>
            </a:outerShdw>
          </a:effectLst>
        </p:spPr>
      </p:sp>
      <p:pic>
        <p:nvPicPr>
          <p:cNvPr id="20" name="Image 7" descr="img/6a09c3aae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60052" y="4297680"/>
            <a:ext cx="1554480" cy="155448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</a:t>
            </a:r>
            <a:pPr algn="l" indent="0" marL="0">
              <a:buNone/>
            </a:pPr>
            <a:r>
              <a:rPr lang="en-US" sz="950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Digital Marketing Portfolio</a:t>
            </a:r>
            <a:endParaRPr lang="en-US" sz="950" dirty="0"/>
          </a:p>
        </p:txBody>
      </p:sp>
      <p:sp>
        <p:nvSpPr>
          <p:cNvPr id="22" name="Text 12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108960"/>
            <a:ext cx="5669280" cy="5669280"/>
          </a:xfrm>
          <a:prstGeom prst="ellipse">
            <a:avLst/>
          </a:prstGeom>
          <a:solidFill>
            <a:srgbClr val="163A5F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194560"/>
            <a:ext cx="4206240" cy="4206240"/>
          </a:xfrm>
          <a:prstGeom prst="ellipse">
            <a:avLst/>
          </a:prstGeom>
          <a:solidFill>
            <a:srgbClr val="163A5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371600"/>
            <a:ext cx="457200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554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WORK TOGETHER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745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0632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grow your brand with data-driven digital marketing? Let's talk.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977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3977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akashpareek000@gmail.com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6360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46360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79767 84738   ·   +971 55851 8360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29437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529437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www.aakashpareek.in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778240" y="3200400"/>
            <a:ext cx="2743200" cy="2743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68B8"/>
            </a:solidFill>
            <a:prstDash val="solid"/>
          </a:ln>
        </p:spPr>
      </p:sp>
      <p:pic>
        <p:nvPicPr>
          <p:cNvPr id="15" name="Image 0" descr="img/6d9add46d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36" y="3511296"/>
            <a:ext cx="2121408" cy="212140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863840" y="5989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PAREEK  ·  DIGITAL MARKETER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Aakash Pareek — Digital Marketing Portfolio</dc:title>
  <dc:subject>PptxGenJS Presentation</dc:subject>
  <dc:creator>Aakash Pareek</dc:creator>
  <cp:lastModifiedBy>Aakash Pareek</cp:lastModifiedBy>
  <cp:revision>1</cp:revision>
  <dcterms:created xsi:type="dcterms:W3CDTF">2026-09-09T03:17:54Z</dcterms:created>
  <dcterms:modified xsi:type="dcterms:W3CDTF">2026-09-09T03:17:54Z</dcterms:modified>
</cp:coreProperties>
</file>