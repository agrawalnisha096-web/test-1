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1.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595360" y="-1463040"/>
            <a:ext cx="6035040" cy="6035040"/>
          </a:xfrm>
          <a:prstGeom prst="ellipse">
            <a:avLst/>
          </a:prstGeom>
          <a:solidFill>
            <a:srgbClr val="163A5F"/>
          </a:solidFill>
          <a:ln/>
        </p:spPr>
      </p:sp>
      <p:sp>
        <p:nvSpPr>
          <p:cNvPr id="3" name="Shape 1"/>
          <p:cNvSpPr/>
          <p:nvPr/>
        </p:nvSpPr>
        <p:spPr>
          <a:xfrm>
            <a:off x="9692640" y="3474720"/>
            <a:ext cx="4937760" cy="4937760"/>
          </a:xfrm>
          <a:prstGeom prst="ellipse">
            <a:avLst/>
          </a:prstGeom>
          <a:solidFill>
            <a:srgbClr val="0F4C81"/>
          </a:solidFill>
          <a:ln/>
        </p:spPr>
      </p:sp>
      <p:sp>
        <p:nvSpPr>
          <p:cNvPr id="4" name="Shape 2"/>
          <p:cNvSpPr/>
          <p:nvPr/>
        </p:nvSpPr>
        <p:spPr>
          <a:xfrm>
            <a:off x="640080" y="3246120"/>
            <a:ext cx="2926080" cy="2926080"/>
          </a:xfrm>
          <a:prstGeom prst="ellipse">
            <a:avLst/>
          </a:prstGeom>
          <a:solidFill>
            <a:srgbClr val="FFFFFF"/>
          </a:solidFill>
          <a:ln w="19050">
            <a:solidFill>
              <a:srgbClr val="1668B8"/>
            </a:solidFill>
            <a:prstDash val="solid"/>
          </a:ln>
        </p:spPr>
      </p:sp>
      <p:pic>
        <p:nvPicPr>
          <p:cNvPr id="5" name="Image 0" descr="img/bc111548b7.png">    </p:cNvPr>
          <p:cNvPicPr>
            <a:picLocks noChangeAspect="1"/>
          </p:cNvPicPr>
          <p:nvPr/>
        </p:nvPicPr>
        <p:blipFill>
          <a:blip r:embed="rId1"/>
          <a:stretch>
            <a:fillRect/>
          </a:stretch>
        </p:blipFill>
        <p:spPr>
          <a:xfrm>
            <a:off x="1236304" y="3675888"/>
            <a:ext cx="1733632" cy="2157984"/>
          </a:xfrm>
          <a:prstGeom prst="rect">
            <a:avLst/>
          </a:prstGeom>
        </p:spPr>
      </p:pic>
      <p:sp>
        <p:nvSpPr>
          <p:cNvPr id="6" name="Shape 3"/>
          <p:cNvSpPr/>
          <p:nvPr/>
        </p:nvSpPr>
        <p:spPr>
          <a:xfrm>
            <a:off x="868680" y="1051560"/>
            <a:ext cx="457200" cy="82296"/>
          </a:xfrm>
          <a:prstGeom prst="rect">
            <a:avLst/>
          </a:prstGeom>
          <a:solidFill>
            <a:srgbClr val="F5A623"/>
          </a:solidFill>
          <a:ln/>
        </p:spPr>
      </p:sp>
      <p:sp>
        <p:nvSpPr>
          <p:cNvPr id="7" name="Text 4"/>
          <p:cNvSpPr txBox="1"/>
          <p:nvPr/>
        </p:nvSpPr>
        <p:spPr>
          <a:xfrm>
            <a:off x="822960" y="1207008"/>
            <a:ext cx="8229600" cy="365760"/>
          </a:xfrm>
          <a:prstGeom prst="rect">
            <a:avLst/>
          </a:prstGeom>
          <a:noFill/>
          <a:ln/>
        </p:spPr>
        <p:txBody>
          <a:bodyPr wrap="square" lIns="0" tIns="0" rIns="0" bIns="0" rtlCol="0" anchor="ctr"/>
          <a:lstStyle/>
          <a:p>
            <a:pPr algn="l" indent="0" marL="0">
              <a:buNone/>
            </a:pPr>
            <a:r>
              <a:rPr lang="en-US" sz="1400" b="1" spc="400" kern="0" dirty="0">
                <a:solidFill>
                  <a:srgbClr val="F5A623"/>
                </a:solidFill>
                <a:latin typeface="Calibri" pitchFamily="34" charset="0"/>
                <a:ea typeface="Calibri" pitchFamily="34" charset="-122"/>
                <a:cs typeface="Calibri" pitchFamily="34" charset="-120"/>
              </a:rPr>
              <a:t>DIGITAL MARKETING PORTFOLIO</a:t>
            </a:r>
            <a:endParaRPr lang="en-US" sz="1400" dirty="0"/>
          </a:p>
        </p:txBody>
      </p:sp>
      <p:sp>
        <p:nvSpPr>
          <p:cNvPr id="8" name="Text 5"/>
          <p:cNvSpPr txBox="1"/>
          <p:nvPr/>
        </p:nvSpPr>
        <p:spPr>
          <a:xfrm>
            <a:off x="822960" y="1600200"/>
            <a:ext cx="8686800" cy="1371600"/>
          </a:xfrm>
          <a:prstGeom prst="rect">
            <a:avLst/>
          </a:prstGeom>
          <a:noFill/>
          <a:ln/>
        </p:spPr>
        <p:txBody>
          <a:bodyPr wrap="square" lIns="0" tIns="0" rIns="0" bIns="0" rtlCol="0" anchor="t"/>
          <a:lstStyle/>
          <a:p>
            <a:pPr algn="l" indent="0" marL="0">
              <a:buNone/>
            </a:pPr>
            <a:r>
              <a:rPr lang="en-US" sz="6600" b="1" dirty="0">
                <a:solidFill>
                  <a:srgbClr val="FFFFFF"/>
                </a:solidFill>
                <a:latin typeface="Calibri" pitchFamily="34" charset="0"/>
                <a:ea typeface="Calibri" pitchFamily="34" charset="-122"/>
                <a:cs typeface="Calibri" pitchFamily="34" charset="-120"/>
              </a:rPr>
              <a:t>Crown</a:t>
            </a:r>
            <a:endParaRPr lang="en-US" sz="6600" dirty="0"/>
          </a:p>
        </p:txBody>
      </p:sp>
      <p:sp>
        <p:nvSpPr>
          <p:cNvPr id="9" name="Text 6"/>
          <p:cNvSpPr txBox="1"/>
          <p:nvPr/>
        </p:nvSpPr>
        <p:spPr>
          <a:xfrm>
            <a:off x="841248" y="2788920"/>
            <a:ext cx="8412480" cy="457200"/>
          </a:xfrm>
          <a:prstGeom prst="rect">
            <a:avLst/>
          </a:prstGeom>
          <a:noFill/>
          <a:ln/>
        </p:spPr>
        <p:txBody>
          <a:bodyPr wrap="square" lIns="0" tIns="0" rIns="0" bIns="0" rtlCol="0" anchor="t"/>
          <a:lstStyle/>
          <a:p>
            <a:pPr algn="l" indent="0" marL="0">
              <a:buNone/>
            </a:pPr>
            <a:r>
              <a:rPr lang="en-US" sz="1900" dirty="0">
                <a:solidFill>
                  <a:srgbClr val="C9D6E5"/>
                </a:solidFill>
                <a:latin typeface="Calibri" pitchFamily="34" charset="0"/>
                <a:ea typeface="Calibri" pitchFamily="34" charset="-122"/>
                <a:cs typeface="Calibri" pitchFamily="34" charset="-120"/>
              </a:rPr>
              <a:t>Google-Certified Digital &amp; Performance Marketing Agency</a:t>
            </a:r>
            <a:endParaRPr lang="en-US" sz="1900" dirty="0"/>
          </a:p>
        </p:txBody>
      </p:sp>
      <p:sp>
        <p:nvSpPr>
          <p:cNvPr id="10" name="Shape 7"/>
          <p:cNvSpPr/>
          <p:nvPr/>
        </p:nvSpPr>
        <p:spPr>
          <a:xfrm>
            <a:off x="9281160" y="685800"/>
            <a:ext cx="2286000" cy="1005840"/>
          </a:xfrm>
          <a:prstGeom prst="roundRect">
            <a:avLst>
              <a:gd name="adj" fmla="val 10000"/>
            </a:avLst>
          </a:prstGeom>
          <a:solidFill>
            <a:srgbClr val="FFFFFF"/>
          </a:solidFill>
          <a:ln/>
          <a:effectLst>
            <a:outerShdw sx="100000" sy="100000" kx="0" ky="0" algn="bl" rotWithShape="0" blurRad="127000" dist="50800" dir="5400000">
              <a:srgbClr val="32506e">
                <a:alpha val="16000"/>
              </a:srgbClr>
            </a:outerShdw>
          </a:effectLst>
        </p:spPr>
      </p:sp>
      <p:pic>
        <p:nvPicPr>
          <p:cNvPr id="11" name="Image 1" descr="img/e1f98473b5.png">    </p:cNvPr>
          <p:cNvPicPr>
            <a:picLocks noChangeAspect="1"/>
          </p:cNvPicPr>
          <p:nvPr/>
        </p:nvPicPr>
        <p:blipFill>
          <a:blip r:embed="rId2"/>
          <a:stretch>
            <a:fillRect/>
          </a:stretch>
        </p:blipFill>
        <p:spPr>
          <a:xfrm>
            <a:off x="9427464" y="846420"/>
            <a:ext cx="1993392" cy="684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ABOUT US</a:t>
            </a:r>
            <a:endParaRPr lang="en-US" sz="1250" dirty="0"/>
          </a:p>
        </p:txBody>
      </p:sp>
      <p:sp>
        <p:nvSpPr>
          <p:cNvPr id="4" name="Text 2"/>
          <p:cNvSpPr txBox="1"/>
          <p:nvPr/>
        </p:nvSpPr>
        <p:spPr>
          <a:xfrm>
            <a:off x="548640" y="1170432"/>
            <a:ext cx="749808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Who We Are</a:t>
            </a:r>
            <a:endParaRPr lang="en-US" sz="3400" dirty="0"/>
          </a:p>
        </p:txBody>
      </p:sp>
      <p:sp>
        <p:nvSpPr>
          <p:cNvPr id="5" name="Shape 3"/>
          <p:cNvSpPr/>
          <p:nvPr/>
        </p:nvSpPr>
        <p:spPr>
          <a:xfrm>
            <a:off x="548640" y="2148840"/>
            <a:ext cx="4160520" cy="3703320"/>
          </a:xfrm>
          <a:prstGeom prst="roundRect">
            <a:avLst>
              <a:gd name="adj" fmla="val 271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Shape 4"/>
          <p:cNvSpPr/>
          <p:nvPr/>
        </p:nvSpPr>
        <p:spPr>
          <a:xfrm>
            <a:off x="868680" y="2468880"/>
            <a:ext cx="1371600" cy="1371600"/>
          </a:xfrm>
          <a:prstGeom prst="ellipse">
            <a:avLst/>
          </a:prstGeom>
          <a:solidFill>
            <a:srgbClr val="FFFFFF"/>
          </a:solidFill>
          <a:ln w="15875">
            <a:solidFill>
              <a:srgbClr val="1668B8"/>
            </a:solidFill>
            <a:prstDash val="solid"/>
          </a:ln>
        </p:spPr>
      </p:sp>
      <p:pic>
        <p:nvPicPr>
          <p:cNvPr id="7" name="Image 0" descr="img/bc111548b7.png">    </p:cNvPr>
          <p:cNvPicPr>
            <a:picLocks noChangeAspect="1"/>
          </p:cNvPicPr>
          <p:nvPr/>
        </p:nvPicPr>
        <p:blipFill>
          <a:blip r:embed="rId1"/>
          <a:stretch>
            <a:fillRect/>
          </a:stretch>
        </p:blipFill>
        <p:spPr>
          <a:xfrm>
            <a:off x="1150456" y="2670048"/>
            <a:ext cx="808049" cy="1005840"/>
          </a:xfrm>
          <a:prstGeom prst="rect">
            <a:avLst/>
          </a:prstGeom>
        </p:spPr>
      </p:pic>
      <p:sp>
        <p:nvSpPr>
          <p:cNvPr id="8" name="Text 5"/>
          <p:cNvSpPr txBox="1"/>
          <p:nvPr/>
        </p:nvSpPr>
        <p:spPr>
          <a:xfrm>
            <a:off x="868680" y="3977640"/>
            <a:ext cx="3566160" cy="365760"/>
          </a:xfrm>
          <a:prstGeom prst="rect">
            <a:avLst/>
          </a:prstGeom>
          <a:noFill/>
          <a:ln/>
        </p:spPr>
        <p:txBody>
          <a:bodyPr wrap="square" lIns="0" tIns="0" rIns="0" bIns="0" rtlCol="0" anchor="ctr"/>
          <a:lstStyle/>
          <a:p>
            <a:pPr algn="l" indent="0" marL="0">
              <a:buNone/>
            </a:pPr>
            <a:r>
              <a:rPr lang="en-US" sz="2000" b="1" dirty="0">
                <a:solidFill>
                  <a:srgbClr val="0E2A47"/>
                </a:solidFill>
                <a:latin typeface="Calibri" pitchFamily="34" charset="0"/>
                <a:ea typeface="Calibri" pitchFamily="34" charset="-122"/>
                <a:cs typeface="Calibri" pitchFamily="34" charset="-120"/>
              </a:rPr>
              <a:t>Crown</a:t>
            </a:r>
            <a:endParaRPr lang="en-US" sz="2000" dirty="0"/>
          </a:p>
        </p:txBody>
      </p:sp>
      <p:sp>
        <p:nvSpPr>
          <p:cNvPr id="9" name="Text 6"/>
          <p:cNvSpPr txBox="1"/>
          <p:nvPr/>
        </p:nvSpPr>
        <p:spPr>
          <a:xfrm>
            <a:off x="868680" y="4370832"/>
            <a:ext cx="3566160" cy="274320"/>
          </a:xfrm>
          <a:prstGeom prst="rect">
            <a:avLst/>
          </a:prstGeom>
          <a:noFill/>
          <a:ln/>
        </p:spPr>
        <p:txBody>
          <a:bodyPr wrap="square" lIns="0" tIns="0" rIns="0" bIns="0" rtlCol="0" anchor="ctr"/>
          <a:lstStyle/>
          <a:p>
            <a:pPr algn="l" indent="0" marL="0">
              <a:buNone/>
            </a:pPr>
            <a:r>
              <a:rPr lang="en-US" sz="1150" b="1" spc="250" kern="0" dirty="0">
                <a:solidFill>
                  <a:srgbClr val="1668B8"/>
                </a:solidFill>
                <a:latin typeface="Calibri" pitchFamily="34" charset="0"/>
                <a:ea typeface="Calibri" pitchFamily="34" charset="-122"/>
                <a:cs typeface="Calibri" pitchFamily="34" charset="-120"/>
              </a:rPr>
              <a:t>DIGITAL MARKETING AGENCY</a:t>
            </a:r>
            <a:endParaRPr lang="en-US" sz="1150" dirty="0"/>
          </a:p>
        </p:txBody>
      </p:sp>
      <p:sp>
        <p:nvSpPr>
          <p:cNvPr id="10" name="Text 7"/>
          <p:cNvSpPr txBox="1"/>
          <p:nvPr/>
        </p:nvSpPr>
        <p:spPr>
          <a:xfrm>
            <a:off x="868680" y="4800600"/>
            <a:ext cx="3566160" cy="731520"/>
          </a:xfrm>
          <a:prstGeom prst="rect">
            <a:avLst/>
          </a:prstGeom>
          <a:noFill/>
          <a:ln/>
        </p:spPr>
        <p:txBody>
          <a:bodyPr wrap="square" lIns="0" tIns="0" rIns="0" bIns="0" rtlCol="0" anchor="t"/>
          <a:lstStyle/>
          <a:p>
            <a:pPr algn="l" indent="0" marL="0">
              <a:lnSpc>
                <a:spcPct val="110000"/>
              </a:lnSpc>
              <a:buNone/>
            </a:pPr>
            <a:r>
              <a:rPr lang="en-US" sz="1300" dirty="0">
                <a:solidFill>
                  <a:srgbClr val="5F7183"/>
                </a:solidFill>
                <a:latin typeface="Calibri" pitchFamily="34" charset="0"/>
                <a:ea typeface="Calibri" pitchFamily="34" charset="-122"/>
                <a:cs typeface="Calibri" pitchFamily="34" charset="-120"/>
              </a:rPr>
              <a:t>Full-funnel growth partner</a:t>
            </a:r>
            <a:endParaRPr lang="en-US" sz="1300" dirty="0"/>
          </a:p>
        </p:txBody>
      </p:sp>
      <p:sp>
        <p:nvSpPr>
          <p:cNvPr id="11" name="Text 8"/>
          <p:cNvSpPr txBox="1"/>
          <p:nvPr/>
        </p:nvSpPr>
        <p:spPr>
          <a:xfrm>
            <a:off x="5074920" y="2194560"/>
            <a:ext cx="6492240" cy="822960"/>
          </a:xfrm>
          <a:prstGeom prst="rect">
            <a:avLst/>
          </a:prstGeom>
          <a:noFill/>
          <a:ln/>
        </p:spPr>
        <p:txBody>
          <a:bodyPr wrap="square" lIns="0" tIns="0" rIns="0" bIns="0" rtlCol="0" anchor="t"/>
          <a:lstStyle/>
          <a:p>
            <a:pPr algn="l" indent="0" marL="0">
              <a:lnSpc>
                <a:spcPct val="105000"/>
              </a:lnSpc>
              <a:buNone/>
            </a:pPr>
            <a:r>
              <a:rPr lang="en-US" sz="2000" b="1" dirty="0">
                <a:solidFill>
                  <a:srgbClr val="0E2A47"/>
                </a:solidFill>
                <a:latin typeface="Calibri" pitchFamily="34" charset="0"/>
                <a:ea typeface="Calibri" pitchFamily="34" charset="-122"/>
                <a:cs typeface="Calibri" pitchFamily="34" charset="-120"/>
              </a:rPr>
              <a:t>A Google-certified digital marketing agency working with companies around the world.</a:t>
            </a:r>
            <a:endParaRPr lang="en-US" sz="2000" dirty="0"/>
          </a:p>
        </p:txBody>
      </p:sp>
      <p:sp>
        <p:nvSpPr>
          <p:cNvPr id="12" name="Text 9"/>
          <p:cNvSpPr txBox="1"/>
          <p:nvPr/>
        </p:nvSpPr>
        <p:spPr>
          <a:xfrm>
            <a:off x="5074920" y="3246120"/>
            <a:ext cx="6492240" cy="1737360"/>
          </a:xfrm>
          <a:prstGeom prst="rect">
            <a:avLst/>
          </a:prstGeom>
          <a:noFill/>
          <a:ln/>
        </p:spPr>
        <p:txBody>
          <a:bodyPr wrap="square" lIns="0" tIns="0" rIns="0" bIns="0" rtlCol="0" anchor="t"/>
          <a:lstStyle/>
          <a:p>
            <a:pPr algn="l" indent="0" marL="0">
              <a:lnSpc>
                <a:spcPct val="112000"/>
              </a:lnSpc>
              <a:spcAft>
                <a:spcPts val="1200"/>
              </a:spcAft>
              <a:buNone/>
            </a:pPr>
            <a:r>
              <a:rPr lang="en-US" sz="1550" dirty="0">
                <a:solidFill>
                  <a:srgbClr val="1B2A3A"/>
                </a:solidFill>
                <a:latin typeface="Calibri" pitchFamily="34" charset="0"/>
                <a:ea typeface="Calibri" pitchFamily="34" charset="-122"/>
                <a:cs typeface="Calibri" pitchFamily="34" charset="-120"/>
              </a:rPr>
              <a:t>We bring a marketing-first approach across strategy, campaigns, and analytics.</a:t>
            </a:r>
            <a:endParaRPr lang="en-US" sz="1550" dirty="0"/>
          </a:p>
          <a:p>
            <a:pPr algn="l" indent="0" marL="0">
              <a:lnSpc>
                <a:spcPct val="112000"/>
              </a:lnSpc>
              <a:spcAft>
                <a:spcPts val="1200"/>
              </a:spcAft>
              <a:buNone/>
            </a:pPr>
            <a:r>
              <a:rPr lang="en-US" sz="1550" dirty="0">
                <a:solidFill>
                  <a:srgbClr val="1B2A3A"/>
                </a:solidFill>
                <a:latin typeface="Calibri" pitchFamily="34" charset="0"/>
                <a:ea typeface="Calibri" pitchFamily="34" charset="-122"/>
                <a:cs typeface="Calibri" pitchFamily="34" charset="-120"/>
              </a:rPr>
              <a:t>For about four years we have worked as a Digital &amp; Performance Marketing partner to a variety of well-reputed businesses — building strategy, running campaigns, and turning data into growth.</a:t>
            </a:r>
            <a:endParaRPr lang="en-US" sz="1550" dirty="0"/>
          </a:p>
        </p:txBody>
      </p:sp>
      <p:sp>
        <p:nvSpPr>
          <p:cNvPr id="13" name="Text 10"/>
          <p:cNvSpPr txBox="1"/>
          <p:nvPr/>
        </p:nvSpPr>
        <p:spPr>
          <a:xfrm>
            <a:off x="5074920" y="5074920"/>
            <a:ext cx="210312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4+ yrs</a:t>
            </a:r>
            <a:endParaRPr lang="en-US" sz="4000" dirty="0"/>
          </a:p>
        </p:txBody>
      </p:sp>
      <p:sp>
        <p:nvSpPr>
          <p:cNvPr id="14" name="Text 11"/>
          <p:cNvSpPr txBox="1"/>
          <p:nvPr/>
        </p:nvSpPr>
        <p:spPr>
          <a:xfrm>
            <a:off x="5074920" y="5861304"/>
            <a:ext cx="210312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EXPERIENCE</a:t>
            </a:r>
            <a:endParaRPr lang="en-US" sz="1100" dirty="0"/>
          </a:p>
        </p:txBody>
      </p:sp>
      <p:sp>
        <p:nvSpPr>
          <p:cNvPr id="15" name="Text 12"/>
          <p:cNvSpPr txBox="1"/>
          <p:nvPr/>
        </p:nvSpPr>
        <p:spPr>
          <a:xfrm>
            <a:off x="7269480" y="5074920"/>
            <a:ext cx="210312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Global</a:t>
            </a:r>
            <a:endParaRPr lang="en-US" sz="4000" dirty="0"/>
          </a:p>
        </p:txBody>
      </p:sp>
      <p:sp>
        <p:nvSpPr>
          <p:cNvPr id="16" name="Text 13"/>
          <p:cNvSpPr txBox="1"/>
          <p:nvPr/>
        </p:nvSpPr>
        <p:spPr>
          <a:xfrm>
            <a:off x="7269480" y="5861304"/>
            <a:ext cx="210312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CLIENTELE</a:t>
            </a:r>
            <a:endParaRPr lang="en-US" sz="1100" dirty="0"/>
          </a:p>
        </p:txBody>
      </p:sp>
      <p:sp>
        <p:nvSpPr>
          <p:cNvPr id="17" name="Text 14"/>
          <p:cNvSpPr txBox="1"/>
          <p:nvPr/>
        </p:nvSpPr>
        <p:spPr>
          <a:xfrm>
            <a:off x="9464040" y="5074920"/>
            <a:ext cx="210312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Google</a:t>
            </a:r>
            <a:endParaRPr lang="en-US" sz="4000" dirty="0"/>
          </a:p>
        </p:txBody>
      </p:sp>
      <p:sp>
        <p:nvSpPr>
          <p:cNvPr id="18" name="Text 15"/>
          <p:cNvSpPr txBox="1"/>
          <p:nvPr/>
        </p:nvSpPr>
        <p:spPr>
          <a:xfrm>
            <a:off x="9464040" y="5861304"/>
            <a:ext cx="210312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CERTIFIED</a:t>
            </a:r>
            <a:endParaRPr lang="en-US" sz="1100" dirty="0"/>
          </a:p>
        </p:txBody>
      </p:sp>
      <p:sp>
        <p:nvSpPr>
          <p:cNvPr id="19" name="Text 1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0" name="Text 1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WHAT WE DO</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Our Expertise</a:t>
            </a:r>
            <a:endParaRPr lang="en-US" sz="3400" dirty="0"/>
          </a:p>
        </p:txBody>
      </p:sp>
      <p:sp>
        <p:nvSpPr>
          <p:cNvPr id="5" name="Text 3"/>
          <p:cNvSpPr txBox="1"/>
          <p:nvPr/>
        </p:nvSpPr>
        <p:spPr>
          <a:xfrm>
            <a:off x="548640" y="1993392"/>
            <a:ext cx="8229600" cy="365760"/>
          </a:xfrm>
          <a:prstGeom prst="rect">
            <a:avLst/>
          </a:prstGeom>
          <a:noFill/>
          <a:ln/>
        </p:spPr>
        <p:txBody>
          <a:bodyPr wrap="square" lIns="0" tIns="0" rIns="0" bIns="0" rtlCol="0" anchor="ctr"/>
          <a:lstStyle/>
          <a:p>
            <a:pPr algn="l" indent="0" marL="0">
              <a:buNone/>
            </a:pPr>
            <a:r>
              <a:rPr lang="en-US" sz="1450" dirty="0">
                <a:solidFill>
                  <a:srgbClr val="5F7183"/>
                </a:solidFill>
                <a:latin typeface="Calibri" pitchFamily="34" charset="0"/>
                <a:ea typeface="Calibri" pitchFamily="34" charset="-122"/>
                <a:cs typeface="Calibri" pitchFamily="34" charset="-120"/>
              </a:rPr>
              <a:t>Full-funnel digital marketing across organic, paid, and creative.</a:t>
            </a:r>
            <a:endParaRPr lang="en-US" sz="1450" dirty="0"/>
          </a:p>
        </p:txBody>
      </p:sp>
      <p:sp>
        <p:nvSpPr>
          <p:cNvPr id="6" name="Shape 4"/>
          <p:cNvSpPr/>
          <p:nvPr/>
        </p:nvSpPr>
        <p:spPr>
          <a:xfrm>
            <a:off x="548640" y="2487168"/>
            <a:ext cx="3639312" cy="868680"/>
          </a:xfrm>
          <a:prstGeom prst="roundRect">
            <a:avLst>
              <a:gd name="adj" fmla="val 11579"/>
            </a:avLst>
          </a:prstGeom>
          <a:solidFill>
            <a:srgbClr val="FFFFFF"/>
          </a:solidFill>
          <a:ln w="12700">
            <a:solidFill>
              <a:srgbClr val="DCE4EC"/>
            </a:solidFill>
            <a:prstDash val="solid"/>
          </a:ln>
        </p:spPr>
      </p:sp>
      <p:sp>
        <p:nvSpPr>
          <p:cNvPr id="7" name="Shape 5"/>
          <p:cNvSpPr/>
          <p:nvPr/>
        </p:nvSpPr>
        <p:spPr>
          <a:xfrm>
            <a:off x="713232" y="2670048"/>
            <a:ext cx="502920" cy="502920"/>
          </a:xfrm>
          <a:prstGeom prst="roundRect">
            <a:avLst>
              <a:gd name="adj" fmla="val 16364"/>
            </a:avLst>
          </a:prstGeom>
          <a:solidFill>
            <a:srgbClr val="E8F1FB"/>
          </a:solidFill>
          <a:ln/>
        </p:spPr>
      </p:sp>
      <p:sp>
        <p:nvSpPr>
          <p:cNvPr id="8" name="Text 6"/>
          <p:cNvSpPr txBox="1"/>
          <p:nvPr/>
        </p:nvSpPr>
        <p:spPr>
          <a:xfrm>
            <a:off x="713232" y="2670048"/>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01</a:t>
            </a:r>
            <a:endParaRPr lang="en-US" sz="1500" dirty="0"/>
          </a:p>
        </p:txBody>
      </p:sp>
      <p:sp>
        <p:nvSpPr>
          <p:cNvPr id="9" name="Text 7"/>
          <p:cNvSpPr txBox="1"/>
          <p:nvPr/>
        </p:nvSpPr>
        <p:spPr>
          <a:xfrm>
            <a:off x="1353312" y="2578608"/>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Social Media Marketing</a:t>
            </a:r>
            <a:endParaRPr lang="en-US" sz="1350" dirty="0"/>
          </a:p>
        </p:txBody>
      </p:sp>
      <p:sp>
        <p:nvSpPr>
          <p:cNvPr id="10" name="Shape 8"/>
          <p:cNvSpPr/>
          <p:nvPr/>
        </p:nvSpPr>
        <p:spPr>
          <a:xfrm>
            <a:off x="4361688" y="2487168"/>
            <a:ext cx="3639312" cy="868680"/>
          </a:xfrm>
          <a:prstGeom prst="roundRect">
            <a:avLst>
              <a:gd name="adj" fmla="val 11579"/>
            </a:avLst>
          </a:prstGeom>
          <a:solidFill>
            <a:srgbClr val="FFFFFF"/>
          </a:solidFill>
          <a:ln w="12700">
            <a:solidFill>
              <a:srgbClr val="DCE4EC"/>
            </a:solidFill>
            <a:prstDash val="solid"/>
          </a:ln>
        </p:spPr>
      </p:sp>
      <p:sp>
        <p:nvSpPr>
          <p:cNvPr id="11" name="Shape 9"/>
          <p:cNvSpPr/>
          <p:nvPr/>
        </p:nvSpPr>
        <p:spPr>
          <a:xfrm>
            <a:off x="4526280" y="2670048"/>
            <a:ext cx="502920" cy="502920"/>
          </a:xfrm>
          <a:prstGeom prst="roundRect">
            <a:avLst>
              <a:gd name="adj" fmla="val 16364"/>
            </a:avLst>
          </a:prstGeom>
          <a:solidFill>
            <a:srgbClr val="E8F1FB"/>
          </a:solidFill>
          <a:ln/>
        </p:spPr>
      </p:sp>
      <p:sp>
        <p:nvSpPr>
          <p:cNvPr id="12" name="Text 10"/>
          <p:cNvSpPr txBox="1"/>
          <p:nvPr/>
        </p:nvSpPr>
        <p:spPr>
          <a:xfrm>
            <a:off x="4526280" y="2670048"/>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02</a:t>
            </a:r>
            <a:endParaRPr lang="en-US" sz="1500" dirty="0"/>
          </a:p>
        </p:txBody>
      </p:sp>
      <p:sp>
        <p:nvSpPr>
          <p:cNvPr id="13" name="Text 11"/>
          <p:cNvSpPr txBox="1"/>
          <p:nvPr/>
        </p:nvSpPr>
        <p:spPr>
          <a:xfrm>
            <a:off x="5166360" y="2578608"/>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Content Planning &amp; Strategy</a:t>
            </a:r>
            <a:endParaRPr lang="en-US" sz="1350" dirty="0"/>
          </a:p>
        </p:txBody>
      </p:sp>
      <p:sp>
        <p:nvSpPr>
          <p:cNvPr id="14" name="Shape 12"/>
          <p:cNvSpPr/>
          <p:nvPr/>
        </p:nvSpPr>
        <p:spPr>
          <a:xfrm>
            <a:off x="8174736" y="2487168"/>
            <a:ext cx="3639312" cy="868680"/>
          </a:xfrm>
          <a:prstGeom prst="roundRect">
            <a:avLst>
              <a:gd name="adj" fmla="val 11579"/>
            </a:avLst>
          </a:prstGeom>
          <a:solidFill>
            <a:srgbClr val="FFFFFF"/>
          </a:solidFill>
          <a:ln w="12700">
            <a:solidFill>
              <a:srgbClr val="DCE4EC"/>
            </a:solidFill>
            <a:prstDash val="solid"/>
          </a:ln>
        </p:spPr>
      </p:sp>
      <p:sp>
        <p:nvSpPr>
          <p:cNvPr id="15" name="Shape 13"/>
          <p:cNvSpPr/>
          <p:nvPr/>
        </p:nvSpPr>
        <p:spPr>
          <a:xfrm>
            <a:off x="8339328" y="2670048"/>
            <a:ext cx="502920" cy="502920"/>
          </a:xfrm>
          <a:prstGeom prst="roundRect">
            <a:avLst>
              <a:gd name="adj" fmla="val 16364"/>
            </a:avLst>
          </a:prstGeom>
          <a:solidFill>
            <a:srgbClr val="E8F1FB"/>
          </a:solidFill>
          <a:ln/>
        </p:spPr>
      </p:sp>
      <p:sp>
        <p:nvSpPr>
          <p:cNvPr id="16" name="Text 14"/>
          <p:cNvSpPr txBox="1"/>
          <p:nvPr/>
        </p:nvSpPr>
        <p:spPr>
          <a:xfrm>
            <a:off x="8339328" y="2670048"/>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03</a:t>
            </a:r>
            <a:endParaRPr lang="en-US" sz="1500" dirty="0"/>
          </a:p>
        </p:txBody>
      </p:sp>
      <p:sp>
        <p:nvSpPr>
          <p:cNvPr id="17" name="Text 15"/>
          <p:cNvSpPr txBox="1"/>
          <p:nvPr/>
        </p:nvSpPr>
        <p:spPr>
          <a:xfrm>
            <a:off x="8979408" y="2578608"/>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Social Media Advertising</a:t>
            </a:r>
            <a:endParaRPr lang="en-US" sz="1350" dirty="0"/>
          </a:p>
        </p:txBody>
      </p:sp>
      <p:sp>
        <p:nvSpPr>
          <p:cNvPr id="18" name="Shape 16"/>
          <p:cNvSpPr/>
          <p:nvPr/>
        </p:nvSpPr>
        <p:spPr>
          <a:xfrm>
            <a:off x="548640" y="3465576"/>
            <a:ext cx="3639312" cy="868680"/>
          </a:xfrm>
          <a:prstGeom prst="roundRect">
            <a:avLst>
              <a:gd name="adj" fmla="val 11579"/>
            </a:avLst>
          </a:prstGeom>
          <a:solidFill>
            <a:srgbClr val="FFFFFF"/>
          </a:solidFill>
          <a:ln w="12700">
            <a:solidFill>
              <a:srgbClr val="DCE4EC"/>
            </a:solidFill>
            <a:prstDash val="solid"/>
          </a:ln>
        </p:spPr>
      </p:sp>
      <p:sp>
        <p:nvSpPr>
          <p:cNvPr id="19" name="Shape 17"/>
          <p:cNvSpPr/>
          <p:nvPr/>
        </p:nvSpPr>
        <p:spPr>
          <a:xfrm>
            <a:off x="713232" y="3648456"/>
            <a:ext cx="502920" cy="502920"/>
          </a:xfrm>
          <a:prstGeom prst="roundRect">
            <a:avLst>
              <a:gd name="adj" fmla="val 16364"/>
            </a:avLst>
          </a:prstGeom>
          <a:solidFill>
            <a:srgbClr val="E8F1FB"/>
          </a:solidFill>
          <a:ln/>
        </p:spPr>
      </p:sp>
      <p:sp>
        <p:nvSpPr>
          <p:cNvPr id="20" name="Text 18"/>
          <p:cNvSpPr txBox="1"/>
          <p:nvPr/>
        </p:nvSpPr>
        <p:spPr>
          <a:xfrm>
            <a:off x="713232" y="3648456"/>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04</a:t>
            </a:r>
            <a:endParaRPr lang="en-US" sz="1500" dirty="0"/>
          </a:p>
        </p:txBody>
      </p:sp>
      <p:sp>
        <p:nvSpPr>
          <p:cNvPr id="21" name="Text 19"/>
          <p:cNvSpPr txBox="1"/>
          <p:nvPr/>
        </p:nvSpPr>
        <p:spPr>
          <a:xfrm>
            <a:off x="1353312" y="3557016"/>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WordPress Website Design</a:t>
            </a:r>
            <a:endParaRPr lang="en-US" sz="1350" dirty="0"/>
          </a:p>
        </p:txBody>
      </p:sp>
      <p:sp>
        <p:nvSpPr>
          <p:cNvPr id="22" name="Shape 20"/>
          <p:cNvSpPr/>
          <p:nvPr/>
        </p:nvSpPr>
        <p:spPr>
          <a:xfrm>
            <a:off x="4361688" y="3465576"/>
            <a:ext cx="3639312" cy="868680"/>
          </a:xfrm>
          <a:prstGeom prst="roundRect">
            <a:avLst>
              <a:gd name="adj" fmla="val 11579"/>
            </a:avLst>
          </a:prstGeom>
          <a:solidFill>
            <a:srgbClr val="FFFFFF"/>
          </a:solidFill>
          <a:ln w="12700">
            <a:solidFill>
              <a:srgbClr val="DCE4EC"/>
            </a:solidFill>
            <a:prstDash val="solid"/>
          </a:ln>
        </p:spPr>
      </p:sp>
      <p:sp>
        <p:nvSpPr>
          <p:cNvPr id="23" name="Shape 21"/>
          <p:cNvSpPr/>
          <p:nvPr/>
        </p:nvSpPr>
        <p:spPr>
          <a:xfrm>
            <a:off x="4526280" y="3648456"/>
            <a:ext cx="502920" cy="502920"/>
          </a:xfrm>
          <a:prstGeom prst="roundRect">
            <a:avLst>
              <a:gd name="adj" fmla="val 16364"/>
            </a:avLst>
          </a:prstGeom>
          <a:solidFill>
            <a:srgbClr val="E8F1FB"/>
          </a:solidFill>
          <a:ln/>
        </p:spPr>
      </p:sp>
      <p:sp>
        <p:nvSpPr>
          <p:cNvPr id="24" name="Text 22"/>
          <p:cNvSpPr txBox="1"/>
          <p:nvPr/>
        </p:nvSpPr>
        <p:spPr>
          <a:xfrm>
            <a:off x="4526280" y="3648456"/>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05</a:t>
            </a:r>
            <a:endParaRPr lang="en-US" sz="1500" dirty="0"/>
          </a:p>
        </p:txBody>
      </p:sp>
      <p:sp>
        <p:nvSpPr>
          <p:cNvPr id="25" name="Text 23"/>
          <p:cNvSpPr txBox="1"/>
          <p:nvPr/>
        </p:nvSpPr>
        <p:spPr>
          <a:xfrm>
            <a:off x="5166360" y="3557016"/>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Landing Page Development</a:t>
            </a:r>
            <a:endParaRPr lang="en-US" sz="1350" dirty="0"/>
          </a:p>
        </p:txBody>
      </p:sp>
      <p:sp>
        <p:nvSpPr>
          <p:cNvPr id="26" name="Shape 24"/>
          <p:cNvSpPr/>
          <p:nvPr/>
        </p:nvSpPr>
        <p:spPr>
          <a:xfrm>
            <a:off x="8174736" y="3465576"/>
            <a:ext cx="3639312" cy="868680"/>
          </a:xfrm>
          <a:prstGeom prst="roundRect">
            <a:avLst>
              <a:gd name="adj" fmla="val 11579"/>
            </a:avLst>
          </a:prstGeom>
          <a:solidFill>
            <a:srgbClr val="FFFFFF"/>
          </a:solidFill>
          <a:ln w="12700">
            <a:solidFill>
              <a:srgbClr val="DCE4EC"/>
            </a:solidFill>
            <a:prstDash val="solid"/>
          </a:ln>
        </p:spPr>
      </p:sp>
      <p:sp>
        <p:nvSpPr>
          <p:cNvPr id="27" name="Shape 25"/>
          <p:cNvSpPr/>
          <p:nvPr/>
        </p:nvSpPr>
        <p:spPr>
          <a:xfrm>
            <a:off x="8339328" y="3648456"/>
            <a:ext cx="502920" cy="502920"/>
          </a:xfrm>
          <a:prstGeom prst="roundRect">
            <a:avLst>
              <a:gd name="adj" fmla="val 16364"/>
            </a:avLst>
          </a:prstGeom>
          <a:solidFill>
            <a:srgbClr val="E8F1FB"/>
          </a:solidFill>
          <a:ln/>
        </p:spPr>
      </p:sp>
      <p:sp>
        <p:nvSpPr>
          <p:cNvPr id="28" name="Text 26"/>
          <p:cNvSpPr txBox="1"/>
          <p:nvPr/>
        </p:nvSpPr>
        <p:spPr>
          <a:xfrm>
            <a:off x="8339328" y="3648456"/>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06</a:t>
            </a:r>
            <a:endParaRPr lang="en-US" sz="1500" dirty="0"/>
          </a:p>
        </p:txBody>
      </p:sp>
      <p:sp>
        <p:nvSpPr>
          <p:cNvPr id="29" name="Text 27"/>
          <p:cNvSpPr txBox="1"/>
          <p:nvPr/>
        </p:nvSpPr>
        <p:spPr>
          <a:xfrm>
            <a:off x="8979408" y="3557016"/>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Performance Marketing</a:t>
            </a:r>
            <a:endParaRPr lang="en-US" sz="1350" dirty="0"/>
          </a:p>
        </p:txBody>
      </p:sp>
      <p:sp>
        <p:nvSpPr>
          <p:cNvPr id="30" name="Shape 28"/>
          <p:cNvSpPr/>
          <p:nvPr/>
        </p:nvSpPr>
        <p:spPr>
          <a:xfrm>
            <a:off x="548640" y="4443984"/>
            <a:ext cx="3639312" cy="868680"/>
          </a:xfrm>
          <a:prstGeom prst="roundRect">
            <a:avLst>
              <a:gd name="adj" fmla="val 11579"/>
            </a:avLst>
          </a:prstGeom>
          <a:solidFill>
            <a:srgbClr val="FFFFFF"/>
          </a:solidFill>
          <a:ln w="12700">
            <a:solidFill>
              <a:srgbClr val="DCE4EC"/>
            </a:solidFill>
            <a:prstDash val="solid"/>
          </a:ln>
        </p:spPr>
      </p:sp>
      <p:sp>
        <p:nvSpPr>
          <p:cNvPr id="31" name="Shape 29"/>
          <p:cNvSpPr/>
          <p:nvPr/>
        </p:nvSpPr>
        <p:spPr>
          <a:xfrm>
            <a:off x="713232" y="4626864"/>
            <a:ext cx="502920" cy="502920"/>
          </a:xfrm>
          <a:prstGeom prst="roundRect">
            <a:avLst>
              <a:gd name="adj" fmla="val 16364"/>
            </a:avLst>
          </a:prstGeom>
          <a:solidFill>
            <a:srgbClr val="E8F1FB"/>
          </a:solidFill>
          <a:ln/>
        </p:spPr>
      </p:sp>
      <p:sp>
        <p:nvSpPr>
          <p:cNvPr id="32" name="Text 30"/>
          <p:cNvSpPr txBox="1"/>
          <p:nvPr/>
        </p:nvSpPr>
        <p:spPr>
          <a:xfrm>
            <a:off x="713232" y="4626864"/>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07</a:t>
            </a:r>
            <a:endParaRPr lang="en-US" sz="1500" dirty="0"/>
          </a:p>
        </p:txBody>
      </p:sp>
      <p:sp>
        <p:nvSpPr>
          <p:cNvPr id="33" name="Text 31"/>
          <p:cNvSpPr txBox="1"/>
          <p:nvPr/>
        </p:nvSpPr>
        <p:spPr>
          <a:xfrm>
            <a:off x="1353312" y="4535424"/>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Graphic Design</a:t>
            </a:r>
            <a:endParaRPr lang="en-US" sz="1350" dirty="0"/>
          </a:p>
        </p:txBody>
      </p:sp>
      <p:sp>
        <p:nvSpPr>
          <p:cNvPr id="34" name="Shape 32"/>
          <p:cNvSpPr/>
          <p:nvPr/>
        </p:nvSpPr>
        <p:spPr>
          <a:xfrm>
            <a:off x="4361688" y="4443984"/>
            <a:ext cx="3639312" cy="868680"/>
          </a:xfrm>
          <a:prstGeom prst="roundRect">
            <a:avLst>
              <a:gd name="adj" fmla="val 11579"/>
            </a:avLst>
          </a:prstGeom>
          <a:solidFill>
            <a:srgbClr val="FFFFFF"/>
          </a:solidFill>
          <a:ln w="12700">
            <a:solidFill>
              <a:srgbClr val="DCE4EC"/>
            </a:solidFill>
            <a:prstDash val="solid"/>
          </a:ln>
        </p:spPr>
      </p:sp>
      <p:sp>
        <p:nvSpPr>
          <p:cNvPr id="35" name="Shape 33"/>
          <p:cNvSpPr/>
          <p:nvPr/>
        </p:nvSpPr>
        <p:spPr>
          <a:xfrm>
            <a:off x="4526280" y="4626864"/>
            <a:ext cx="502920" cy="502920"/>
          </a:xfrm>
          <a:prstGeom prst="roundRect">
            <a:avLst>
              <a:gd name="adj" fmla="val 16364"/>
            </a:avLst>
          </a:prstGeom>
          <a:solidFill>
            <a:srgbClr val="E8F1FB"/>
          </a:solidFill>
          <a:ln/>
        </p:spPr>
      </p:sp>
      <p:sp>
        <p:nvSpPr>
          <p:cNvPr id="36" name="Text 34"/>
          <p:cNvSpPr txBox="1"/>
          <p:nvPr/>
        </p:nvSpPr>
        <p:spPr>
          <a:xfrm>
            <a:off x="4526280" y="4626864"/>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08</a:t>
            </a:r>
            <a:endParaRPr lang="en-US" sz="1500" dirty="0"/>
          </a:p>
        </p:txBody>
      </p:sp>
      <p:sp>
        <p:nvSpPr>
          <p:cNvPr id="37" name="Text 35"/>
          <p:cNvSpPr txBox="1"/>
          <p:nvPr/>
        </p:nvSpPr>
        <p:spPr>
          <a:xfrm>
            <a:off x="5166360" y="4535424"/>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Email Marketing &amp; Automation</a:t>
            </a:r>
            <a:endParaRPr lang="en-US" sz="1350" dirty="0"/>
          </a:p>
        </p:txBody>
      </p:sp>
      <p:sp>
        <p:nvSpPr>
          <p:cNvPr id="38" name="Shape 36"/>
          <p:cNvSpPr/>
          <p:nvPr/>
        </p:nvSpPr>
        <p:spPr>
          <a:xfrm>
            <a:off x="8174736" y="4443984"/>
            <a:ext cx="3639312" cy="868680"/>
          </a:xfrm>
          <a:prstGeom prst="roundRect">
            <a:avLst>
              <a:gd name="adj" fmla="val 11579"/>
            </a:avLst>
          </a:prstGeom>
          <a:solidFill>
            <a:srgbClr val="FFFFFF"/>
          </a:solidFill>
          <a:ln w="12700">
            <a:solidFill>
              <a:srgbClr val="DCE4EC"/>
            </a:solidFill>
            <a:prstDash val="solid"/>
          </a:ln>
        </p:spPr>
      </p:sp>
      <p:sp>
        <p:nvSpPr>
          <p:cNvPr id="39" name="Shape 37"/>
          <p:cNvSpPr/>
          <p:nvPr/>
        </p:nvSpPr>
        <p:spPr>
          <a:xfrm>
            <a:off x="8339328" y="4626864"/>
            <a:ext cx="502920" cy="502920"/>
          </a:xfrm>
          <a:prstGeom prst="roundRect">
            <a:avLst>
              <a:gd name="adj" fmla="val 16364"/>
            </a:avLst>
          </a:prstGeom>
          <a:solidFill>
            <a:srgbClr val="E8F1FB"/>
          </a:solidFill>
          <a:ln/>
        </p:spPr>
      </p:sp>
      <p:sp>
        <p:nvSpPr>
          <p:cNvPr id="40" name="Text 38"/>
          <p:cNvSpPr txBox="1"/>
          <p:nvPr/>
        </p:nvSpPr>
        <p:spPr>
          <a:xfrm>
            <a:off x="8339328" y="4626864"/>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09</a:t>
            </a:r>
            <a:endParaRPr lang="en-US" sz="1500" dirty="0"/>
          </a:p>
        </p:txBody>
      </p:sp>
      <p:sp>
        <p:nvSpPr>
          <p:cNvPr id="41" name="Text 39"/>
          <p:cNvSpPr txBox="1"/>
          <p:nvPr/>
        </p:nvSpPr>
        <p:spPr>
          <a:xfrm>
            <a:off x="8979408" y="4535424"/>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Keyword &amp; Competitor Research</a:t>
            </a:r>
            <a:endParaRPr lang="en-US" sz="1350" dirty="0"/>
          </a:p>
        </p:txBody>
      </p:sp>
      <p:sp>
        <p:nvSpPr>
          <p:cNvPr id="42" name="Shape 40"/>
          <p:cNvSpPr/>
          <p:nvPr/>
        </p:nvSpPr>
        <p:spPr>
          <a:xfrm>
            <a:off x="548640" y="5422392"/>
            <a:ext cx="3639312" cy="868680"/>
          </a:xfrm>
          <a:prstGeom prst="roundRect">
            <a:avLst>
              <a:gd name="adj" fmla="val 11579"/>
            </a:avLst>
          </a:prstGeom>
          <a:solidFill>
            <a:srgbClr val="FFFFFF"/>
          </a:solidFill>
          <a:ln w="12700">
            <a:solidFill>
              <a:srgbClr val="DCE4EC"/>
            </a:solidFill>
            <a:prstDash val="solid"/>
          </a:ln>
        </p:spPr>
      </p:sp>
      <p:sp>
        <p:nvSpPr>
          <p:cNvPr id="43" name="Shape 41"/>
          <p:cNvSpPr/>
          <p:nvPr/>
        </p:nvSpPr>
        <p:spPr>
          <a:xfrm>
            <a:off x="713232" y="5605272"/>
            <a:ext cx="502920" cy="502920"/>
          </a:xfrm>
          <a:prstGeom prst="roundRect">
            <a:avLst>
              <a:gd name="adj" fmla="val 16364"/>
            </a:avLst>
          </a:prstGeom>
          <a:solidFill>
            <a:srgbClr val="E8F1FB"/>
          </a:solidFill>
          <a:ln/>
        </p:spPr>
      </p:sp>
      <p:sp>
        <p:nvSpPr>
          <p:cNvPr id="44" name="Text 42"/>
          <p:cNvSpPr txBox="1"/>
          <p:nvPr/>
        </p:nvSpPr>
        <p:spPr>
          <a:xfrm>
            <a:off x="713232" y="5605272"/>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10</a:t>
            </a:r>
            <a:endParaRPr lang="en-US" sz="1500" dirty="0"/>
          </a:p>
        </p:txBody>
      </p:sp>
      <p:sp>
        <p:nvSpPr>
          <p:cNvPr id="45" name="Text 43"/>
          <p:cNvSpPr txBox="1"/>
          <p:nvPr/>
        </p:nvSpPr>
        <p:spPr>
          <a:xfrm>
            <a:off x="1353312" y="5513832"/>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Search Engine Optimization</a:t>
            </a:r>
            <a:endParaRPr lang="en-US" sz="1350" dirty="0"/>
          </a:p>
        </p:txBody>
      </p:sp>
      <p:sp>
        <p:nvSpPr>
          <p:cNvPr id="46" name="Shape 44"/>
          <p:cNvSpPr/>
          <p:nvPr/>
        </p:nvSpPr>
        <p:spPr>
          <a:xfrm>
            <a:off x="4361688" y="5422392"/>
            <a:ext cx="3639312" cy="868680"/>
          </a:xfrm>
          <a:prstGeom prst="roundRect">
            <a:avLst>
              <a:gd name="adj" fmla="val 11579"/>
            </a:avLst>
          </a:prstGeom>
          <a:solidFill>
            <a:srgbClr val="FFFFFF"/>
          </a:solidFill>
          <a:ln w="12700">
            <a:solidFill>
              <a:srgbClr val="DCE4EC"/>
            </a:solidFill>
            <a:prstDash val="solid"/>
          </a:ln>
        </p:spPr>
      </p:sp>
      <p:sp>
        <p:nvSpPr>
          <p:cNvPr id="47" name="Shape 45"/>
          <p:cNvSpPr/>
          <p:nvPr/>
        </p:nvSpPr>
        <p:spPr>
          <a:xfrm>
            <a:off x="4526280" y="5605272"/>
            <a:ext cx="502920" cy="502920"/>
          </a:xfrm>
          <a:prstGeom prst="roundRect">
            <a:avLst>
              <a:gd name="adj" fmla="val 16364"/>
            </a:avLst>
          </a:prstGeom>
          <a:solidFill>
            <a:srgbClr val="E8F1FB"/>
          </a:solidFill>
          <a:ln/>
        </p:spPr>
      </p:sp>
      <p:sp>
        <p:nvSpPr>
          <p:cNvPr id="48" name="Text 46"/>
          <p:cNvSpPr txBox="1"/>
          <p:nvPr/>
        </p:nvSpPr>
        <p:spPr>
          <a:xfrm>
            <a:off x="4526280" y="5605272"/>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11</a:t>
            </a:r>
            <a:endParaRPr lang="en-US" sz="1500" dirty="0"/>
          </a:p>
        </p:txBody>
      </p:sp>
      <p:sp>
        <p:nvSpPr>
          <p:cNvPr id="49" name="Text 47"/>
          <p:cNvSpPr txBox="1"/>
          <p:nvPr/>
        </p:nvSpPr>
        <p:spPr>
          <a:xfrm>
            <a:off x="5166360" y="5513832"/>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Data Analysis &amp; Reporting</a:t>
            </a:r>
            <a:endParaRPr lang="en-US" sz="1350" dirty="0"/>
          </a:p>
        </p:txBody>
      </p:sp>
      <p:sp>
        <p:nvSpPr>
          <p:cNvPr id="50" name="Shape 48"/>
          <p:cNvSpPr/>
          <p:nvPr/>
        </p:nvSpPr>
        <p:spPr>
          <a:xfrm>
            <a:off x="8174736" y="5422392"/>
            <a:ext cx="3639312" cy="868680"/>
          </a:xfrm>
          <a:prstGeom prst="roundRect">
            <a:avLst>
              <a:gd name="adj" fmla="val 11579"/>
            </a:avLst>
          </a:prstGeom>
          <a:solidFill>
            <a:srgbClr val="FFFFFF"/>
          </a:solidFill>
          <a:ln w="12700">
            <a:solidFill>
              <a:srgbClr val="DCE4EC"/>
            </a:solidFill>
            <a:prstDash val="solid"/>
          </a:ln>
        </p:spPr>
      </p:sp>
      <p:sp>
        <p:nvSpPr>
          <p:cNvPr id="51" name="Shape 49"/>
          <p:cNvSpPr/>
          <p:nvPr/>
        </p:nvSpPr>
        <p:spPr>
          <a:xfrm>
            <a:off x="8339328" y="5605272"/>
            <a:ext cx="502920" cy="502920"/>
          </a:xfrm>
          <a:prstGeom prst="roundRect">
            <a:avLst>
              <a:gd name="adj" fmla="val 16364"/>
            </a:avLst>
          </a:prstGeom>
          <a:solidFill>
            <a:srgbClr val="E8F1FB"/>
          </a:solidFill>
          <a:ln/>
        </p:spPr>
      </p:sp>
      <p:sp>
        <p:nvSpPr>
          <p:cNvPr id="52" name="Text 50"/>
          <p:cNvSpPr txBox="1"/>
          <p:nvPr/>
        </p:nvSpPr>
        <p:spPr>
          <a:xfrm>
            <a:off x="8339328" y="5605272"/>
            <a:ext cx="502920" cy="502920"/>
          </a:xfrm>
          <a:prstGeom prst="rect">
            <a:avLst/>
          </a:prstGeom>
          <a:noFill/>
          <a:ln/>
        </p:spPr>
        <p:txBody>
          <a:bodyPr wrap="square" lIns="0" tIns="0" rIns="0" bIns="0" rtlCol="0" anchor="ctr"/>
          <a:lstStyle/>
          <a:p>
            <a:pPr algn="ctr" indent="0" marL="0">
              <a:buNone/>
            </a:pPr>
            <a:r>
              <a:rPr lang="en-US" sz="1500" b="1" dirty="0">
                <a:solidFill>
                  <a:srgbClr val="1668B8"/>
                </a:solidFill>
                <a:latin typeface="Calibri" pitchFamily="34" charset="0"/>
                <a:ea typeface="Calibri" pitchFamily="34" charset="-122"/>
                <a:cs typeface="Calibri" pitchFamily="34" charset="-120"/>
              </a:rPr>
              <a:t>12</a:t>
            </a:r>
            <a:endParaRPr lang="en-US" sz="1500" dirty="0"/>
          </a:p>
        </p:txBody>
      </p:sp>
      <p:sp>
        <p:nvSpPr>
          <p:cNvPr id="53" name="Text 51"/>
          <p:cNvSpPr txBox="1"/>
          <p:nvPr/>
        </p:nvSpPr>
        <p:spPr>
          <a:xfrm>
            <a:off x="8979408" y="5513832"/>
            <a:ext cx="2724912" cy="685800"/>
          </a:xfrm>
          <a:prstGeom prst="rect">
            <a:avLst/>
          </a:prstGeom>
          <a:noFill/>
          <a:ln/>
        </p:spPr>
        <p:txBody>
          <a:bodyPr wrap="square" lIns="0" tIns="0" rIns="0" bIns="0" rtlCol="0" anchor="ctr"/>
          <a:lstStyle/>
          <a:p>
            <a:pPr algn="l" indent="0" marL="0">
              <a:lnSpc>
                <a:spcPct val="95000"/>
              </a:lnSpc>
              <a:buNone/>
            </a:pPr>
            <a:r>
              <a:rPr lang="en-US" sz="1350" b="1" dirty="0">
                <a:solidFill>
                  <a:srgbClr val="0E2A47"/>
                </a:solidFill>
                <a:latin typeface="Calibri" pitchFamily="34" charset="0"/>
                <a:ea typeface="Calibri" pitchFamily="34" charset="-122"/>
                <a:cs typeface="Calibri" pitchFamily="34" charset="-120"/>
              </a:rPr>
              <a:t>Conversion Rate Optimization</a:t>
            </a:r>
            <a:endParaRPr lang="en-US" sz="1350" dirty="0"/>
          </a:p>
        </p:txBody>
      </p:sp>
      <p:sp>
        <p:nvSpPr>
          <p:cNvPr id="54" name="Text 52"/>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55" name="Text 53"/>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TRACK RECORD</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Overview of Our Experience</a:t>
            </a:r>
            <a:endParaRPr lang="en-US" sz="3400" dirty="0"/>
          </a:p>
        </p:txBody>
      </p:sp>
      <p:sp>
        <p:nvSpPr>
          <p:cNvPr id="5" name="Text 3"/>
          <p:cNvSpPr txBox="1"/>
          <p:nvPr/>
        </p:nvSpPr>
        <p:spPr>
          <a:xfrm>
            <a:off x="548640" y="2148840"/>
            <a:ext cx="4572000" cy="1828800"/>
          </a:xfrm>
          <a:prstGeom prst="rect">
            <a:avLst/>
          </a:prstGeom>
          <a:noFill/>
          <a:ln/>
        </p:spPr>
        <p:txBody>
          <a:bodyPr wrap="square" lIns="0" tIns="0" rIns="0" bIns="0" rtlCol="0" anchor="t"/>
          <a:lstStyle/>
          <a:p>
            <a:pPr algn="l" indent="0" marL="0">
              <a:lnSpc>
                <a:spcPct val="116000"/>
              </a:lnSpc>
              <a:buNone/>
            </a:pPr>
            <a:r>
              <a:rPr lang="en-US" sz="1500" dirty="0">
                <a:solidFill>
                  <a:srgbClr val="1B2A3A"/>
                </a:solidFill>
                <a:latin typeface="Calibri" pitchFamily="34" charset="0"/>
                <a:ea typeface="Calibri" pitchFamily="34" charset="-122"/>
                <a:cs typeface="Calibri" pitchFamily="34" charset="-120"/>
              </a:rPr>
              <a:t>We've managed communities and social accounts and helped clients enrich their social presence — from full profile audits to advertising strategy and data-driven recommendations.</a:t>
            </a:r>
            <a:endParaRPr lang="en-US" sz="1500" dirty="0"/>
          </a:p>
        </p:txBody>
      </p:sp>
      <p:sp>
        <p:nvSpPr>
          <p:cNvPr id="6" name="Text 4"/>
          <p:cNvSpPr txBox="1"/>
          <p:nvPr/>
        </p:nvSpPr>
        <p:spPr>
          <a:xfrm>
            <a:off x="548640" y="4160520"/>
            <a:ext cx="219456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45K</a:t>
            </a:r>
            <a:endParaRPr lang="en-US" sz="4000" dirty="0"/>
          </a:p>
        </p:txBody>
      </p:sp>
      <p:sp>
        <p:nvSpPr>
          <p:cNvPr id="7" name="Text 5"/>
          <p:cNvSpPr txBox="1"/>
          <p:nvPr/>
        </p:nvSpPr>
        <p:spPr>
          <a:xfrm>
            <a:off x="548640" y="4946904"/>
            <a:ext cx="219456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INSTAGRAM COMMUNITY</a:t>
            </a:r>
            <a:endParaRPr lang="en-US" sz="1100" dirty="0"/>
          </a:p>
        </p:txBody>
      </p:sp>
      <p:sp>
        <p:nvSpPr>
          <p:cNvPr id="8" name="Text 6"/>
          <p:cNvSpPr txBox="1"/>
          <p:nvPr/>
        </p:nvSpPr>
        <p:spPr>
          <a:xfrm>
            <a:off x="2880360" y="4160520"/>
            <a:ext cx="219456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20K+</a:t>
            </a:r>
            <a:endParaRPr lang="en-US" sz="4000" dirty="0"/>
          </a:p>
        </p:txBody>
      </p:sp>
      <p:sp>
        <p:nvSpPr>
          <p:cNvPr id="9" name="Text 7"/>
          <p:cNvSpPr txBox="1"/>
          <p:nvPr/>
        </p:nvSpPr>
        <p:spPr>
          <a:xfrm>
            <a:off x="2880360" y="4946904"/>
            <a:ext cx="219456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FACEBOOK FOLLOWERS</a:t>
            </a:r>
            <a:endParaRPr lang="en-US" sz="1100" dirty="0"/>
          </a:p>
        </p:txBody>
      </p:sp>
      <p:sp>
        <p:nvSpPr>
          <p:cNvPr id="10" name="Text 8"/>
          <p:cNvSpPr txBox="1"/>
          <p:nvPr/>
        </p:nvSpPr>
        <p:spPr>
          <a:xfrm>
            <a:off x="548640" y="5120640"/>
            <a:ext cx="219456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19K</a:t>
            </a:r>
            <a:endParaRPr lang="en-US" sz="4000" dirty="0"/>
          </a:p>
        </p:txBody>
      </p:sp>
      <p:sp>
        <p:nvSpPr>
          <p:cNvPr id="11" name="Text 9"/>
          <p:cNvSpPr txBox="1"/>
          <p:nvPr/>
        </p:nvSpPr>
        <p:spPr>
          <a:xfrm>
            <a:off x="548640" y="5907024"/>
            <a:ext cx="219456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LINKEDIN AUDIENCE</a:t>
            </a:r>
            <a:endParaRPr lang="en-US" sz="1100" dirty="0"/>
          </a:p>
        </p:txBody>
      </p:sp>
      <p:sp>
        <p:nvSpPr>
          <p:cNvPr id="12" name="Text 10"/>
          <p:cNvSpPr txBox="1"/>
          <p:nvPr/>
        </p:nvSpPr>
        <p:spPr>
          <a:xfrm>
            <a:off x="2880360" y="5120640"/>
            <a:ext cx="2194560" cy="777240"/>
          </a:xfrm>
          <a:prstGeom prst="rect">
            <a:avLst/>
          </a:prstGeom>
          <a:noFill/>
          <a:ln/>
        </p:spPr>
        <p:txBody>
          <a:bodyPr wrap="square" lIns="0" tIns="0" rIns="0" bIns="0" rtlCol="0" anchor="b"/>
          <a:lstStyle/>
          <a:p>
            <a:pPr algn="l" indent="0" marL="0">
              <a:lnSpc>
                <a:spcPts val="3800"/>
              </a:lnSpc>
              <a:buNone/>
            </a:pPr>
            <a:r>
              <a:rPr lang="en-US" sz="4000" b="1" dirty="0">
                <a:solidFill>
                  <a:srgbClr val="1668B8"/>
                </a:solidFill>
                <a:latin typeface="Calibri" pitchFamily="34" charset="0"/>
                <a:ea typeface="Calibri" pitchFamily="34" charset="-122"/>
                <a:cs typeface="Calibri" pitchFamily="34" charset="-120"/>
              </a:rPr>
              <a:t>22.5K</a:t>
            </a:r>
            <a:endParaRPr lang="en-US" sz="4000" dirty="0"/>
          </a:p>
        </p:txBody>
      </p:sp>
      <p:sp>
        <p:nvSpPr>
          <p:cNvPr id="13" name="Text 11"/>
          <p:cNvSpPr txBox="1"/>
          <p:nvPr/>
        </p:nvSpPr>
        <p:spPr>
          <a:xfrm>
            <a:off x="2880360" y="5907024"/>
            <a:ext cx="2194560" cy="45720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7183"/>
                </a:solidFill>
                <a:latin typeface="Calibri" pitchFamily="34" charset="0"/>
                <a:ea typeface="Calibri" pitchFamily="34" charset="-122"/>
                <a:cs typeface="Calibri" pitchFamily="34" charset="-120"/>
              </a:rPr>
              <a:t>YOUTUBE SUBSCRIBERS</a:t>
            </a:r>
            <a:endParaRPr lang="en-US" sz="1100" dirty="0"/>
          </a:p>
        </p:txBody>
      </p:sp>
      <p:sp>
        <p:nvSpPr>
          <p:cNvPr id="14" name="Shape 12"/>
          <p:cNvSpPr/>
          <p:nvPr/>
        </p:nvSpPr>
        <p:spPr>
          <a:xfrm>
            <a:off x="5532120" y="2148840"/>
            <a:ext cx="3017520" cy="1874520"/>
          </a:xfrm>
          <a:prstGeom prst="roundRect">
            <a:avLst>
              <a:gd name="adj" fmla="val 536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5" name="Image 0" descr="img/4447a349c5.png">    </p:cNvPr>
          <p:cNvPicPr>
            <a:picLocks noChangeAspect="1"/>
          </p:cNvPicPr>
          <p:nvPr/>
        </p:nvPicPr>
        <p:blipFill>
          <a:blip r:embed="rId1"/>
          <a:stretch>
            <a:fillRect/>
          </a:stretch>
        </p:blipFill>
        <p:spPr>
          <a:xfrm>
            <a:off x="6252112" y="2258568"/>
            <a:ext cx="1577536" cy="1655064"/>
          </a:xfrm>
          <a:prstGeom prst="rect">
            <a:avLst/>
          </a:prstGeom>
        </p:spPr>
      </p:pic>
      <p:sp>
        <p:nvSpPr>
          <p:cNvPr id="16" name="Shape 13"/>
          <p:cNvSpPr/>
          <p:nvPr/>
        </p:nvSpPr>
        <p:spPr>
          <a:xfrm>
            <a:off x="8750808" y="2148840"/>
            <a:ext cx="3017520" cy="1874520"/>
          </a:xfrm>
          <a:prstGeom prst="roundRect">
            <a:avLst>
              <a:gd name="adj" fmla="val 536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7" name="Image 1" descr="img/9ac09d70bc.png">    </p:cNvPr>
          <p:cNvPicPr>
            <a:picLocks noChangeAspect="1"/>
          </p:cNvPicPr>
          <p:nvPr/>
        </p:nvPicPr>
        <p:blipFill>
          <a:blip r:embed="rId2"/>
          <a:stretch>
            <a:fillRect/>
          </a:stretch>
        </p:blipFill>
        <p:spPr>
          <a:xfrm>
            <a:off x="9445437" y="2258568"/>
            <a:ext cx="1628261" cy="1655064"/>
          </a:xfrm>
          <a:prstGeom prst="rect">
            <a:avLst/>
          </a:prstGeom>
        </p:spPr>
      </p:pic>
      <p:sp>
        <p:nvSpPr>
          <p:cNvPr id="18" name="Shape 14"/>
          <p:cNvSpPr/>
          <p:nvPr/>
        </p:nvSpPr>
        <p:spPr>
          <a:xfrm>
            <a:off x="5532120" y="4224528"/>
            <a:ext cx="3017520" cy="1874520"/>
          </a:xfrm>
          <a:prstGeom prst="roundRect">
            <a:avLst>
              <a:gd name="adj" fmla="val 536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9" name="Image 2" descr="img/ba3f4b512c.png">    </p:cNvPr>
          <p:cNvPicPr>
            <a:picLocks noChangeAspect="1"/>
          </p:cNvPicPr>
          <p:nvPr/>
        </p:nvPicPr>
        <p:blipFill>
          <a:blip r:embed="rId3"/>
          <a:stretch>
            <a:fillRect/>
          </a:stretch>
        </p:blipFill>
        <p:spPr>
          <a:xfrm>
            <a:off x="6238629" y="4334256"/>
            <a:ext cx="1604502" cy="1655064"/>
          </a:xfrm>
          <a:prstGeom prst="rect">
            <a:avLst/>
          </a:prstGeom>
        </p:spPr>
      </p:pic>
      <p:sp>
        <p:nvSpPr>
          <p:cNvPr id="20" name="Shape 15"/>
          <p:cNvSpPr/>
          <p:nvPr/>
        </p:nvSpPr>
        <p:spPr>
          <a:xfrm>
            <a:off x="8750808" y="4224528"/>
            <a:ext cx="3017520" cy="1874520"/>
          </a:xfrm>
          <a:prstGeom prst="roundRect">
            <a:avLst>
              <a:gd name="adj" fmla="val 536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1" name="Image 3" descr="img/96023c66bb.png">    </p:cNvPr>
          <p:cNvPicPr>
            <a:picLocks noChangeAspect="1"/>
          </p:cNvPicPr>
          <p:nvPr/>
        </p:nvPicPr>
        <p:blipFill>
          <a:blip r:embed="rId4"/>
          <a:stretch>
            <a:fillRect/>
          </a:stretch>
        </p:blipFill>
        <p:spPr>
          <a:xfrm>
            <a:off x="9398219" y="4334256"/>
            <a:ext cx="1722699" cy="1655064"/>
          </a:xfrm>
          <a:prstGeom prst="rect">
            <a:avLst/>
          </a:prstGeom>
        </p:spPr>
      </p:pic>
      <p:sp>
        <p:nvSpPr>
          <p:cNvPr id="22" name="Text 1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3" name="Text 1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CREDENTIALS</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Certifications</a:t>
            </a:r>
            <a:endParaRPr lang="en-US" sz="3400" dirty="0"/>
          </a:p>
        </p:txBody>
      </p:sp>
      <p:sp>
        <p:nvSpPr>
          <p:cNvPr id="5" name="Shape 3"/>
          <p:cNvSpPr/>
          <p:nvPr/>
        </p:nvSpPr>
        <p:spPr>
          <a:xfrm>
            <a:off x="548640" y="2240280"/>
            <a:ext cx="551383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Shape 4"/>
          <p:cNvSpPr/>
          <p:nvPr/>
        </p:nvSpPr>
        <p:spPr>
          <a:xfrm>
            <a:off x="822960" y="2743200"/>
            <a:ext cx="731520" cy="731520"/>
          </a:xfrm>
          <a:prstGeom prst="ellipse">
            <a:avLst/>
          </a:prstGeom>
          <a:solidFill>
            <a:srgbClr val="E8F1FB"/>
          </a:solidFill>
          <a:ln/>
        </p:spPr>
      </p:sp>
      <p:sp>
        <p:nvSpPr>
          <p:cNvPr id="7" name="Text 5"/>
          <p:cNvSpPr txBox="1"/>
          <p:nvPr/>
        </p:nvSpPr>
        <p:spPr>
          <a:xfrm>
            <a:off x="822960" y="2743200"/>
            <a:ext cx="731520" cy="731520"/>
          </a:xfrm>
          <a:prstGeom prst="rect">
            <a:avLst/>
          </a:prstGeom>
          <a:noFill/>
          <a:ln/>
        </p:spPr>
        <p:txBody>
          <a:bodyPr wrap="square" lIns="0" tIns="0" rIns="0" bIns="0" rtlCol="0" anchor="ctr"/>
          <a:lstStyle/>
          <a:p>
            <a:pPr algn="ctr" indent="0" marL="0">
              <a:buNone/>
            </a:pPr>
            <a:r>
              <a:rPr lang="en-US" sz="2200" b="1" dirty="0">
                <a:solidFill>
                  <a:srgbClr val="1668B8"/>
                </a:solidFill>
                <a:latin typeface="Calibri" pitchFamily="34" charset="0"/>
                <a:ea typeface="Calibri" pitchFamily="34" charset="-122"/>
                <a:cs typeface="Calibri" pitchFamily="34" charset="-120"/>
              </a:rPr>
              <a:t>G</a:t>
            </a:r>
            <a:endParaRPr lang="en-US" sz="2200" dirty="0"/>
          </a:p>
        </p:txBody>
      </p:sp>
      <p:sp>
        <p:nvSpPr>
          <p:cNvPr id="8" name="Text 6"/>
          <p:cNvSpPr txBox="1"/>
          <p:nvPr/>
        </p:nvSpPr>
        <p:spPr>
          <a:xfrm>
            <a:off x="1783080" y="2551176"/>
            <a:ext cx="4050792" cy="274320"/>
          </a:xfrm>
          <a:prstGeom prst="rect">
            <a:avLst/>
          </a:prstGeom>
          <a:noFill/>
          <a:ln/>
        </p:spPr>
        <p:txBody>
          <a:bodyPr wrap="square" lIns="0" tIns="0" rIns="0" bIns="0" rtlCol="0" anchor="ctr"/>
          <a:lstStyle/>
          <a:p>
            <a:pPr algn="l" indent="0" marL="0">
              <a:buNone/>
            </a:pPr>
            <a:r>
              <a:rPr lang="en-US" sz="1050" b="1" spc="200" kern="0" dirty="0">
                <a:solidFill>
                  <a:srgbClr val="F5A623"/>
                </a:solidFill>
                <a:latin typeface="Calibri" pitchFamily="34" charset="0"/>
                <a:ea typeface="Calibri" pitchFamily="34" charset="-122"/>
                <a:cs typeface="Calibri" pitchFamily="34" charset="-120"/>
              </a:rPr>
              <a:t>GOOGLE</a:t>
            </a:r>
            <a:endParaRPr lang="en-US" sz="1050" dirty="0"/>
          </a:p>
        </p:txBody>
      </p:sp>
      <p:sp>
        <p:nvSpPr>
          <p:cNvPr id="9" name="Text 7"/>
          <p:cNvSpPr txBox="1"/>
          <p:nvPr/>
        </p:nvSpPr>
        <p:spPr>
          <a:xfrm>
            <a:off x="1783080" y="2807208"/>
            <a:ext cx="4005072" cy="658368"/>
          </a:xfrm>
          <a:prstGeom prst="rect">
            <a:avLst/>
          </a:prstGeom>
          <a:noFill/>
          <a:ln/>
        </p:spPr>
        <p:txBody>
          <a:bodyPr wrap="square" lIns="0" tIns="0" rIns="0" bIns="0" rtlCol="0" anchor="t"/>
          <a:lstStyle/>
          <a:p>
            <a:pPr algn="l" indent="0" marL="0">
              <a:lnSpc>
                <a:spcPct val="98000"/>
              </a:lnSpc>
              <a:buNone/>
            </a:pPr>
            <a:r>
              <a:rPr lang="en-US" sz="1650" b="1" dirty="0">
                <a:solidFill>
                  <a:srgbClr val="0E2A47"/>
                </a:solidFill>
                <a:latin typeface="Calibri" pitchFamily="34" charset="0"/>
                <a:ea typeface="Calibri" pitchFamily="34" charset="-122"/>
                <a:cs typeface="Calibri" pitchFamily="34" charset="-120"/>
              </a:rPr>
              <a:t>The Fundamentals of Digital Marketing</a:t>
            </a:r>
            <a:endParaRPr lang="en-US" sz="1650" dirty="0"/>
          </a:p>
        </p:txBody>
      </p:sp>
      <p:sp>
        <p:nvSpPr>
          <p:cNvPr id="10" name="Text 8"/>
          <p:cNvSpPr txBox="1"/>
          <p:nvPr/>
        </p:nvSpPr>
        <p:spPr>
          <a:xfrm>
            <a:off x="1783080" y="3447288"/>
            <a:ext cx="4005072" cy="365760"/>
          </a:xfrm>
          <a:prstGeom prst="rect">
            <a:avLst/>
          </a:prstGeom>
          <a:noFill/>
          <a:ln/>
        </p:spPr>
        <p:txBody>
          <a:bodyPr wrap="square" lIns="0" tIns="0" rIns="0" bIns="0" rtlCol="0" anchor="t"/>
          <a:lstStyle/>
          <a:p>
            <a:pPr algn="l" indent="0" marL="0">
              <a:buNone/>
            </a:pPr>
            <a:r>
              <a:rPr lang="en-US" sz="1200" dirty="0">
                <a:solidFill>
                  <a:srgbClr val="5F7183"/>
                </a:solidFill>
                <a:latin typeface="Calibri" pitchFamily="34" charset="0"/>
                <a:ea typeface="Calibri" pitchFamily="34" charset="-122"/>
                <a:cs typeface="Calibri" pitchFamily="34" charset="-120"/>
              </a:rPr>
              <a:t>Google Digital Garage · ID: JKJG3UZDB</a:t>
            </a:r>
            <a:endParaRPr lang="en-US" sz="1200" dirty="0"/>
          </a:p>
        </p:txBody>
      </p:sp>
      <p:sp>
        <p:nvSpPr>
          <p:cNvPr id="11" name="Shape 9"/>
          <p:cNvSpPr/>
          <p:nvPr/>
        </p:nvSpPr>
        <p:spPr>
          <a:xfrm>
            <a:off x="6245352" y="2240280"/>
            <a:ext cx="551383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2" name="Shape 10"/>
          <p:cNvSpPr/>
          <p:nvPr/>
        </p:nvSpPr>
        <p:spPr>
          <a:xfrm>
            <a:off x="6519672" y="2743200"/>
            <a:ext cx="731520" cy="731520"/>
          </a:xfrm>
          <a:prstGeom prst="ellipse">
            <a:avLst/>
          </a:prstGeom>
          <a:solidFill>
            <a:srgbClr val="E8F1FB"/>
          </a:solidFill>
          <a:ln/>
        </p:spPr>
      </p:sp>
      <p:sp>
        <p:nvSpPr>
          <p:cNvPr id="13" name="Text 11"/>
          <p:cNvSpPr txBox="1"/>
          <p:nvPr/>
        </p:nvSpPr>
        <p:spPr>
          <a:xfrm>
            <a:off x="6519672" y="2743200"/>
            <a:ext cx="731520" cy="731520"/>
          </a:xfrm>
          <a:prstGeom prst="rect">
            <a:avLst/>
          </a:prstGeom>
          <a:noFill/>
          <a:ln/>
        </p:spPr>
        <p:txBody>
          <a:bodyPr wrap="square" lIns="0" tIns="0" rIns="0" bIns="0" rtlCol="0" anchor="ctr"/>
          <a:lstStyle/>
          <a:p>
            <a:pPr algn="ctr" indent="0" marL="0">
              <a:buNone/>
            </a:pPr>
            <a:r>
              <a:rPr lang="en-US" sz="2200" b="1" dirty="0">
                <a:solidFill>
                  <a:srgbClr val="1668B8"/>
                </a:solidFill>
                <a:latin typeface="Calibri" pitchFamily="34" charset="0"/>
                <a:ea typeface="Calibri" pitchFamily="34" charset="-122"/>
                <a:cs typeface="Calibri" pitchFamily="34" charset="-120"/>
              </a:rPr>
              <a:t>G</a:t>
            </a:r>
            <a:endParaRPr lang="en-US" sz="2200" dirty="0"/>
          </a:p>
        </p:txBody>
      </p:sp>
      <p:sp>
        <p:nvSpPr>
          <p:cNvPr id="14" name="Text 12"/>
          <p:cNvSpPr txBox="1"/>
          <p:nvPr/>
        </p:nvSpPr>
        <p:spPr>
          <a:xfrm>
            <a:off x="7479792" y="2551176"/>
            <a:ext cx="4050792" cy="274320"/>
          </a:xfrm>
          <a:prstGeom prst="rect">
            <a:avLst/>
          </a:prstGeom>
          <a:noFill/>
          <a:ln/>
        </p:spPr>
        <p:txBody>
          <a:bodyPr wrap="square" lIns="0" tIns="0" rIns="0" bIns="0" rtlCol="0" anchor="ctr"/>
          <a:lstStyle/>
          <a:p>
            <a:pPr algn="l" indent="0" marL="0">
              <a:buNone/>
            </a:pPr>
            <a:r>
              <a:rPr lang="en-US" sz="1050" b="1" spc="200" kern="0" dirty="0">
                <a:solidFill>
                  <a:srgbClr val="F5A623"/>
                </a:solidFill>
                <a:latin typeface="Calibri" pitchFamily="34" charset="0"/>
                <a:ea typeface="Calibri" pitchFamily="34" charset="-122"/>
                <a:cs typeface="Calibri" pitchFamily="34" charset="-120"/>
              </a:rPr>
              <a:t>GOOGLE</a:t>
            </a:r>
            <a:endParaRPr lang="en-US" sz="1050" dirty="0"/>
          </a:p>
        </p:txBody>
      </p:sp>
      <p:sp>
        <p:nvSpPr>
          <p:cNvPr id="15" name="Text 13"/>
          <p:cNvSpPr txBox="1"/>
          <p:nvPr/>
        </p:nvSpPr>
        <p:spPr>
          <a:xfrm>
            <a:off x="7479792" y="2807208"/>
            <a:ext cx="4005072" cy="658368"/>
          </a:xfrm>
          <a:prstGeom prst="rect">
            <a:avLst/>
          </a:prstGeom>
          <a:noFill/>
          <a:ln/>
        </p:spPr>
        <p:txBody>
          <a:bodyPr wrap="square" lIns="0" tIns="0" rIns="0" bIns="0" rtlCol="0" anchor="t"/>
          <a:lstStyle/>
          <a:p>
            <a:pPr algn="l" indent="0" marL="0">
              <a:lnSpc>
                <a:spcPct val="98000"/>
              </a:lnSpc>
              <a:buNone/>
            </a:pPr>
            <a:r>
              <a:rPr lang="en-US" sz="1650" b="1" dirty="0">
                <a:solidFill>
                  <a:srgbClr val="0E2A47"/>
                </a:solidFill>
                <a:latin typeface="Calibri" pitchFamily="34" charset="0"/>
                <a:ea typeface="Calibri" pitchFamily="34" charset="-122"/>
                <a:cs typeface="Calibri" pitchFamily="34" charset="-120"/>
              </a:rPr>
              <a:t>Google Ads Search &amp; Display</a:t>
            </a:r>
            <a:endParaRPr lang="en-US" sz="1650" dirty="0"/>
          </a:p>
        </p:txBody>
      </p:sp>
      <p:sp>
        <p:nvSpPr>
          <p:cNvPr id="16" name="Text 14"/>
          <p:cNvSpPr txBox="1"/>
          <p:nvPr/>
        </p:nvSpPr>
        <p:spPr>
          <a:xfrm>
            <a:off x="7479792" y="3447288"/>
            <a:ext cx="4005072" cy="365760"/>
          </a:xfrm>
          <a:prstGeom prst="rect">
            <a:avLst/>
          </a:prstGeom>
          <a:noFill/>
          <a:ln/>
        </p:spPr>
        <p:txBody>
          <a:bodyPr wrap="square" lIns="0" tIns="0" rIns="0" bIns="0" rtlCol="0" anchor="t"/>
          <a:lstStyle/>
          <a:p>
            <a:pPr algn="l" indent="0" marL="0">
              <a:buNone/>
            </a:pPr>
            <a:r>
              <a:rPr lang="en-US" sz="1200" dirty="0">
                <a:solidFill>
                  <a:srgbClr val="5F7183"/>
                </a:solidFill>
                <a:latin typeface="Calibri" pitchFamily="34" charset="0"/>
                <a:ea typeface="Calibri" pitchFamily="34" charset="-122"/>
                <a:cs typeface="Calibri" pitchFamily="34" charset="-120"/>
              </a:rPr>
              <a:t>Google · ID: 113015369, 108288402</a:t>
            </a:r>
            <a:endParaRPr lang="en-US" sz="1200" dirty="0"/>
          </a:p>
        </p:txBody>
      </p:sp>
      <p:sp>
        <p:nvSpPr>
          <p:cNvPr id="17" name="Shape 15"/>
          <p:cNvSpPr/>
          <p:nvPr/>
        </p:nvSpPr>
        <p:spPr>
          <a:xfrm>
            <a:off x="548640" y="4160520"/>
            <a:ext cx="551383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8" name="Shape 16"/>
          <p:cNvSpPr/>
          <p:nvPr/>
        </p:nvSpPr>
        <p:spPr>
          <a:xfrm>
            <a:off x="822960" y="4663440"/>
            <a:ext cx="731520" cy="731520"/>
          </a:xfrm>
          <a:prstGeom prst="ellipse">
            <a:avLst/>
          </a:prstGeom>
          <a:solidFill>
            <a:srgbClr val="E8F1FB"/>
          </a:solidFill>
          <a:ln/>
        </p:spPr>
      </p:sp>
      <p:sp>
        <p:nvSpPr>
          <p:cNvPr id="19" name="Text 17"/>
          <p:cNvSpPr txBox="1"/>
          <p:nvPr/>
        </p:nvSpPr>
        <p:spPr>
          <a:xfrm>
            <a:off x="822960" y="4663440"/>
            <a:ext cx="731520" cy="731520"/>
          </a:xfrm>
          <a:prstGeom prst="rect">
            <a:avLst/>
          </a:prstGeom>
          <a:noFill/>
          <a:ln/>
        </p:spPr>
        <p:txBody>
          <a:bodyPr wrap="square" lIns="0" tIns="0" rIns="0" bIns="0" rtlCol="0" anchor="ctr"/>
          <a:lstStyle/>
          <a:p>
            <a:pPr algn="ctr" indent="0" marL="0">
              <a:buNone/>
            </a:pPr>
            <a:r>
              <a:rPr lang="en-US" sz="2200" b="1" dirty="0">
                <a:solidFill>
                  <a:srgbClr val="1668B8"/>
                </a:solidFill>
                <a:latin typeface="Calibri" pitchFamily="34" charset="0"/>
                <a:ea typeface="Calibri" pitchFamily="34" charset="-122"/>
                <a:cs typeface="Calibri" pitchFamily="34" charset="-120"/>
              </a:rPr>
              <a:t>G</a:t>
            </a:r>
            <a:endParaRPr lang="en-US" sz="2200" dirty="0"/>
          </a:p>
        </p:txBody>
      </p:sp>
      <p:sp>
        <p:nvSpPr>
          <p:cNvPr id="20" name="Text 18"/>
          <p:cNvSpPr txBox="1"/>
          <p:nvPr/>
        </p:nvSpPr>
        <p:spPr>
          <a:xfrm>
            <a:off x="1783080" y="4471416"/>
            <a:ext cx="4050792" cy="274320"/>
          </a:xfrm>
          <a:prstGeom prst="rect">
            <a:avLst/>
          </a:prstGeom>
          <a:noFill/>
          <a:ln/>
        </p:spPr>
        <p:txBody>
          <a:bodyPr wrap="square" lIns="0" tIns="0" rIns="0" bIns="0" rtlCol="0" anchor="ctr"/>
          <a:lstStyle/>
          <a:p>
            <a:pPr algn="l" indent="0" marL="0">
              <a:buNone/>
            </a:pPr>
            <a:r>
              <a:rPr lang="en-US" sz="1050" b="1" spc="200" kern="0" dirty="0">
                <a:solidFill>
                  <a:srgbClr val="F5A623"/>
                </a:solidFill>
                <a:latin typeface="Calibri" pitchFamily="34" charset="0"/>
                <a:ea typeface="Calibri" pitchFamily="34" charset="-122"/>
                <a:cs typeface="Calibri" pitchFamily="34" charset="-120"/>
              </a:rPr>
              <a:t>GOOGLE</a:t>
            </a:r>
            <a:endParaRPr lang="en-US" sz="1050" dirty="0"/>
          </a:p>
        </p:txBody>
      </p:sp>
      <p:sp>
        <p:nvSpPr>
          <p:cNvPr id="21" name="Text 19"/>
          <p:cNvSpPr txBox="1"/>
          <p:nvPr/>
        </p:nvSpPr>
        <p:spPr>
          <a:xfrm>
            <a:off x="1783080" y="4727448"/>
            <a:ext cx="4005072" cy="658368"/>
          </a:xfrm>
          <a:prstGeom prst="rect">
            <a:avLst/>
          </a:prstGeom>
          <a:noFill/>
          <a:ln/>
        </p:spPr>
        <p:txBody>
          <a:bodyPr wrap="square" lIns="0" tIns="0" rIns="0" bIns="0" rtlCol="0" anchor="t"/>
          <a:lstStyle/>
          <a:p>
            <a:pPr algn="l" indent="0" marL="0">
              <a:lnSpc>
                <a:spcPct val="98000"/>
              </a:lnSpc>
              <a:buNone/>
            </a:pPr>
            <a:r>
              <a:rPr lang="en-US" sz="1650" b="1" dirty="0">
                <a:solidFill>
                  <a:srgbClr val="0E2A47"/>
                </a:solidFill>
                <a:latin typeface="Calibri" pitchFamily="34" charset="0"/>
                <a:ea typeface="Calibri" pitchFamily="34" charset="-122"/>
                <a:cs typeface="Calibri" pitchFamily="34" charset="-120"/>
              </a:rPr>
              <a:t>Advanced Google Analytics</a:t>
            </a:r>
            <a:endParaRPr lang="en-US" sz="1650" dirty="0"/>
          </a:p>
        </p:txBody>
      </p:sp>
      <p:sp>
        <p:nvSpPr>
          <p:cNvPr id="22" name="Text 20"/>
          <p:cNvSpPr txBox="1"/>
          <p:nvPr/>
        </p:nvSpPr>
        <p:spPr>
          <a:xfrm>
            <a:off x="1783080" y="5367528"/>
            <a:ext cx="4005072" cy="365760"/>
          </a:xfrm>
          <a:prstGeom prst="rect">
            <a:avLst/>
          </a:prstGeom>
          <a:noFill/>
          <a:ln/>
        </p:spPr>
        <p:txBody>
          <a:bodyPr wrap="square" lIns="0" tIns="0" rIns="0" bIns="0" rtlCol="0" anchor="t"/>
          <a:lstStyle/>
          <a:p>
            <a:pPr algn="l" indent="0" marL="0">
              <a:buNone/>
            </a:pPr>
            <a:r>
              <a:rPr lang="en-US" sz="1200" dirty="0">
                <a:solidFill>
                  <a:srgbClr val="5F7183"/>
                </a:solidFill>
                <a:latin typeface="Calibri" pitchFamily="34" charset="0"/>
                <a:ea typeface="Calibri" pitchFamily="34" charset="-122"/>
                <a:cs typeface="Calibri" pitchFamily="34" charset="-120"/>
              </a:rPr>
              <a:t>Google Analytics · Issued Dec 2021</a:t>
            </a:r>
            <a:endParaRPr lang="en-US" sz="1200" dirty="0"/>
          </a:p>
        </p:txBody>
      </p:sp>
      <p:sp>
        <p:nvSpPr>
          <p:cNvPr id="23" name="Shape 21"/>
          <p:cNvSpPr/>
          <p:nvPr/>
        </p:nvSpPr>
        <p:spPr>
          <a:xfrm>
            <a:off x="6245352" y="4160520"/>
            <a:ext cx="551383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24" name="Shape 22"/>
          <p:cNvSpPr/>
          <p:nvPr/>
        </p:nvSpPr>
        <p:spPr>
          <a:xfrm>
            <a:off x="6519672" y="4663440"/>
            <a:ext cx="731520" cy="731520"/>
          </a:xfrm>
          <a:prstGeom prst="ellipse">
            <a:avLst/>
          </a:prstGeom>
          <a:solidFill>
            <a:srgbClr val="E8F1FB"/>
          </a:solidFill>
          <a:ln/>
        </p:spPr>
      </p:sp>
      <p:sp>
        <p:nvSpPr>
          <p:cNvPr id="25" name="Text 23"/>
          <p:cNvSpPr txBox="1"/>
          <p:nvPr/>
        </p:nvSpPr>
        <p:spPr>
          <a:xfrm>
            <a:off x="6519672" y="4663440"/>
            <a:ext cx="731520" cy="731520"/>
          </a:xfrm>
          <a:prstGeom prst="rect">
            <a:avLst/>
          </a:prstGeom>
          <a:noFill/>
          <a:ln/>
        </p:spPr>
        <p:txBody>
          <a:bodyPr wrap="square" lIns="0" tIns="0" rIns="0" bIns="0" rtlCol="0" anchor="ctr"/>
          <a:lstStyle/>
          <a:p>
            <a:pPr algn="ctr" indent="0" marL="0">
              <a:buNone/>
            </a:pPr>
            <a:r>
              <a:rPr lang="en-US" sz="1700" b="1" dirty="0">
                <a:solidFill>
                  <a:srgbClr val="1668B8"/>
                </a:solidFill>
                <a:latin typeface="Calibri" pitchFamily="34" charset="0"/>
                <a:ea typeface="Calibri" pitchFamily="34" charset="-122"/>
                <a:cs typeface="Calibri" pitchFamily="34" charset="-120"/>
              </a:rPr>
              <a:t>in</a:t>
            </a:r>
            <a:endParaRPr lang="en-US" sz="1700" dirty="0"/>
          </a:p>
        </p:txBody>
      </p:sp>
      <p:sp>
        <p:nvSpPr>
          <p:cNvPr id="26" name="Text 24"/>
          <p:cNvSpPr txBox="1"/>
          <p:nvPr/>
        </p:nvSpPr>
        <p:spPr>
          <a:xfrm>
            <a:off x="7479792" y="4471416"/>
            <a:ext cx="4050792" cy="274320"/>
          </a:xfrm>
          <a:prstGeom prst="rect">
            <a:avLst/>
          </a:prstGeom>
          <a:noFill/>
          <a:ln/>
        </p:spPr>
        <p:txBody>
          <a:bodyPr wrap="square" lIns="0" tIns="0" rIns="0" bIns="0" rtlCol="0" anchor="ctr"/>
          <a:lstStyle/>
          <a:p>
            <a:pPr algn="l" indent="0" marL="0">
              <a:buNone/>
            </a:pPr>
            <a:r>
              <a:rPr lang="en-US" sz="1050" b="1" spc="200" kern="0" dirty="0">
                <a:solidFill>
                  <a:srgbClr val="F5A623"/>
                </a:solidFill>
                <a:latin typeface="Calibri" pitchFamily="34" charset="0"/>
                <a:ea typeface="Calibri" pitchFamily="34" charset="-122"/>
                <a:cs typeface="Calibri" pitchFamily="34" charset="-120"/>
              </a:rPr>
              <a:t>LINKEDIN</a:t>
            </a:r>
            <a:endParaRPr lang="en-US" sz="1050" dirty="0"/>
          </a:p>
        </p:txBody>
      </p:sp>
      <p:sp>
        <p:nvSpPr>
          <p:cNvPr id="27" name="Text 25"/>
          <p:cNvSpPr txBox="1"/>
          <p:nvPr/>
        </p:nvSpPr>
        <p:spPr>
          <a:xfrm>
            <a:off x="7479792" y="4727448"/>
            <a:ext cx="4005072" cy="658368"/>
          </a:xfrm>
          <a:prstGeom prst="rect">
            <a:avLst/>
          </a:prstGeom>
          <a:noFill/>
          <a:ln/>
        </p:spPr>
        <p:txBody>
          <a:bodyPr wrap="square" lIns="0" tIns="0" rIns="0" bIns="0" rtlCol="0" anchor="t"/>
          <a:lstStyle/>
          <a:p>
            <a:pPr algn="l" indent="0" marL="0">
              <a:lnSpc>
                <a:spcPct val="98000"/>
              </a:lnSpc>
              <a:buNone/>
            </a:pPr>
            <a:r>
              <a:rPr lang="en-US" sz="1650" b="1" dirty="0">
                <a:solidFill>
                  <a:srgbClr val="0E2A47"/>
                </a:solidFill>
                <a:latin typeface="Calibri" pitchFamily="34" charset="0"/>
                <a:ea typeface="Calibri" pitchFamily="34" charset="-122"/>
                <a:cs typeface="Calibri" pitchFamily="34" charset="-120"/>
              </a:rPr>
              <a:t>Content &amp; Social Media Marketing</a:t>
            </a:r>
            <a:endParaRPr lang="en-US" sz="1650" dirty="0"/>
          </a:p>
        </p:txBody>
      </p:sp>
      <p:sp>
        <p:nvSpPr>
          <p:cNvPr id="28" name="Text 26"/>
          <p:cNvSpPr txBox="1"/>
          <p:nvPr/>
        </p:nvSpPr>
        <p:spPr>
          <a:xfrm>
            <a:off x="7479792" y="5367528"/>
            <a:ext cx="4005072" cy="365760"/>
          </a:xfrm>
          <a:prstGeom prst="rect">
            <a:avLst/>
          </a:prstGeom>
          <a:noFill/>
          <a:ln/>
        </p:spPr>
        <p:txBody>
          <a:bodyPr wrap="square" lIns="0" tIns="0" rIns="0" bIns="0" rtlCol="0" anchor="t"/>
          <a:lstStyle/>
          <a:p>
            <a:pPr algn="l" indent="0" marL="0">
              <a:buNone/>
            </a:pPr>
            <a:r>
              <a:rPr lang="en-US" sz="1200" dirty="0">
                <a:solidFill>
                  <a:srgbClr val="5F7183"/>
                </a:solidFill>
                <a:latin typeface="Calibri" pitchFamily="34" charset="0"/>
                <a:ea typeface="Calibri" pitchFamily="34" charset="-122"/>
                <a:cs typeface="Calibri" pitchFamily="34" charset="-120"/>
              </a:rPr>
              <a:t>LinkedIn Certification</a:t>
            </a:r>
            <a:endParaRPr lang="en-US" sz="1200" dirty="0"/>
          </a:p>
        </p:txBody>
      </p:sp>
      <p:sp>
        <p:nvSpPr>
          <p:cNvPr id="29" name="Text 27"/>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30" name="Text 28"/>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CAPABILITIES</a:t>
            </a:r>
            <a:endParaRPr lang="en-US" sz="1250" dirty="0"/>
          </a:p>
        </p:txBody>
      </p:sp>
      <p:sp>
        <p:nvSpPr>
          <p:cNvPr id="4" name="Text 2"/>
          <p:cNvSpPr txBox="1"/>
          <p:nvPr/>
        </p:nvSpPr>
        <p:spPr>
          <a:xfrm>
            <a:off x="548640" y="1170432"/>
            <a:ext cx="749808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Core Skills</a:t>
            </a:r>
            <a:endParaRPr lang="en-US" sz="3400" dirty="0"/>
          </a:p>
        </p:txBody>
      </p:sp>
      <p:sp>
        <p:nvSpPr>
          <p:cNvPr id="5" name="Shape 3"/>
          <p:cNvSpPr/>
          <p:nvPr/>
        </p:nvSpPr>
        <p:spPr>
          <a:xfrm>
            <a:off x="548640" y="2194560"/>
            <a:ext cx="6720840" cy="1170432"/>
          </a:xfrm>
          <a:prstGeom prst="roundRect">
            <a:avLst>
              <a:gd name="adj" fmla="val 8594"/>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Shape 4"/>
          <p:cNvSpPr/>
          <p:nvPr/>
        </p:nvSpPr>
        <p:spPr>
          <a:xfrm>
            <a:off x="777240" y="2432304"/>
            <a:ext cx="694944" cy="694944"/>
          </a:xfrm>
          <a:prstGeom prst="roundRect">
            <a:avLst>
              <a:gd name="adj" fmla="val 15789"/>
            </a:avLst>
          </a:prstGeom>
          <a:solidFill>
            <a:srgbClr val="E8F1FB"/>
          </a:solidFill>
          <a:ln/>
        </p:spPr>
      </p:sp>
      <p:sp>
        <p:nvSpPr>
          <p:cNvPr id="7" name="Text 5"/>
          <p:cNvSpPr txBox="1"/>
          <p:nvPr/>
        </p:nvSpPr>
        <p:spPr>
          <a:xfrm>
            <a:off x="777240" y="2432304"/>
            <a:ext cx="694944" cy="694944"/>
          </a:xfrm>
          <a:prstGeom prst="rect">
            <a:avLst/>
          </a:prstGeom>
          <a:noFill/>
          <a:ln/>
        </p:spPr>
        <p:txBody>
          <a:bodyPr wrap="square" lIns="0" tIns="0" rIns="0" bIns="0" rtlCol="0" anchor="ctr"/>
          <a:lstStyle/>
          <a:p>
            <a:pPr algn="ctr" indent="0" marL="0">
              <a:buNone/>
            </a:pPr>
            <a:r>
              <a:rPr lang="en-US" sz="1824" b="1" dirty="0">
                <a:solidFill>
                  <a:srgbClr val="1668B8"/>
                </a:solidFill>
                <a:latin typeface="Calibri" pitchFamily="34" charset="0"/>
                <a:ea typeface="Calibri" pitchFamily="34" charset="-122"/>
                <a:cs typeface="Calibri" pitchFamily="34" charset="-120"/>
              </a:rPr>
              <a:t>01</a:t>
            </a:r>
            <a:endParaRPr lang="en-US" sz="1824" dirty="0"/>
          </a:p>
        </p:txBody>
      </p:sp>
      <p:sp>
        <p:nvSpPr>
          <p:cNvPr id="8" name="Text 6"/>
          <p:cNvSpPr txBox="1"/>
          <p:nvPr/>
        </p:nvSpPr>
        <p:spPr>
          <a:xfrm>
            <a:off x="1645920" y="2395728"/>
            <a:ext cx="5486400" cy="384048"/>
          </a:xfrm>
          <a:prstGeom prst="rect">
            <a:avLst/>
          </a:prstGeom>
          <a:noFill/>
          <a:ln/>
        </p:spPr>
        <p:txBody>
          <a:bodyPr wrap="square" lIns="0" tIns="0" rIns="0" bIns="0" rtlCol="0" anchor="ctr"/>
          <a:lstStyle/>
          <a:p>
            <a:pPr algn="l" indent="0" marL="0">
              <a:buNone/>
            </a:pPr>
            <a:r>
              <a:rPr lang="en-US" sz="1700" b="1" dirty="0">
                <a:solidFill>
                  <a:srgbClr val="0E2A47"/>
                </a:solidFill>
                <a:latin typeface="Calibri" pitchFamily="34" charset="0"/>
                <a:ea typeface="Calibri" pitchFamily="34" charset="-122"/>
                <a:cs typeface="Calibri" pitchFamily="34" charset="-120"/>
              </a:rPr>
              <a:t>Social Media Management</a:t>
            </a:r>
            <a:endParaRPr lang="en-US" sz="1700" dirty="0"/>
          </a:p>
        </p:txBody>
      </p:sp>
      <p:sp>
        <p:nvSpPr>
          <p:cNvPr id="9" name="Text 7"/>
          <p:cNvSpPr txBox="1"/>
          <p:nvPr/>
        </p:nvSpPr>
        <p:spPr>
          <a:xfrm>
            <a:off x="1645920" y="2798064"/>
            <a:ext cx="5486400" cy="457200"/>
          </a:xfrm>
          <a:prstGeom prst="rect">
            <a:avLst/>
          </a:prstGeom>
          <a:noFill/>
          <a:ln/>
        </p:spPr>
        <p:txBody>
          <a:bodyPr wrap="square" lIns="0" tIns="0" rIns="0" bIns="0" rtlCol="0" anchor="t"/>
          <a:lstStyle/>
          <a:p>
            <a:pPr algn="l" indent="0" marL="0">
              <a:lnSpc>
                <a:spcPct val="105000"/>
              </a:lnSpc>
              <a:buNone/>
            </a:pPr>
            <a:r>
              <a:rPr lang="en-US" sz="1250" dirty="0">
                <a:solidFill>
                  <a:srgbClr val="5F7183"/>
                </a:solidFill>
                <a:latin typeface="Calibri" pitchFamily="34" charset="0"/>
                <a:ea typeface="Calibri" pitchFamily="34" charset="-122"/>
                <a:cs typeface="Calibri" pitchFamily="34" charset="-120"/>
              </a:rPr>
              <a:t>Instagram, Facebook &amp; LinkedIn — content, community and reputation management.</a:t>
            </a:r>
            <a:endParaRPr lang="en-US" sz="1250" dirty="0"/>
          </a:p>
        </p:txBody>
      </p:sp>
      <p:sp>
        <p:nvSpPr>
          <p:cNvPr id="10" name="Shape 8"/>
          <p:cNvSpPr/>
          <p:nvPr/>
        </p:nvSpPr>
        <p:spPr>
          <a:xfrm>
            <a:off x="548640" y="3511296"/>
            <a:ext cx="6720840" cy="1170432"/>
          </a:xfrm>
          <a:prstGeom prst="roundRect">
            <a:avLst>
              <a:gd name="adj" fmla="val 8594"/>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1" name="Shape 9"/>
          <p:cNvSpPr/>
          <p:nvPr/>
        </p:nvSpPr>
        <p:spPr>
          <a:xfrm>
            <a:off x="777240" y="3749040"/>
            <a:ext cx="694944" cy="694944"/>
          </a:xfrm>
          <a:prstGeom prst="roundRect">
            <a:avLst>
              <a:gd name="adj" fmla="val 15789"/>
            </a:avLst>
          </a:prstGeom>
          <a:solidFill>
            <a:srgbClr val="FDEEDA"/>
          </a:solidFill>
          <a:ln/>
        </p:spPr>
      </p:sp>
      <p:sp>
        <p:nvSpPr>
          <p:cNvPr id="12" name="Text 10"/>
          <p:cNvSpPr txBox="1"/>
          <p:nvPr/>
        </p:nvSpPr>
        <p:spPr>
          <a:xfrm>
            <a:off x="777240" y="3749040"/>
            <a:ext cx="694944" cy="694944"/>
          </a:xfrm>
          <a:prstGeom prst="rect">
            <a:avLst/>
          </a:prstGeom>
          <a:noFill/>
          <a:ln/>
        </p:spPr>
        <p:txBody>
          <a:bodyPr wrap="square" lIns="0" tIns="0" rIns="0" bIns="0" rtlCol="0" anchor="ctr"/>
          <a:lstStyle/>
          <a:p>
            <a:pPr algn="ctr" indent="0" marL="0">
              <a:buNone/>
            </a:pPr>
            <a:r>
              <a:rPr lang="en-US" sz="1824" b="1" dirty="0">
                <a:solidFill>
                  <a:srgbClr val="C77F17"/>
                </a:solidFill>
                <a:latin typeface="Calibri" pitchFamily="34" charset="0"/>
                <a:ea typeface="Calibri" pitchFamily="34" charset="-122"/>
                <a:cs typeface="Calibri" pitchFamily="34" charset="-120"/>
              </a:rPr>
              <a:t>02</a:t>
            </a:r>
            <a:endParaRPr lang="en-US" sz="1824" dirty="0"/>
          </a:p>
        </p:txBody>
      </p:sp>
      <p:sp>
        <p:nvSpPr>
          <p:cNvPr id="13" name="Text 11"/>
          <p:cNvSpPr txBox="1"/>
          <p:nvPr/>
        </p:nvSpPr>
        <p:spPr>
          <a:xfrm>
            <a:off x="1645920" y="3712464"/>
            <a:ext cx="5486400" cy="384048"/>
          </a:xfrm>
          <a:prstGeom prst="rect">
            <a:avLst/>
          </a:prstGeom>
          <a:noFill/>
          <a:ln/>
        </p:spPr>
        <p:txBody>
          <a:bodyPr wrap="square" lIns="0" tIns="0" rIns="0" bIns="0" rtlCol="0" anchor="ctr"/>
          <a:lstStyle/>
          <a:p>
            <a:pPr algn="l" indent="0" marL="0">
              <a:buNone/>
            </a:pPr>
            <a:r>
              <a:rPr lang="en-US" sz="1700" b="1" dirty="0">
                <a:solidFill>
                  <a:srgbClr val="0E2A47"/>
                </a:solidFill>
                <a:latin typeface="Calibri" pitchFamily="34" charset="0"/>
                <a:ea typeface="Calibri" pitchFamily="34" charset="-122"/>
                <a:cs typeface="Calibri" pitchFamily="34" charset="-120"/>
              </a:rPr>
              <a:t>Promotions / Advertising</a:t>
            </a:r>
            <a:endParaRPr lang="en-US" sz="1700" dirty="0"/>
          </a:p>
        </p:txBody>
      </p:sp>
      <p:sp>
        <p:nvSpPr>
          <p:cNvPr id="14" name="Text 12"/>
          <p:cNvSpPr txBox="1"/>
          <p:nvPr/>
        </p:nvSpPr>
        <p:spPr>
          <a:xfrm>
            <a:off x="1645920" y="4114800"/>
            <a:ext cx="5486400" cy="457200"/>
          </a:xfrm>
          <a:prstGeom prst="rect">
            <a:avLst/>
          </a:prstGeom>
          <a:noFill/>
          <a:ln/>
        </p:spPr>
        <p:txBody>
          <a:bodyPr wrap="square" lIns="0" tIns="0" rIns="0" bIns="0" rtlCol="0" anchor="t"/>
          <a:lstStyle/>
          <a:p>
            <a:pPr algn="l" indent="0" marL="0">
              <a:lnSpc>
                <a:spcPct val="105000"/>
              </a:lnSpc>
              <a:buNone/>
            </a:pPr>
            <a:r>
              <a:rPr lang="en-US" sz="1250" dirty="0">
                <a:solidFill>
                  <a:srgbClr val="5F7183"/>
                </a:solidFill>
                <a:latin typeface="Calibri" pitchFamily="34" charset="0"/>
                <a:ea typeface="Calibri" pitchFamily="34" charset="-122"/>
                <a:cs typeface="Calibri" pitchFamily="34" charset="-120"/>
              </a:rPr>
              <a:t>Instagram, Facebook, LinkedIn, Google, YouTube, Microsoft &amp; Snapchat Ads.</a:t>
            </a:r>
            <a:endParaRPr lang="en-US" sz="1250" dirty="0"/>
          </a:p>
        </p:txBody>
      </p:sp>
      <p:sp>
        <p:nvSpPr>
          <p:cNvPr id="15" name="Shape 13"/>
          <p:cNvSpPr/>
          <p:nvPr/>
        </p:nvSpPr>
        <p:spPr>
          <a:xfrm>
            <a:off x="548640" y="4828032"/>
            <a:ext cx="6720840" cy="1170432"/>
          </a:xfrm>
          <a:prstGeom prst="roundRect">
            <a:avLst>
              <a:gd name="adj" fmla="val 8594"/>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6" name="Shape 14"/>
          <p:cNvSpPr/>
          <p:nvPr/>
        </p:nvSpPr>
        <p:spPr>
          <a:xfrm>
            <a:off x="777240" y="5065776"/>
            <a:ext cx="694944" cy="694944"/>
          </a:xfrm>
          <a:prstGeom prst="roundRect">
            <a:avLst>
              <a:gd name="adj" fmla="val 15789"/>
            </a:avLst>
          </a:prstGeom>
          <a:solidFill>
            <a:srgbClr val="E8F1FB"/>
          </a:solidFill>
          <a:ln/>
        </p:spPr>
      </p:sp>
      <p:sp>
        <p:nvSpPr>
          <p:cNvPr id="17" name="Text 15"/>
          <p:cNvSpPr txBox="1"/>
          <p:nvPr/>
        </p:nvSpPr>
        <p:spPr>
          <a:xfrm>
            <a:off x="777240" y="5065776"/>
            <a:ext cx="694944" cy="694944"/>
          </a:xfrm>
          <a:prstGeom prst="rect">
            <a:avLst/>
          </a:prstGeom>
          <a:noFill/>
          <a:ln/>
        </p:spPr>
        <p:txBody>
          <a:bodyPr wrap="square" lIns="0" tIns="0" rIns="0" bIns="0" rtlCol="0" anchor="ctr"/>
          <a:lstStyle/>
          <a:p>
            <a:pPr algn="ctr" indent="0" marL="0">
              <a:buNone/>
            </a:pPr>
            <a:r>
              <a:rPr lang="en-US" sz="1824" b="1" dirty="0">
                <a:solidFill>
                  <a:srgbClr val="1668B8"/>
                </a:solidFill>
                <a:latin typeface="Calibri" pitchFamily="34" charset="0"/>
                <a:ea typeface="Calibri" pitchFamily="34" charset="-122"/>
                <a:cs typeface="Calibri" pitchFamily="34" charset="-120"/>
              </a:rPr>
              <a:t>03</a:t>
            </a:r>
            <a:endParaRPr lang="en-US" sz="1824" dirty="0"/>
          </a:p>
        </p:txBody>
      </p:sp>
      <p:sp>
        <p:nvSpPr>
          <p:cNvPr id="18" name="Text 16"/>
          <p:cNvSpPr txBox="1"/>
          <p:nvPr/>
        </p:nvSpPr>
        <p:spPr>
          <a:xfrm>
            <a:off x="1645920" y="5029200"/>
            <a:ext cx="5486400" cy="384048"/>
          </a:xfrm>
          <a:prstGeom prst="rect">
            <a:avLst/>
          </a:prstGeom>
          <a:noFill/>
          <a:ln/>
        </p:spPr>
        <p:txBody>
          <a:bodyPr wrap="square" lIns="0" tIns="0" rIns="0" bIns="0" rtlCol="0" anchor="ctr"/>
          <a:lstStyle/>
          <a:p>
            <a:pPr algn="l" indent="0" marL="0">
              <a:buNone/>
            </a:pPr>
            <a:r>
              <a:rPr lang="en-US" sz="1700" b="1" dirty="0">
                <a:solidFill>
                  <a:srgbClr val="0E2A47"/>
                </a:solidFill>
                <a:latin typeface="Calibri" pitchFamily="34" charset="0"/>
                <a:ea typeface="Calibri" pitchFamily="34" charset="-122"/>
                <a:cs typeface="Calibri" pitchFamily="34" charset="-120"/>
              </a:rPr>
              <a:t>LinkedIn Certification</a:t>
            </a:r>
            <a:endParaRPr lang="en-US" sz="1700" dirty="0"/>
          </a:p>
        </p:txBody>
      </p:sp>
      <p:sp>
        <p:nvSpPr>
          <p:cNvPr id="19" name="Text 17"/>
          <p:cNvSpPr txBox="1"/>
          <p:nvPr/>
        </p:nvSpPr>
        <p:spPr>
          <a:xfrm>
            <a:off x="1645920" y="5431536"/>
            <a:ext cx="5486400" cy="457200"/>
          </a:xfrm>
          <a:prstGeom prst="rect">
            <a:avLst/>
          </a:prstGeom>
          <a:noFill/>
          <a:ln/>
        </p:spPr>
        <p:txBody>
          <a:bodyPr wrap="square" lIns="0" tIns="0" rIns="0" bIns="0" rtlCol="0" anchor="t"/>
          <a:lstStyle/>
          <a:p>
            <a:pPr algn="l" indent="0" marL="0">
              <a:lnSpc>
                <a:spcPct val="105000"/>
              </a:lnSpc>
              <a:buNone/>
            </a:pPr>
            <a:r>
              <a:rPr lang="en-US" sz="1250" dirty="0">
                <a:solidFill>
                  <a:srgbClr val="5F7183"/>
                </a:solidFill>
                <a:latin typeface="Calibri" pitchFamily="34" charset="0"/>
                <a:ea typeface="Calibri" pitchFamily="34" charset="-122"/>
                <a:cs typeface="Calibri" pitchFamily="34" charset="-120"/>
              </a:rPr>
              <a:t>Content Marketing, Social Media &amp; Digital Marketing tools.</a:t>
            </a:r>
            <a:endParaRPr lang="en-US" sz="1250" dirty="0"/>
          </a:p>
        </p:txBody>
      </p:sp>
      <p:sp>
        <p:nvSpPr>
          <p:cNvPr id="20" name="Shape 18"/>
          <p:cNvSpPr/>
          <p:nvPr/>
        </p:nvSpPr>
        <p:spPr>
          <a:xfrm>
            <a:off x="7543800" y="2194560"/>
            <a:ext cx="4069080" cy="3803904"/>
          </a:xfrm>
          <a:prstGeom prst="roundRect">
            <a:avLst>
              <a:gd name="adj" fmla="val 2644"/>
            </a:avLst>
          </a:prstGeom>
          <a:solidFill>
            <a:srgbClr val="0E2A47"/>
          </a:solidFill>
          <a:ln/>
          <a:effectLst>
            <a:outerShdw sx="100000" sy="100000" kx="0" ky="0" algn="bl" rotWithShape="0" blurRad="127000" dist="50800" dir="5400000">
              <a:srgbClr val="32506e">
                <a:alpha val="16000"/>
              </a:srgbClr>
            </a:outerShdw>
          </a:effectLst>
        </p:spPr>
      </p:sp>
      <p:sp>
        <p:nvSpPr>
          <p:cNvPr id="21" name="Text 19"/>
          <p:cNvSpPr txBox="1"/>
          <p:nvPr/>
        </p:nvSpPr>
        <p:spPr>
          <a:xfrm>
            <a:off x="7818120" y="2468880"/>
            <a:ext cx="3566160" cy="320040"/>
          </a:xfrm>
          <a:prstGeom prst="rect">
            <a:avLst/>
          </a:prstGeom>
          <a:noFill/>
          <a:ln/>
        </p:spPr>
        <p:txBody>
          <a:bodyPr wrap="square" lIns="0" tIns="0" rIns="0" bIns="0" rtlCol="0" anchor="ctr"/>
          <a:lstStyle/>
          <a:p>
            <a:pPr algn="l" indent="0" marL="0">
              <a:buNone/>
            </a:pPr>
            <a:r>
              <a:rPr lang="en-US" sz="1200" b="1" spc="200" kern="0" dirty="0">
                <a:solidFill>
                  <a:srgbClr val="F5A623"/>
                </a:solidFill>
                <a:latin typeface="Calibri" pitchFamily="34" charset="0"/>
                <a:ea typeface="Calibri" pitchFamily="34" charset="-122"/>
                <a:cs typeface="Calibri" pitchFamily="34" charset="-120"/>
              </a:rPr>
              <a:t>PLATFORMS I MANAGE</a:t>
            </a:r>
            <a:endParaRPr lang="en-US" sz="1200" dirty="0"/>
          </a:p>
        </p:txBody>
      </p:sp>
      <p:sp>
        <p:nvSpPr>
          <p:cNvPr id="22" name="Shape 20"/>
          <p:cNvSpPr/>
          <p:nvPr/>
        </p:nvSpPr>
        <p:spPr>
          <a:xfrm>
            <a:off x="7818120" y="2971800"/>
            <a:ext cx="777240" cy="777240"/>
          </a:xfrm>
          <a:prstGeom prst="roundRect">
            <a:avLst>
              <a:gd name="adj" fmla="val 14118"/>
            </a:avLst>
          </a:prstGeom>
          <a:solidFill>
            <a:srgbClr val="FFFFFF"/>
          </a:solidFill>
          <a:ln/>
        </p:spPr>
      </p:sp>
      <p:pic>
        <p:nvPicPr>
          <p:cNvPr id="23" name="Image 0" descr="img/719a0330c3.png">    </p:cNvPr>
          <p:cNvPicPr>
            <a:picLocks noChangeAspect="1"/>
          </p:cNvPicPr>
          <p:nvPr/>
        </p:nvPicPr>
        <p:blipFill>
          <a:blip r:embed="rId1"/>
          <a:stretch>
            <a:fillRect/>
          </a:stretch>
        </p:blipFill>
        <p:spPr>
          <a:xfrm>
            <a:off x="7909560" y="3063240"/>
            <a:ext cx="594360" cy="594360"/>
          </a:xfrm>
          <a:prstGeom prst="rect">
            <a:avLst/>
          </a:prstGeom>
        </p:spPr>
      </p:pic>
      <p:sp>
        <p:nvSpPr>
          <p:cNvPr id="24" name="Text 21"/>
          <p:cNvSpPr txBox="1"/>
          <p:nvPr/>
        </p:nvSpPr>
        <p:spPr>
          <a:xfrm>
            <a:off x="8778240" y="2971800"/>
            <a:ext cx="2743200"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Facebook</a:t>
            </a:r>
            <a:endParaRPr lang="en-US" sz="1600" dirty="0"/>
          </a:p>
        </p:txBody>
      </p:sp>
      <p:sp>
        <p:nvSpPr>
          <p:cNvPr id="25" name="Shape 22"/>
          <p:cNvSpPr/>
          <p:nvPr/>
        </p:nvSpPr>
        <p:spPr>
          <a:xfrm>
            <a:off x="7818120" y="3904488"/>
            <a:ext cx="777240" cy="777240"/>
          </a:xfrm>
          <a:prstGeom prst="roundRect">
            <a:avLst>
              <a:gd name="adj" fmla="val 14118"/>
            </a:avLst>
          </a:prstGeom>
          <a:solidFill>
            <a:srgbClr val="FFFFFF"/>
          </a:solidFill>
          <a:ln/>
        </p:spPr>
      </p:sp>
      <p:pic>
        <p:nvPicPr>
          <p:cNvPr id="26" name="Image 1" descr="img/6396b55ae6.png">    </p:cNvPr>
          <p:cNvPicPr>
            <a:picLocks noChangeAspect="1"/>
          </p:cNvPicPr>
          <p:nvPr/>
        </p:nvPicPr>
        <p:blipFill>
          <a:blip r:embed="rId2"/>
          <a:stretch>
            <a:fillRect/>
          </a:stretch>
        </p:blipFill>
        <p:spPr>
          <a:xfrm>
            <a:off x="7909560" y="3995928"/>
            <a:ext cx="594360" cy="594360"/>
          </a:xfrm>
          <a:prstGeom prst="rect">
            <a:avLst/>
          </a:prstGeom>
        </p:spPr>
      </p:pic>
      <p:sp>
        <p:nvSpPr>
          <p:cNvPr id="27" name="Text 23"/>
          <p:cNvSpPr txBox="1"/>
          <p:nvPr/>
        </p:nvSpPr>
        <p:spPr>
          <a:xfrm>
            <a:off x="8778240" y="3904488"/>
            <a:ext cx="2743200"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Instagram</a:t>
            </a:r>
            <a:endParaRPr lang="en-US" sz="1600" dirty="0"/>
          </a:p>
        </p:txBody>
      </p:sp>
      <p:sp>
        <p:nvSpPr>
          <p:cNvPr id="28" name="Shape 24"/>
          <p:cNvSpPr/>
          <p:nvPr/>
        </p:nvSpPr>
        <p:spPr>
          <a:xfrm>
            <a:off x="7818120" y="4837176"/>
            <a:ext cx="777240" cy="777240"/>
          </a:xfrm>
          <a:prstGeom prst="roundRect">
            <a:avLst>
              <a:gd name="adj" fmla="val 14118"/>
            </a:avLst>
          </a:prstGeom>
          <a:solidFill>
            <a:srgbClr val="FFFFFF"/>
          </a:solidFill>
          <a:ln/>
        </p:spPr>
      </p:sp>
      <p:pic>
        <p:nvPicPr>
          <p:cNvPr id="29" name="Image 2" descr="img/c455fb4b04.png">    </p:cNvPr>
          <p:cNvPicPr>
            <a:picLocks noChangeAspect="1"/>
          </p:cNvPicPr>
          <p:nvPr/>
        </p:nvPicPr>
        <p:blipFill>
          <a:blip r:embed="rId3"/>
          <a:stretch>
            <a:fillRect/>
          </a:stretch>
        </p:blipFill>
        <p:spPr>
          <a:xfrm>
            <a:off x="7909560" y="4928616"/>
            <a:ext cx="594360" cy="594360"/>
          </a:xfrm>
          <a:prstGeom prst="rect">
            <a:avLst/>
          </a:prstGeom>
        </p:spPr>
      </p:pic>
      <p:sp>
        <p:nvSpPr>
          <p:cNvPr id="30" name="Text 25"/>
          <p:cNvSpPr txBox="1"/>
          <p:nvPr/>
        </p:nvSpPr>
        <p:spPr>
          <a:xfrm>
            <a:off x="8778240" y="4837176"/>
            <a:ext cx="2743200"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LinkedIn</a:t>
            </a:r>
            <a:endParaRPr lang="en-US" sz="1600" dirty="0"/>
          </a:p>
        </p:txBody>
      </p:sp>
      <p:sp>
        <p:nvSpPr>
          <p:cNvPr id="31" name="Text 2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32" name="Text 2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412480" y="3108960"/>
            <a:ext cx="5669280" cy="5669280"/>
          </a:xfrm>
          <a:prstGeom prst="ellipse">
            <a:avLst/>
          </a:prstGeom>
          <a:solidFill>
            <a:srgbClr val="163A5F"/>
          </a:solidFill>
          <a:ln/>
        </p:spPr>
      </p:sp>
      <p:sp>
        <p:nvSpPr>
          <p:cNvPr id="3" name="Shape 1"/>
          <p:cNvSpPr/>
          <p:nvPr/>
        </p:nvSpPr>
        <p:spPr>
          <a:xfrm>
            <a:off x="-2011680" y="-2194560"/>
            <a:ext cx="4206240" cy="4206240"/>
          </a:xfrm>
          <a:prstGeom prst="ellipse">
            <a:avLst/>
          </a:prstGeom>
          <a:solidFill>
            <a:srgbClr val="163A5F"/>
          </a:solidFill>
          <a:ln/>
        </p:spPr>
      </p:sp>
      <p:sp>
        <p:nvSpPr>
          <p:cNvPr id="4" name="Text 2"/>
          <p:cNvSpPr txBox="1"/>
          <p:nvPr/>
        </p:nvSpPr>
        <p:spPr>
          <a:xfrm>
            <a:off x="7315200" y="182880"/>
            <a:ext cx="4754880" cy="6492240"/>
          </a:xfrm>
          <a:prstGeom prst="rect">
            <a:avLst/>
          </a:prstGeom>
          <a:noFill/>
          <a:ln/>
        </p:spPr>
        <p:txBody>
          <a:bodyPr wrap="square" lIns="0" tIns="0" rIns="0" bIns="0" rtlCol="0" anchor="ctr"/>
          <a:lstStyle/>
          <a:p>
            <a:pPr algn="r" indent="0" marL="0">
              <a:buNone/>
            </a:pPr>
            <a:r>
              <a:rPr lang="en-US" sz="34000" b="1" dirty="0">
                <a:solidFill>
                  <a:srgbClr val="163A5F"/>
                </a:solidFill>
                <a:latin typeface="Calibri" pitchFamily="34" charset="0"/>
                <a:ea typeface="Calibri" pitchFamily="34" charset="-122"/>
                <a:cs typeface="Calibri" pitchFamily="34" charset="-120"/>
              </a:rPr>
              <a:t>01</a:t>
            </a:r>
            <a:endParaRPr lang="en-US" sz="34000" dirty="0"/>
          </a:p>
        </p:txBody>
      </p:sp>
      <p:sp>
        <p:nvSpPr>
          <p:cNvPr id="5" name="Shape 3"/>
          <p:cNvSpPr/>
          <p:nvPr/>
        </p:nvSpPr>
        <p:spPr>
          <a:xfrm>
            <a:off x="914400" y="2331720"/>
            <a:ext cx="457200" cy="82296"/>
          </a:xfrm>
          <a:prstGeom prst="rect">
            <a:avLst/>
          </a:prstGeom>
          <a:solidFill>
            <a:srgbClr val="F5A623"/>
          </a:solidFill>
          <a:ln/>
        </p:spPr>
      </p:sp>
      <p:sp>
        <p:nvSpPr>
          <p:cNvPr id="6" name="Text 4"/>
          <p:cNvSpPr txBox="1"/>
          <p:nvPr/>
        </p:nvSpPr>
        <p:spPr>
          <a:xfrm>
            <a:off x="914400" y="2514600"/>
            <a:ext cx="73152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SECTION ONE</a:t>
            </a:r>
            <a:endParaRPr lang="en-US" sz="1250" dirty="0"/>
          </a:p>
        </p:txBody>
      </p:sp>
      <p:sp>
        <p:nvSpPr>
          <p:cNvPr id="7" name="Text 5"/>
          <p:cNvSpPr txBox="1"/>
          <p:nvPr/>
        </p:nvSpPr>
        <p:spPr>
          <a:xfrm>
            <a:off x="868680" y="2880360"/>
            <a:ext cx="7498080" cy="1737360"/>
          </a:xfrm>
          <a:prstGeom prst="rect">
            <a:avLst/>
          </a:prstGeom>
          <a:noFill/>
          <a:ln/>
        </p:spPr>
        <p:txBody>
          <a:bodyPr wrap="square" lIns="0" tIns="0" rIns="0" bIns="0" rtlCol="0" anchor="t"/>
          <a:lstStyle/>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Social Media</a:t>
            </a:r>
            <a:endParaRPr lang="en-US" sz="5200" dirty="0"/>
          </a:p>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Marketing</a:t>
            </a:r>
            <a:endParaRPr lang="en-US" sz="5200" dirty="0"/>
          </a:p>
        </p:txBody>
      </p:sp>
      <p:sp>
        <p:nvSpPr>
          <p:cNvPr id="8" name="Text 6"/>
          <p:cNvSpPr txBox="1"/>
          <p:nvPr/>
        </p:nvSpPr>
        <p:spPr>
          <a:xfrm>
            <a:off x="914400" y="4709160"/>
            <a:ext cx="6766560" cy="1097280"/>
          </a:xfrm>
          <a:prstGeom prst="rect">
            <a:avLst/>
          </a:prstGeom>
          <a:noFill/>
          <a:ln/>
        </p:spPr>
        <p:txBody>
          <a:bodyPr wrap="square" lIns="0" tIns="0" rIns="0" bIns="0" rtlCol="0" anchor="t"/>
          <a:lstStyle/>
          <a:p>
            <a:pPr algn="l" indent="0" marL="0">
              <a:lnSpc>
                <a:spcPct val="112000"/>
              </a:lnSpc>
              <a:buNone/>
            </a:pPr>
            <a:r>
              <a:rPr lang="en-US" sz="1500" dirty="0">
                <a:solidFill>
                  <a:srgbClr val="C9D6E5"/>
                </a:solidFill>
                <a:latin typeface="Calibri" pitchFamily="34" charset="0"/>
                <a:ea typeface="Calibri" pitchFamily="34" charset="-122"/>
                <a:cs typeface="Calibri" pitchFamily="34" charset="-120"/>
              </a:rPr>
              <a:t>Growing brand communities and driving engagement through organic content and strategy.</a:t>
            </a:r>
            <a:endParaRPr lang="en-US" sz="1500" dirty="0"/>
          </a:p>
        </p:txBody>
      </p:sp>
      <p:sp>
        <p:nvSpPr>
          <p:cNvPr id="9" name="Text 7"/>
          <p:cNvSpPr txBox="1"/>
          <p:nvPr/>
        </p:nvSpPr>
        <p:spPr>
          <a:xfrm>
            <a:off x="914400" y="6172200"/>
            <a:ext cx="5486400" cy="274320"/>
          </a:xfrm>
          <a:prstGeom prst="rect">
            <a:avLst/>
          </a:prstGeom>
          <a:noFill/>
          <a:ln/>
        </p:spPr>
        <p:txBody>
          <a:bodyPr wrap="square" lIns="0" tIns="0" rIns="0" bIns="0" rtlCol="0" anchor="ctr"/>
          <a:lstStyle/>
          <a:p>
            <a:pPr algn="l" indent="0" marL="0">
              <a:buNone/>
            </a:pPr>
            <a:r>
              <a:rPr lang="en-US" sz="1050" b="1" spc="300" kern="0" dirty="0">
                <a:solidFill>
                  <a:srgbClr val="7C93AC"/>
                </a:solidFill>
                <a:latin typeface="Calibri" pitchFamily="34" charset="0"/>
                <a:ea typeface="Calibri" pitchFamily="34" charset="-122"/>
                <a:cs typeface="Calibri" pitchFamily="34" charset="-120"/>
              </a:rPr>
              <a:t>CROWN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ORGANIC GROWTH</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Building Social Presence</a:t>
            </a:r>
            <a:endParaRPr lang="en-US" sz="3400" dirty="0"/>
          </a:p>
        </p:txBody>
      </p:sp>
      <p:sp>
        <p:nvSpPr>
          <p:cNvPr id="5" name="Text 3"/>
          <p:cNvSpPr txBox="1"/>
          <p:nvPr/>
        </p:nvSpPr>
        <p:spPr>
          <a:xfrm>
            <a:off x="548640" y="2194560"/>
            <a:ext cx="4663440" cy="3108960"/>
          </a:xfrm>
          <a:prstGeom prst="rect">
            <a:avLst/>
          </a:prstGeom>
          <a:noFill/>
          <a:ln/>
        </p:spPr>
        <p:txBody>
          <a:bodyPr wrap="square" lIns="0" tIns="0" rIns="0" bIns="0" rtlCol="0" anchor="t"/>
          <a:lstStyle/>
          <a:p>
            <a:pPr algn="l" indent="0" marL="0">
              <a:lnSpc>
                <a:spcPct val="120000"/>
              </a:lnSpc>
              <a:buNone/>
            </a:pPr>
            <a:r>
              <a:rPr lang="en-US" sz="1600" dirty="0">
                <a:solidFill>
                  <a:srgbClr val="1B2A3A"/>
                </a:solidFill>
                <a:latin typeface="Calibri" pitchFamily="34" charset="0"/>
                <a:ea typeface="Calibri" pitchFamily="34" charset="-122"/>
                <a:cs typeface="Calibri" pitchFamily="34" charset="-120"/>
              </a:rPr>
              <a:t>By leveraging the full potential of social media marketing, we have increased brand visibility while facilitating meaningful interactions and customer engagement. Carefully crafted content and strategic ad placement have driven soaring reach, amplified conversions, and increased website traffic.</a:t>
            </a:r>
            <a:endParaRPr lang="en-US" sz="1600" dirty="0"/>
          </a:p>
        </p:txBody>
      </p:sp>
      <p:sp>
        <p:nvSpPr>
          <p:cNvPr id="6" name="Shape 4"/>
          <p:cNvSpPr/>
          <p:nvPr/>
        </p:nvSpPr>
        <p:spPr>
          <a:xfrm>
            <a:off x="566928" y="2084832"/>
            <a:ext cx="457200" cy="64008"/>
          </a:xfrm>
          <a:prstGeom prst="rect">
            <a:avLst/>
          </a:prstGeom>
          <a:solidFill>
            <a:srgbClr val="F5A623"/>
          </a:solidFill>
          <a:ln/>
        </p:spPr>
      </p:sp>
      <p:sp>
        <p:nvSpPr>
          <p:cNvPr id="7" name="Shape 5"/>
          <p:cNvSpPr/>
          <p:nvPr/>
        </p:nvSpPr>
        <p:spPr>
          <a:xfrm>
            <a:off x="5532120" y="2194560"/>
            <a:ext cx="3017520" cy="1874520"/>
          </a:xfrm>
          <a:prstGeom prst="roundRect">
            <a:avLst>
              <a:gd name="adj" fmla="val 536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8" name="Image 0" descr="img/b67c242382.png">    </p:cNvPr>
          <p:cNvPicPr>
            <a:picLocks noChangeAspect="1"/>
          </p:cNvPicPr>
          <p:nvPr/>
        </p:nvPicPr>
        <p:blipFill>
          <a:blip r:embed="rId1"/>
          <a:stretch>
            <a:fillRect/>
          </a:stretch>
        </p:blipFill>
        <p:spPr>
          <a:xfrm>
            <a:off x="5996947" y="2304288"/>
            <a:ext cx="2087865" cy="1655064"/>
          </a:xfrm>
          <a:prstGeom prst="rect">
            <a:avLst/>
          </a:prstGeom>
        </p:spPr>
      </p:pic>
      <p:sp>
        <p:nvSpPr>
          <p:cNvPr id="9" name="Shape 6"/>
          <p:cNvSpPr/>
          <p:nvPr/>
        </p:nvSpPr>
        <p:spPr>
          <a:xfrm>
            <a:off x="8686800" y="2194560"/>
            <a:ext cx="2926080" cy="1874520"/>
          </a:xfrm>
          <a:prstGeom prst="roundRect">
            <a:avLst>
              <a:gd name="adj" fmla="val 536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0" name="Image 1" descr="img/02de3a44b2.png">    </p:cNvPr>
          <p:cNvPicPr>
            <a:picLocks noChangeAspect="1"/>
          </p:cNvPicPr>
          <p:nvPr/>
        </p:nvPicPr>
        <p:blipFill>
          <a:blip r:embed="rId2"/>
          <a:stretch>
            <a:fillRect/>
          </a:stretch>
        </p:blipFill>
        <p:spPr>
          <a:xfrm>
            <a:off x="9119933" y="2304288"/>
            <a:ext cx="2059813" cy="1655064"/>
          </a:xfrm>
          <a:prstGeom prst="rect">
            <a:avLst/>
          </a:prstGeom>
        </p:spPr>
      </p:pic>
      <p:sp>
        <p:nvSpPr>
          <p:cNvPr id="11" name="Shape 7"/>
          <p:cNvSpPr/>
          <p:nvPr/>
        </p:nvSpPr>
        <p:spPr>
          <a:xfrm>
            <a:off x="5532120" y="4251960"/>
            <a:ext cx="6080760" cy="1737360"/>
          </a:xfrm>
          <a:prstGeom prst="roundRect">
            <a:avLst>
              <a:gd name="adj" fmla="val 5789"/>
            </a:avLst>
          </a:prstGeom>
          <a:solidFill>
            <a:srgbClr val="E8F1FB"/>
          </a:solidFill>
          <a:ln/>
          <a:effectLst>
            <a:outerShdw sx="100000" sy="100000" kx="0" ky="0" algn="bl" rotWithShape="0" blurRad="127000" dist="50800" dir="5400000">
              <a:srgbClr val="32506e">
                <a:alpha val="16000"/>
              </a:srgbClr>
            </a:outerShdw>
          </a:effectLst>
        </p:spPr>
      </p:sp>
      <p:sp>
        <p:nvSpPr>
          <p:cNvPr id="12" name="Text 8"/>
          <p:cNvSpPr txBox="1"/>
          <p:nvPr/>
        </p:nvSpPr>
        <p:spPr>
          <a:xfrm>
            <a:off x="5806440" y="4434840"/>
            <a:ext cx="5486400" cy="320040"/>
          </a:xfrm>
          <a:prstGeom prst="rect">
            <a:avLst/>
          </a:prstGeom>
          <a:noFill/>
          <a:ln/>
        </p:spPr>
        <p:txBody>
          <a:bodyPr wrap="square" lIns="0" tIns="0" rIns="0" bIns="0" rtlCol="0" anchor="ctr"/>
          <a:lstStyle/>
          <a:p>
            <a:pPr algn="l" indent="0" marL="0">
              <a:buNone/>
            </a:pPr>
            <a:r>
              <a:rPr lang="en-US" sz="1300" b="1" spc="150" kern="0" dirty="0">
                <a:solidFill>
                  <a:srgbClr val="1668B8"/>
                </a:solidFill>
                <a:latin typeface="Calibri" pitchFamily="34" charset="0"/>
                <a:ea typeface="Calibri" pitchFamily="34" charset="-122"/>
                <a:cs typeface="Calibri" pitchFamily="34" charset="-120"/>
              </a:rPr>
              <a:t>Highlights</a:t>
            </a:r>
            <a:endParaRPr lang="en-US" sz="1300" dirty="0"/>
          </a:p>
        </p:txBody>
      </p:sp>
      <p:sp>
        <p:nvSpPr>
          <p:cNvPr id="13" name="Text 9"/>
          <p:cNvSpPr txBox="1"/>
          <p:nvPr/>
        </p:nvSpPr>
        <p:spPr>
          <a:xfrm>
            <a:off x="5806440" y="4754880"/>
            <a:ext cx="5577840" cy="1097280"/>
          </a:xfrm>
          <a:prstGeom prst="rect">
            <a:avLst/>
          </a:prstGeom>
          <a:noFill/>
          <a:ln/>
        </p:spPr>
        <p:txBody>
          <a:bodyPr wrap="square" lIns="0" tIns="0" rIns="0" bIns="0" rtlCol="0" anchor="t"/>
          <a:lstStyle/>
          <a:p>
            <a:pPr algn="l" marL="203200" indent="-203200">
              <a:lnSpc>
                <a:spcPct val="102000"/>
              </a:lnSpc>
              <a:spcAft>
                <a:spcPts val="500"/>
              </a:spcAft>
              <a:buSzPct val="100000"/>
              <a:buChar char="•"/>
            </a:pPr>
            <a:r>
              <a:rPr lang="en-US" sz="1350" dirty="0">
                <a:solidFill>
                  <a:srgbClr val="1B2A3A"/>
                </a:solidFill>
                <a:latin typeface="Calibri" pitchFamily="34" charset="0"/>
                <a:ea typeface="Calibri" pitchFamily="34" charset="-122"/>
                <a:cs typeface="Calibri" pitchFamily="34" charset="-120"/>
              </a:rPr>
              <a:t>Full profile audits and content strategy</a:t>
            </a:r>
            <a:endParaRPr lang="en-US" sz="1350" dirty="0"/>
          </a:p>
          <a:p>
            <a:pPr algn="l" marL="203200" indent="-203200">
              <a:lnSpc>
                <a:spcPct val="102000"/>
              </a:lnSpc>
              <a:spcAft>
                <a:spcPts val="500"/>
              </a:spcAft>
              <a:buSzPct val="100000"/>
              <a:buChar char="•"/>
            </a:pPr>
            <a:r>
              <a:rPr lang="en-US" sz="1350" dirty="0">
                <a:solidFill>
                  <a:srgbClr val="1B2A3A"/>
                </a:solidFill>
                <a:latin typeface="Calibri" pitchFamily="34" charset="0"/>
                <a:ea typeface="Calibri" pitchFamily="34" charset="-122"/>
                <a:cs typeface="Calibri" pitchFamily="34" charset="-120"/>
              </a:rPr>
              <a:t>Community growth and engagement</a:t>
            </a:r>
            <a:endParaRPr lang="en-US" sz="1350" dirty="0"/>
          </a:p>
          <a:p>
            <a:pPr algn="l" marL="203200" indent="-203200">
              <a:lnSpc>
                <a:spcPct val="102000"/>
              </a:lnSpc>
              <a:spcAft>
                <a:spcPts val="500"/>
              </a:spcAft>
              <a:buSzPct val="100000"/>
              <a:buChar char="•"/>
            </a:pPr>
            <a:r>
              <a:rPr lang="en-US" sz="1350" dirty="0">
                <a:solidFill>
                  <a:srgbClr val="1B2A3A"/>
                </a:solidFill>
                <a:latin typeface="Calibri" pitchFamily="34" charset="0"/>
                <a:ea typeface="Calibri" pitchFamily="34" charset="-122"/>
                <a:cs typeface="Calibri" pitchFamily="34" charset="-120"/>
              </a:rPr>
              <a:t>Copywriting and reputation management</a:t>
            </a:r>
            <a:endParaRPr lang="en-US" sz="1350" dirty="0"/>
          </a:p>
        </p:txBody>
      </p:sp>
      <p:sp>
        <p:nvSpPr>
          <p:cNvPr id="14" name="Text 10"/>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5" name="Text 11"/>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CASE STUDY · FACEBOOK</a:t>
            </a:r>
            <a:endParaRPr lang="en-US" sz="1250" dirty="0"/>
          </a:p>
        </p:txBody>
      </p:sp>
      <p:sp>
        <p:nvSpPr>
          <p:cNvPr id="4" name="Text 2"/>
          <p:cNvSpPr txBox="1"/>
          <p:nvPr/>
        </p:nvSpPr>
        <p:spPr>
          <a:xfrm>
            <a:off x="548640" y="1170432"/>
            <a:ext cx="77724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7-Day Page Growth</a:t>
            </a:r>
            <a:endParaRPr lang="en-US" sz="3400" dirty="0"/>
          </a:p>
        </p:txBody>
      </p:sp>
      <p:sp>
        <p:nvSpPr>
          <p:cNvPr id="5" name="Text 3"/>
          <p:cNvSpPr txBox="1"/>
          <p:nvPr/>
        </p:nvSpPr>
        <p:spPr>
          <a:xfrm>
            <a:off x="548640" y="2029968"/>
            <a:ext cx="6400800" cy="45720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By managing a client's Facebook page we drove dramatic organic growth in a single week.</a:t>
            </a:r>
            <a:endParaRPr lang="en-US" sz="1400" dirty="0"/>
          </a:p>
        </p:txBody>
      </p:sp>
      <p:sp>
        <p:nvSpPr>
          <p:cNvPr id="6" name="Shape 4"/>
          <p:cNvSpPr/>
          <p:nvPr/>
        </p:nvSpPr>
        <p:spPr>
          <a:xfrm>
            <a:off x="548640" y="2697480"/>
            <a:ext cx="2880360" cy="1234440"/>
          </a:xfrm>
          <a:prstGeom prst="roundRect">
            <a:avLst>
              <a:gd name="adj" fmla="val 8148"/>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7" name="Text 5"/>
          <p:cNvSpPr txBox="1"/>
          <p:nvPr/>
        </p:nvSpPr>
        <p:spPr>
          <a:xfrm>
            <a:off x="777240" y="2862072"/>
            <a:ext cx="2468880" cy="566928"/>
          </a:xfrm>
          <a:prstGeom prst="rect">
            <a:avLst/>
          </a:prstGeom>
          <a:noFill/>
          <a:ln/>
        </p:spPr>
        <p:txBody>
          <a:bodyPr wrap="square" lIns="0" tIns="0" rIns="0" bIns="0" rtlCol="0" anchor="ctr"/>
          <a:lstStyle/>
          <a:p>
            <a:pPr algn="l" indent="0" marL="0">
              <a:buNone/>
            </a:pPr>
            <a:r>
              <a:rPr lang="en-US" sz="3000" b="1" dirty="0">
                <a:solidFill>
                  <a:srgbClr val="1668B8"/>
                </a:solidFill>
                <a:latin typeface="Calibri" pitchFamily="34" charset="0"/>
                <a:ea typeface="Calibri" pitchFamily="34" charset="-122"/>
                <a:cs typeface="Calibri" pitchFamily="34" charset="-120"/>
              </a:rPr>
              <a:t>+1,107%</a:t>
            </a:r>
            <a:endParaRPr lang="en-US" sz="3000" dirty="0"/>
          </a:p>
        </p:txBody>
      </p:sp>
      <p:sp>
        <p:nvSpPr>
          <p:cNvPr id="8" name="Text 6"/>
          <p:cNvSpPr txBox="1"/>
          <p:nvPr/>
        </p:nvSpPr>
        <p:spPr>
          <a:xfrm>
            <a:off x="795528" y="3447288"/>
            <a:ext cx="2468880" cy="320040"/>
          </a:xfrm>
          <a:prstGeom prst="rect">
            <a:avLst/>
          </a:prstGeom>
          <a:noFill/>
          <a:ln/>
        </p:spPr>
        <p:txBody>
          <a:bodyPr wrap="square" lIns="0" tIns="0" rIns="0" bIns="0" rtlCol="0" anchor="ctr"/>
          <a:lstStyle/>
          <a:p>
            <a:pPr algn="l" indent="0" marL="0">
              <a:buNone/>
            </a:pPr>
            <a:r>
              <a:rPr lang="en-US" sz="1100" b="1" spc="100" kern="0" dirty="0">
                <a:solidFill>
                  <a:srgbClr val="5F7183"/>
                </a:solidFill>
                <a:latin typeface="Calibri" pitchFamily="34" charset="0"/>
                <a:ea typeface="Calibri" pitchFamily="34" charset="-122"/>
                <a:cs typeface="Calibri" pitchFamily="34" charset="-120"/>
              </a:rPr>
              <a:t>PAGE LIKES</a:t>
            </a:r>
            <a:endParaRPr lang="en-US" sz="1100" dirty="0"/>
          </a:p>
        </p:txBody>
      </p:sp>
      <p:sp>
        <p:nvSpPr>
          <p:cNvPr id="9" name="Shape 7"/>
          <p:cNvSpPr/>
          <p:nvPr/>
        </p:nvSpPr>
        <p:spPr>
          <a:xfrm>
            <a:off x="3611880" y="2697480"/>
            <a:ext cx="2880360" cy="1234440"/>
          </a:xfrm>
          <a:prstGeom prst="roundRect">
            <a:avLst>
              <a:gd name="adj" fmla="val 8148"/>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0" name="Text 8"/>
          <p:cNvSpPr txBox="1"/>
          <p:nvPr/>
        </p:nvSpPr>
        <p:spPr>
          <a:xfrm>
            <a:off x="3840480" y="2862072"/>
            <a:ext cx="2468880" cy="566928"/>
          </a:xfrm>
          <a:prstGeom prst="rect">
            <a:avLst/>
          </a:prstGeom>
          <a:noFill/>
          <a:ln/>
        </p:spPr>
        <p:txBody>
          <a:bodyPr wrap="square" lIns="0" tIns="0" rIns="0" bIns="0" rtlCol="0" anchor="ctr"/>
          <a:lstStyle/>
          <a:p>
            <a:pPr algn="l" indent="0" marL="0">
              <a:buNone/>
            </a:pPr>
            <a:r>
              <a:rPr lang="en-US" sz="3000" b="1" dirty="0">
                <a:solidFill>
                  <a:srgbClr val="1668B8"/>
                </a:solidFill>
                <a:latin typeface="Calibri" pitchFamily="34" charset="0"/>
                <a:ea typeface="Calibri" pitchFamily="34" charset="-122"/>
                <a:cs typeface="Calibri" pitchFamily="34" charset="-120"/>
              </a:rPr>
              <a:t>+1,250%</a:t>
            </a:r>
            <a:endParaRPr lang="en-US" sz="3000" dirty="0"/>
          </a:p>
        </p:txBody>
      </p:sp>
      <p:sp>
        <p:nvSpPr>
          <p:cNvPr id="11" name="Text 9"/>
          <p:cNvSpPr txBox="1"/>
          <p:nvPr/>
        </p:nvSpPr>
        <p:spPr>
          <a:xfrm>
            <a:off x="3858768" y="3447288"/>
            <a:ext cx="2468880" cy="320040"/>
          </a:xfrm>
          <a:prstGeom prst="rect">
            <a:avLst/>
          </a:prstGeom>
          <a:noFill/>
          <a:ln/>
        </p:spPr>
        <p:txBody>
          <a:bodyPr wrap="square" lIns="0" tIns="0" rIns="0" bIns="0" rtlCol="0" anchor="ctr"/>
          <a:lstStyle/>
          <a:p>
            <a:pPr algn="l" indent="0" marL="0">
              <a:buNone/>
            </a:pPr>
            <a:r>
              <a:rPr lang="en-US" sz="1100" b="1" spc="100" kern="0" dirty="0">
                <a:solidFill>
                  <a:srgbClr val="5F7183"/>
                </a:solidFill>
                <a:latin typeface="Calibri" pitchFamily="34" charset="0"/>
                <a:ea typeface="Calibri" pitchFamily="34" charset="-122"/>
                <a:cs typeface="Calibri" pitchFamily="34" charset="-120"/>
              </a:rPr>
              <a:t>POST REACH</a:t>
            </a:r>
            <a:endParaRPr lang="en-US" sz="1100" dirty="0"/>
          </a:p>
        </p:txBody>
      </p:sp>
      <p:sp>
        <p:nvSpPr>
          <p:cNvPr id="12" name="Shape 10"/>
          <p:cNvSpPr/>
          <p:nvPr/>
        </p:nvSpPr>
        <p:spPr>
          <a:xfrm>
            <a:off x="548640" y="4114800"/>
            <a:ext cx="2880360" cy="1234440"/>
          </a:xfrm>
          <a:prstGeom prst="roundRect">
            <a:avLst>
              <a:gd name="adj" fmla="val 8148"/>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3" name="Text 11"/>
          <p:cNvSpPr txBox="1"/>
          <p:nvPr/>
        </p:nvSpPr>
        <p:spPr>
          <a:xfrm>
            <a:off x="777240" y="4279392"/>
            <a:ext cx="2468880" cy="566928"/>
          </a:xfrm>
          <a:prstGeom prst="rect">
            <a:avLst/>
          </a:prstGeom>
          <a:noFill/>
          <a:ln/>
        </p:spPr>
        <p:txBody>
          <a:bodyPr wrap="square" lIns="0" tIns="0" rIns="0" bIns="0" rtlCol="0" anchor="ctr"/>
          <a:lstStyle/>
          <a:p>
            <a:pPr algn="l" indent="0" marL="0">
              <a:buNone/>
            </a:pPr>
            <a:r>
              <a:rPr lang="en-US" sz="3000" b="1" dirty="0">
                <a:solidFill>
                  <a:srgbClr val="1668B8"/>
                </a:solidFill>
                <a:latin typeface="Calibri" pitchFamily="34" charset="0"/>
                <a:ea typeface="Calibri" pitchFamily="34" charset="-122"/>
                <a:cs typeface="Calibri" pitchFamily="34" charset="-120"/>
              </a:rPr>
              <a:t>+397%</a:t>
            </a:r>
            <a:endParaRPr lang="en-US" sz="3000" dirty="0"/>
          </a:p>
        </p:txBody>
      </p:sp>
      <p:sp>
        <p:nvSpPr>
          <p:cNvPr id="14" name="Text 12"/>
          <p:cNvSpPr txBox="1"/>
          <p:nvPr/>
        </p:nvSpPr>
        <p:spPr>
          <a:xfrm>
            <a:off x="795528" y="4864608"/>
            <a:ext cx="2468880" cy="320040"/>
          </a:xfrm>
          <a:prstGeom prst="rect">
            <a:avLst/>
          </a:prstGeom>
          <a:noFill/>
          <a:ln/>
        </p:spPr>
        <p:txBody>
          <a:bodyPr wrap="square" lIns="0" tIns="0" rIns="0" bIns="0" rtlCol="0" anchor="ctr"/>
          <a:lstStyle/>
          <a:p>
            <a:pPr algn="l" indent="0" marL="0">
              <a:buNone/>
            </a:pPr>
            <a:r>
              <a:rPr lang="en-US" sz="1100" b="1" spc="100" kern="0" dirty="0">
                <a:solidFill>
                  <a:srgbClr val="5F7183"/>
                </a:solidFill>
                <a:latin typeface="Calibri" pitchFamily="34" charset="0"/>
                <a:ea typeface="Calibri" pitchFamily="34" charset="-122"/>
                <a:cs typeface="Calibri" pitchFamily="34" charset="-120"/>
              </a:rPr>
              <a:t>PAGE VIEWS</a:t>
            </a:r>
            <a:endParaRPr lang="en-US" sz="1100" dirty="0"/>
          </a:p>
        </p:txBody>
      </p:sp>
      <p:sp>
        <p:nvSpPr>
          <p:cNvPr id="15" name="Shape 13"/>
          <p:cNvSpPr/>
          <p:nvPr/>
        </p:nvSpPr>
        <p:spPr>
          <a:xfrm>
            <a:off x="3611880" y="4114800"/>
            <a:ext cx="2880360" cy="1234440"/>
          </a:xfrm>
          <a:prstGeom prst="roundRect">
            <a:avLst>
              <a:gd name="adj" fmla="val 8148"/>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6" name="Text 14"/>
          <p:cNvSpPr txBox="1"/>
          <p:nvPr/>
        </p:nvSpPr>
        <p:spPr>
          <a:xfrm>
            <a:off x="3840480" y="4279392"/>
            <a:ext cx="2468880" cy="566928"/>
          </a:xfrm>
          <a:prstGeom prst="rect">
            <a:avLst/>
          </a:prstGeom>
          <a:noFill/>
          <a:ln/>
        </p:spPr>
        <p:txBody>
          <a:bodyPr wrap="square" lIns="0" tIns="0" rIns="0" bIns="0" rtlCol="0" anchor="ctr"/>
          <a:lstStyle/>
          <a:p>
            <a:pPr algn="l" indent="0" marL="0">
              <a:buNone/>
            </a:pPr>
            <a:r>
              <a:rPr lang="en-US" sz="3000" b="1" dirty="0">
                <a:solidFill>
                  <a:srgbClr val="1668B8"/>
                </a:solidFill>
                <a:latin typeface="Calibri" pitchFamily="34" charset="0"/>
                <a:ea typeface="Calibri" pitchFamily="34" charset="-122"/>
                <a:cs typeface="Calibri" pitchFamily="34" charset="-120"/>
              </a:rPr>
              <a:t>+392%</a:t>
            </a:r>
            <a:endParaRPr lang="en-US" sz="3000" dirty="0"/>
          </a:p>
        </p:txBody>
      </p:sp>
      <p:sp>
        <p:nvSpPr>
          <p:cNvPr id="17" name="Text 15"/>
          <p:cNvSpPr txBox="1"/>
          <p:nvPr/>
        </p:nvSpPr>
        <p:spPr>
          <a:xfrm>
            <a:off x="3858768" y="4864608"/>
            <a:ext cx="2468880" cy="320040"/>
          </a:xfrm>
          <a:prstGeom prst="rect">
            <a:avLst/>
          </a:prstGeom>
          <a:noFill/>
          <a:ln/>
        </p:spPr>
        <p:txBody>
          <a:bodyPr wrap="square" lIns="0" tIns="0" rIns="0" bIns="0" rtlCol="0" anchor="ctr"/>
          <a:lstStyle/>
          <a:p>
            <a:pPr algn="l" indent="0" marL="0">
              <a:buNone/>
            </a:pPr>
            <a:r>
              <a:rPr lang="en-US" sz="1100" b="1" spc="100" kern="0" dirty="0">
                <a:solidFill>
                  <a:srgbClr val="5F7183"/>
                </a:solidFill>
                <a:latin typeface="Calibri" pitchFamily="34" charset="0"/>
                <a:ea typeface="Calibri" pitchFamily="34" charset="-122"/>
                <a:cs typeface="Calibri" pitchFamily="34" charset="-120"/>
              </a:rPr>
              <a:t>POST ENGAGEMENT</a:t>
            </a:r>
            <a:endParaRPr lang="en-US" sz="1100" dirty="0"/>
          </a:p>
        </p:txBody>
      </p:sp>
      <p:sp>
        <p:nvSpPr>
          <p:cNvPr id="18" name="Text 16"/>
          <p:cNvSpPr txBox="1"/>
          <p:nvPr/>
        </p:nvSpPr>
        <p:spPr>
          <a:xfrm>
            <a:off x="548640" y="5623560"/>
            <a:ext cx="6400800" cy="457200"/>
          </a:xfrm>
          <a:prstGeom prst="rect">
            <a:avLst/>
          </a:prstGeom>
          <a:noFill/>
          <a:ln/>
        </p:spPr>
        <p:txBody>
          <a:bodyPr wrap="square" lIns="0" tIns="0" rIns="0" bIns="0" rtlCol="0" anchor="ctr"/>
          <a:lstStyle/>
          <a:p>
            <a:pPr algn="l" indent="0" marL="0">
              <a:buNone/>
            </a:pPr>
            <a:r>
              <a:rPr lang="en-US" sz="1800" b="1" dirty="0">
                <a:solidFill>
                  <a:srgbClr val="F5A623"/>
                </a:solidFill>
                <a:latin typeface="Calibri" pitchFamily="34" charset="0"/>
                <a:ea typeface="Calibri" pitchFamily="34" charset="-122"/>
                <a:cs typeface="Calibri" pitchFamily="34" charset="-120"/>
              </a:rPr>
              <a:t>169 </a:t>
            </a:r>
            <a:pPr algn="l" indent="0" marL="0">
              <a:buNone/>
            </a:pPr>
            <a:r>
              <a:rPr lang="en-US" sz="1400" dirty="0">
                <a:solidFill>
                  <a:srgbClr val="1B2A3A"/>
                </a:solidFill>
                <a:latin typeface="Calibri" pitchFamily="34" charset="0"/>
                <a:ea typeface="Calibri" pitchFamily="34" charset="-122"/>
                <a:cs typeface="Calibri" pitchFamily="34" charset="-120"/>
              </a:rPr>
              <a:t>new page likes &amp; followers gained in just 7 days</a:t>
            </a:r>
            <a:endParaRPr lang="en-US" sz="1800" dirty="0"/>
          </a:p>
        </p:txBody>
      </p:sp>
      <p:sp>
        <p:nvSpPr>
          <p:cNvPr id="19" name="Shape 17"/>
          <p:cNvSpPr/>
          <p:nvPr/>
        </p:nvSpPr>
        <p:spPr>
          <a:xfrm>
            <a:off x="7086600" y="2148840"/>
            <a:ext cx="4526280" cy="3931920"/>
          </a:xfrm>
          <a:prstGeom prst="roundRect">
            <a:avLst>
              <a:gd name="adj" fmla="val 2558"/>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0" name="Image 0" descr="img/646ed10d85.png">    </p:cNvPr>
          <p:cNvPicPr>
            <a:picLocks noChangeAspect="1"/>
          </p:cNvPicPr>
          <p:nvPr/>
        </p:nvPicPr>
        <p:blipFill>
          <a:blip r:embed="rId1"/>
          <a:stretch>
            <a:fillRect/>
          </a:stretch>
        </p:blipFill>
        <p:spPr>
          <a:xfrm>
            <a:off x="7709205" y="2276856"/>
            <a:ext cx="3281070" cy="3675888"/>
          </a:xfrm>
          <a:prstGeom prst="rect">
            <a:avLst/>
          </a:prstGeom>
        </p:spPr>
      </p:pic>
      <p:sp>
        <p:nvSpPr>
          <p:cNvPr id="21" name="Text 18"/>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2" name="Text 19"/>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ANALYTICS · FACEBOOK</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Facebook Page Insights</a:t>
            </a:r>
            <a:endParaRPr lang="en-US" sz="3400" dirty="0"/>
          </a:p>
        </p:txBody>
      </p:sp>
      <p:sp>
        <p:nvSpPr>
          <p:cNvPr id="5" name="Text 3"/>
          <p:cNvSpPr txBox="1"/>
          <p:nvPr/>
        </p:nvSpPr>
        <p:spPr>
          <a:xfrm>
            <a:off x="548640" y="2011680"/>
            <a:ext cx="7315200" cy="36576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Page performance from 1 Sep 2020 – 8 April 2022.</a:t>
            </a:r>
            <a:endParaRPr lang="en-US" sz="1400" dirty="0"/>
          </a:p>
        </p:txBody>
      </p:sp>
      <p:sp>
        <p:nvSpPr>
          <p:cNvPr id="6" name="Shape 4"/>
          <p:cNvSpPr/>
          <p:nvPr/>
        </p:nvSpPr>
        <p:spPr>
          <a:xfrm>
            <a:off x="2196828" y="2514600"/>
            <a:ext cx="7798039" cy="3858768"/>
          </a:xfrm>
          <a:prstGeom prst="roundRect">
            <a:avLst>
              <a:gd name="adj" fmla="val 260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9f9f128fd5.png">    </p:cNvPr>
          <p:cNvPicPr>
            <a:picLocks noChangeAspect="1"/>
          </p:cNvPicPr>
          <p:nvPr/>
        </p:nvPicPr>
        <p:blipFill>
          <a:blip r:embed="rId1"/>
          <a:stretch>
            <a:fillRect/>
          </a:stretch>
        </p:blipFill>
        <p:spPr>
          <a:xfrm>
            <a:off x="2343132" y="2660904"/>
            <a:ext cx="7505431" cy="3566160"/>
          </a:xfrm>
          <a:prstGeom prst="rect">
            <a:avLst/>
          </a:prstGeom>
        </p:spPr>
      </p:pic>
      <p:sp>
        <p:nvSpPr>
          <p:cNvPr id="8" name="Text 5"/>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9" name="Text 6"/>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ANALYTICS · LINKEDIN</a:t>
            </a:r>
            <a:endParaRPr lang="en-US" sz="1250" dirty="0"/>
          </a:p>
        </p:txBody>
      </p:sp>
      <p:sp>
        <p:nvSpPr>
          <p:cNvPr id="4" name="Text 2"/>
          <p:cNvSpPr txBox="1"/>
          <p:nvPr/>
        </p:nvSpPr>
        <p:spPr>
          <a:xfrm>
            <a:off x="548640" y="1170432"/>
            <a:ext cx="841248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LinkedIn Organic Growth</a:t>
            </a:r>
            <a:endParaRPr lang="en-US" sz="3400" dirty="0"/>
          </a:p>
        </p:txBody>
      </p:sp>
      <p:sp>
        <p:nvSpPr>
          <p:cNvPr id="5" name="Text 3"/>
          <p:cNvSpPr txBox="1"/>
          <p:nvPr/>
        </p:nvSpPr>
        <p:spPr>
          <a:xfrm>
            <a:off x="548640" y="2011680"/>
            <a:ext cx="8229600" cy="36576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Purely organic marketing traffic from 1 Sep 2020 – 8 April 2022.</a:t>
            </a:r>
            <a:endParaRPr lang="en-US" sz="1400" dirty="0"/>
          </a:p>
        </p:txBody>
      </p:sp>
      <p:sp>
        <p:nvSpPr>
          <p:cNvPr id="6" name="Shape 4"/>
          <p:cNvSpPr/>
          <p:nvPr/>
        </p:nvSpPr>
        <p:spPr>
          <a:xfrm>
            <a:off x="2273744" y="2514600"/>
            <a:ext cx="7644206" cy="3858768"/>
          </a:xfrm>
          <a:prstGeom prst="roundRect">
            <a:avLst>
              <a:gd name="adj" fmla="val 260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981d564121.png">    </p:cNvPr>
          <p:cNvPicPr>
            <a:picLocks noChangeAspect="1"/>
          </p:cNvPicPr>
          <p:nvPr/>
        </p:nvPicPr>
        <p:blipFill>
          <a:blip r:embed="rId1"/>
          <a:stretch>
            <a:fillRect/>
          </a:stretch>
        </p:blipFill>
        <p:spPr>
          <a:xfrm>
            <a:off x="2420048" y="2660904"/>
            <a:ext cx="7351598" cy="3566160"/>
          </a:xfrm>
          <a:prstGeom prst="rect">
            <a:avLst/>
          </a:prstGeom>
        </p:spPr>
      </p:pic>
      <p:sp>
        <p:nvSpPr>
          <p:cNvPr id="8" name="Text 5"/>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9" name="Text 6"/>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ANALYTICS · LINKEDIN</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Organic Insight — April 2021</a:t>
            </a:r>
            <a:endParaRPr lang="en-US" sz="3400" dirty="0"/>
          </a:p>
        </p:txBody>
      </p:sp>
      <p:sp>
        <p:nvSpPr>
          <p:cNvPr id="5" name="Text 3"/>
          <p:cNvSpPr txBox="1"/>
          <p:nvPr/>
        </p:nvSpPr>
        <p:spPr>
          <a:xfrm>
            <a:off x="548640" y="2011680"/>
            <a:ext cx="9144000"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Calibri" pitchFamily="34" charset="0"/>
                <a:ea typeface="Calibri" pitchFamily="34" charset="-122"/>
                <a:cs typeface="Calibri" pitchFamily="34" charset="-120"/>
              </a:rPr>
              <a:t>+100 </a:t>
            </a:r>
            <a:pPr algn="l" indent="0" marL="0">
              <a:buNone/>
            </a:pPr>
            <a:r>
              <a:rPr lang="en-US" sz="1400" dirty="0">
                <a:solidFill>
                  <a:srgbClr val="5F7183"/>
                </a:solidFill>
                <a:latin typeface="Calibri" pitchFamily="34" charset="0"/>
                <a:ea typeface="Calibri" pitchFamily="34" charset="-122"/>
                <a:cs typeface="Calibri" pitchFamily="34" charset="-120"/>
              </a:rPr>
              <a:t>organic followers gained on the LinkedIn page in April 2021.</a:t>
            </a:r>
            <a:endParaRPr lang="en-US" sz="1400" dirty="0"/>
          </a:p>
        </p:txBody>
      </p:sp>
      <p:sp>
        <p:nvSpPr>
          <p:cNvPr id="6" name="Shape 4"/>
          <p:cNvSpPr/>
          <p:nvPr/>
        </p:nvSpPr>
        <p:spPr>
          <a:xfrm>
            <a:off x="2312672" y="2514600"/>
            <a:ext cx="7566351" cy="3858768"/>
          </a:xfrm>
          <a:prstGeom prst="roundRect">
            <a:avLst>
              <a:gd name="adj" fmla="val 260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0ec7f92eae.png">    </p:cNvPr>
          <p:cNvPicPr>
            <a:picLocks noChangeAspect="1"/>
          </p:cNvPicPr>
          <p:nvPr/>
        </p:nvPicPr>
        <p:blipFill>
          <a:blip r:embed="rId1"/>
          <a:stretch>
            <a:fillRect/>
          </a:stretch>
        </p:blipFill>
        <p:spPr>
          <a:xfrm>
            <a:off x="2458976" y="2660904"/>
            <a:ext cx="7273743" cy="3566160"/>
          </a:xfrm>
          <a:prstGeom prst="rect">
            <a:avLst/>
          </a:prstGeom>
        </p:spPr>
      </p:pic>
      <p:sp>
        <p:nvSpPr>
          <p:cNvPr id="8" name="Text 5"/>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9" name="Text 6"/>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ANALYTICS · LINKEDIN</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Organic Insight — March 2022</a:t>
            </a:r>
            <a:endParaRPr lang="en-US" sz="3400" dirty="0"/>
          </a:p>
        </p:txBody>
      </p:sp>
      <p:sp>
        <p:nvSpPr>
          <p:cNvPr id="5" name="Text 3"/>
          <p:cNvSpPr txBox="1"/>
          <p:nvPr/>
        </p:nvSpPr>
        <p:spPr>
          <a:xfrm>
            <a:off x="548640" y="2011680"/>
            <a:ext cx="9601200"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Calibri" pitchFamily="34" charset="0"/>
                <a:ea typeface="Calibri" pitchFamily="34" charset="-122"/>
                <a:cs typeface="Calibri" pitchFamily="34" charset="-120"/>
              </a:rPr>
              <a:t>+1,915 </a:t>
            </a:r>
            <a:pPr algn="l" indent="0" marL="0">
              <a:buNone/>
            </a:pPr>
            <a:r>
              <a:rPr lang="en-US" sz="1400" dirty="0">
                <a:solidFill>
                  <a:srgbClr val="5F7183"/>
                </a:solidFill>
                <a:latin typeface="Calibri" pitchFamily="34" charset="0"/>
                <a:ea typeface="Calibri" pitchFamily="34" charset="-122"/>
                <a:cs typeface="Calibri" pitchFamily="34" charset="-120"/>
              </a:rPr>
              <a:t>organic followers in March 2022 — 15% higher than the previous month.</a:t>
            </a:r>
            <a:endParaRPr lang="en-US" sz="1400" dirty="0"/>
          </a:p>
        </p:txBody>
      </p:sp>
      <p:sp>
        <p:nvSpPr>
          <p:cNvPr id="6" name="Shape 4"/>
          <p:cNvSpPr/>
          <p:nvPr/>
        </p:nvSpPr>
        <p:spPr>
          <a:xfrm>
            <a:off x="2277705" y="2514600"/>
            <a:ext cx="7636284" cy="3858768"/>
          </a:xfrm>
          <a:prstGeom prst="roundRect">
            <a:avLst>
              <a:gd name="adj" fmla="val 260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9aa42d97c9.png">    </p:cNvPr>
          <p:cNvPicPr>
            <a:picLocks noChangeAspect="1"/>
          </p:cNvPicPr>
          <p:nvPr/>
        </p:nvPicPr>
        <p:blipFill>
          <a:blip r:embed="rId1"/>
          <a:stretch>
            <a:fillRect/>
          </a:stretch>
        </p:blipFill>
        <p:spPr>
          <a:xfrm>
            <a:off x="2424009" y="2660904"/>
            <a:ext cx="7343676" cy="3566160"/>
          </a:xfrm>
          <a:prstGeom prst="rect">
            <a:avLst/>
          </a:prstGeom>
        </p:spPr>
      </p:pic>
      <p:sp>
        <p:nvSpPr>
          <p:cNvPr id="8" name="Text 5"/>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9" name="Text 6"/>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RESULTS</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Turning Pages into Communities</a:t>
            </a:r>
            <a:endParaRPr lang="en-US" sz="3400" dirty="0"/>
          </a:p>
        </p:txBody>
      </p:sp>
      <p:sp>
        <p:nvSpPr>
          <p:cNvPr id="5" name="Text 3"/>
          <p:cNvSpPr txBox="1"/>
          <p:nvPr/>
        </p:nvSpPr>
        <p:spPr>
          <a:xfrm>
            <a:off x="548640" y="2148840"/>
            <a:ext cx="4297680" cy="3200400"/>
          </a:xfrm>
          <a:prstGeom prst="rect">
            <a:avLst/>
          </a:prstGeom>
          <a:noFill/>
          <a:ln/>
        </p:spPr>
        <p:txBody>
          <a:bodyPr wrap="square" lIns="0" tIns="0" rIns="0" bIns="0" rtlCol="0" anchor="t"/>
          <a:lstStyle/>
          <a:p>
            <a:pPr algn="l" indent="0" marL="0">
              <a:lnSpc>
                <a:spcPct val="118000"/>
              </a:lnSpc>
              <a:buNone/>
            </a:pPr>
            <a:r>
              <a:rPr lang="en-US" sz="1550" dirty="0">
                <a:solidFill>
                  <a:srgbClr val="1B2A3A"/>
                </a:solidFill>
                <a:latin typeface="Calibri" pitchFamily="34" charset="0"/>
                <a:ea typeface="Calibri" pitchFamily="34" charset="-122"/>
                <a:cs typeface="Calibri" pitchFamily="34" charset="-120"/>
              </a:rPr>
              <a:t>Through strategic and consistent social media marketing, page likes and followers have grown remarkably — transforming each brand's online presence into a thriving community of loyal supporters.</a:t>
            </a:r>
            <a:endParaRPr lang="en-US" sz="1550" dirty="0"/>
          </a:p>
        </p:txBody>
      </p:sp>
      <p:sp>
        <p:nvSpPr>
          <p:cNvPr id="6" name="Shape 4"/>
          <p:cNvSpPr/>
          <p:nvPr/>
        </p:nvSpPr>
        <p:spPr>
          <a:xfrm>
            <a:off x="566928" y="2039112"/>
            <a:ext cx="457200" cy="64008"/>
          </a:xfrm>
          <a:prstGeom prst="rect">
            <a:avLst/>
          </a:prstGeom>
          <a:solidFill>
            <a:srgbClr val="F5A623"/>
          </a:solidFill>
          <a:ln/>
        </p:spPr>
      </p:sp>
      <p:sp>
        <p:nvSpPr>
          <p:cNvPr id="7" name="Shape 5"/>
          <p:cNvSpPr/>
          <p:nvPr/>
        </p:nvSpPr>
        <p:spPr>
          <a:xfrm>
            <a:off x="5166360" y="2148840"/>
            <a:ext cx="3154680" cy="2148840"/>
          </a:xfrm>
          <a:prstGeom prst="roundRect">
            <a:avLst>
              <a:gd name="adj" fmla="val 468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8" name="Image 0" descr="img/5b906f51e6.png">    </p:cNvPr>
          <p:cNvPicPr>
            <a:picLocks noChangeAspect="1"/>
          </p:cNvPicPr>
          <p:nvPr/>
        </p:nvPicPr>
        <p:blipFill>
          <a:blip r:embed="rId1"/>
          <a:stretch>
            <a:fillRect/>
          </a:stretch>
        </p:blipFill>
        <p:spPr>
          <a:xfrm>
            <a:off x="5560499" y="2258568"/>
            <a:ext cx="2366401" cy="1929384"/>
          </a:xfrm>
          <a:prstGeom prst="rect">
            <a:avLst/>
          </a:prstGeom>
        </p:spPr>
      </p:pic>
      <p:sp>
        <p:nvSpPr>
          <p:cNvPr id="9" name="Shape 6"/>
          <p:cNvSpPr/>
          <p:nvPr/>
        </p:nvSpPr>
        <p:spPr>
          <a:xfrm>
            <a:off x="8458200" y="2148840"/>
            <a:ext cx="3154680" cy="2148840"/>
          </a:xfrm>
          <a:prstGeom prst="roundRect">
            <a:avLst>
              <a:gd name="adj" fmla="val 468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0" name="Image 1" descr="img/54de787e58.png">    </p:cNvPr>
          <p:cNvPicPr>
            <a:picLocks noChangeAspect="1"/>
          </p:cNvPicPr>
          <p:nvPr/>
        </p:nvPicPr>
        <p:blipFill>
          <a:blip r:embed="rId2"/>
          <a:stretch>
            <a:fillRect/>
          </a:stretch>
        </p:blipFill>
        <p:spPr>
          <a:xfrm>
            <a:off x="8827923" y="2258568"/>
            <a:ext cx="2415234" cy="1929384"/>
          </a:xfrm>
          <a:prstGeom prst="rect">
            <a:avLst/>
          </a:prstGeom>
        </p:spPr>
      </p:pic>
      <p:sp>
        <p:nvSpPr>
          <p:cNvPr id="11" name="Shape 7"/>
          <p:cNvSpPr/>
          <p:nvPr/>
        </p:nvSpPr>
        <p:spPr>
          <a:xfrm>
            <a:off x="5166360" y="4434840"/>
            <a:ext cx="6446520" cy="1600200"/>
          </a:xfrm>
          <a:prstGeom prst="roundRect">
            <a:avLst>
              <a:gd name="adj" fmla="val 628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2" name="Image 2" descr="img/47fbb062dd.png">    </p:cNvPr>
          <p:cNvPicPr>
            <a:picLocks noChangeAspect="1"/>
          </p:cNvPicPr>
          <p:nvPr/>
        </p:nvPicPr>
        <p:blipFill>
          <a:blip r:embed="rId3"/>
          <a:stretch>
            <a:fillRect/>
          </a:stretch>
        </p:blipFill>
        <p:spPr>
          <a:xfrm>
            <a:off x="7765476" y="4544568"/>
            <a:ext cx="1248289" cy="1380744"/>
          </a:xfrm>
          <a:prstGeom prst="rect">
            <a:avLst/>
          </a:prstGeom>
        </p:spPr>
      </p:pic>
      <p:sp>
        <p:nvSpPr>
          <p:cNvPr id="13" name="Text 8"/>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4" name="Text 9"/>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412480" y="3108960"/>
            <a:ext cx="5669280" cy="5669280"/>
          </a:xfrm>
          <a:prstGeom prst="ellipse">
            <a:avLst/>
          </a:prstGeom>
          <a:solidFill>
            <a:srgbClr val="163A5F"/>
          </a:solidFill>
          <a:ln/>
        </p:spPr>
      </p:sp>
      <p:sp>
        <p:nvSpPr>
          <p:cNvPr id="3" name="Shape 1"/>
          <p:cNvSpPr/>
          <p:nvPr/>
        </p:nvSpPr>
        <p:spPr>
          <a:xfrm>
            <a:off x="-2011680" y="-2194560"/>
            <a:ext cx="4206240" cy="4206240"/>
          </a:xfrm>
          <a:prstGeom prst="ellipse">
            <a:avLst/>
          </a:prstGeom>
          <a:solidFill>
            <a:srgbClr val="163A5F"/>
          </a:solidFill>
          <a:ln/>
        </p:spPr>
      </p:sp>
      <p:sp>
        <p:nvSpPr>
          <p:cNvPr id="4" name="Text 2"/>
          <p:cNvSpPr txBox="1"/>
          <p:nvPr/>
        </p:nvSpPr>
        <p:spPr>
          <a:xfrm>
            <a:off x="7315200" y="182880"/>
            <a:ext cx="4754880" cy="6492240"/>
          </a:xfrm>
          <a:prstGeom prst="rect">
            <a:avLst/>
          </a:prstGeom>
          <a:noFill/>
          <a:ln/>
        </p:spPr>
        <p:txBody>
          <a:bodyPr wrap="square" lIns="0" tIns="0" rIns="0" bIns="0" rtlCol="0" anchor="ctr"/>
          <a:lstStyle/>
          <a:p>
            <a:pPr algn="r" indent="0" marL="0">
              <a:buNone/>
            </a:pPr>
            <a:r>
              <a:rPr lang="en-US" sz="34000" b="1" dirty="0">
                <a:solidFill>
                  <a:srgbClr val="163A5F"/>
                </a:solidFill>
                <a:latin typeface="Calibri" pitchFamily="34" charset="0"/>
                <a:ea typeface="Calibri" pitchFamily="34" charset="-122"/>
                <a:cs typeface="Calibri" pitchFamily="34" charset="-120"/>
              </a:rPr>
              <a:t>02</a:t>
            </a:r>
            <a:endParaRPr lang="en-US" sz="34000" dirty="0"/>
          </a:p>
        </p:txBody>
      </p:sp>
      <p:sp>
        <p:nvSpPr>
          <p:cNvPr id="5" name="Shape 3"/>
          <p:cNvSpPr/>
          <p:nvPr/>
        </p:nvSpPr>
        <p:spPr>
          <a:xfrm>
            <a:off x="914400" y="2331720"/>
            <a:ext cx="457200" cy="82296"/>
          </a:xfrm>
          <a:prstGeom prst="rect">
            <a:avLst/>
          </a:prstGeom>
          <a:solidFill>
            <a:srgbClr val="F5A623"/>
          </a:solidFill>
          <a:ln/>
        </p:spPr>
      </p:sp>
      <p:sp>
        <p:nvSpPr>
          <p:cNvPr id="6" name="Text 4"/>
          <p:cNvSpPr txBox="1"/>
          <p:nvPr/>
        </p:nvSpPr>
        <p:spPr>
          <a:xfrm>
            <a:off x="914400" y="2514600"/>
            <a:ext cx="73152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SECTION TWO</a:t>
            </a:r>
            <a:endParaRPr lang="en-US" sz="1250" dirty="0"/>
          </a:p>
        </p:txBody>
      </p:sp>
      <p:sp>
        <p:nvSpPr>
          <p:cNvPr id="7" name="Text 5"/>
          <p:cNvSpPr txBox="1"/>
          <p:nvPr/>
        </p:nvSpPr>
        <p:spPr>
          <a:xfrm>
            <a:off x="868680" y="2880360"/>
            <a:ext cx="7498080" cy="1737360"/>
          </a:xfrm>
          <a:prstGeom prst="rect">
            <a:avLst/>
          </a:prstGeom>
          <a:noFill/>
          <a:ln/>
        </p:spPr>
        <p:txBody>
          <a:bodyPr wrap="square" lIns="0" tIns="0" rIns="0" bIns="0" rtlCol="0" anchor="t"/>
          <a:lstStyle/>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Paid Social</a:t>
            </a:r>
            <a:endParaRPr lang="en-US" sz="5200" dirty="0"/>
          </a:p>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Media Ads</a:t>
            </a:r>
            <a:endParaRPr lang="en-US" sz="5200" dirty="0"/>
          </a:p>
        </p:txBody>
      </p:sp>
      <p:sp>
        <p:nvSpPr>
          <p:cNvPr id="8" name="Text 6"/>
          <p:cNvSpPr txBox="1"/>
          <p:nvPr/>
        </p:nvSpPr>
        <p:spPr>
          <a:xfrm>
            <a:off x="914400" y="4709160"/>
            <a:ext cx="6766560" cy="1097280"/>
          </a:xfrm>
          <a:prstGeom prst="rect">
            <a:avLst/>
          </a:prstGeom>
          <a:noFill/>
          <a:ln/>
        </p:spPr>
        <p:txBody>
          <a:bodyPr wrap="square" lIns="0" tIns="0" rIns="0" bIns="0" rtlCol="0" anchor="t"/>
          <a:lstStyle/>
          <a:p>
            <a:pPr algn="l" indent="0" marL="0">
              <a:lnSpc>
                <a:spcPct val="112000"/>
              </a:lnSpc>
              <a:buNone/>
            </a:pPr>
            <a:r>
              <a:rPr lang="en-US" sz="1500" dirty="0">
                <a:solidFill>
                  <a:srgbClr val="C9D6E5"/>
                </a:solidFill>
                <a:latin typeface="Calibri" pitchFamily="34" charset="0"/>
                <a:ea typeface="Calibri" pitchFamily="34" charset="-122"/>
                <a:cs typeface="Calibri" pitchFamily="34" charset="-120"/>
              </a:rPr>
              <a:t>Performance campaigns across Facebook, Instagram, LinkedIn &amp; YouTube — engineered for ROI.</a:t>
            </a:r>
            <a:endParaRPr lang="en-US" sz="1500" dirty="0"/>
          </a:p>
        </p:txBody>
      </p:sp>
      <p:sp>
        <p:nvSpPr>
          <p:cNvPr id="9" name="Text 7"/>
          <p:cNvSpPr txBox="1"/>
          <p:nvPr/>
        </p:nvSpPr>
        <p:spPr>
          <a:xfrm>
            <a:off x="914400" y="6172200"/>
            <a:ext cx="5486400" cy="274320"/>
          </a:xfrm>
          <a:prstGeom prst="rect">
            <a:avLst/>
          </a:prstGeom>
          <a:noFill/>
          <a:ln/>
        </p:spPr>
        <p:txBody>
          <a:bodyPr wrap="square" lIns="0" tIns="0" rIns="0" bIns="0" rtlCol="0" anchor="ctr"/>
          <a:lstStyle/>
          <a:p>
            <a:pPr algn="l" indent="0" marL="0">
              <a:buNone/>
            </a:pPr>
            <a:r>
              <a:rPr lang="en-US" sz="1050" b="1" spc="300" kern="0" dirty="0">
                <a:solidFill>
                  <a:srgbClr val="7C93AC"/>
                </a:solidFill>
                <a:latin typeface="Calibri" pitchFamily="34" charset="0"/>
                <a:ea typeface="Calibri" pitchFamily="34" charset="-122"/>
                <a:cs typeface="Calibri" pitchFamily="34" charset="-120"/>
              </a:rPr>
              <a:t>CROWN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CASE STUDY · FACEBOOK ADS</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Page-Like Campaign</a:t>
            </a:r>
            <a:endParaRPr lang="en-US" sz="3400" dirty="0"/>
          </a:p>
        </p:txBody>
      </p:sp>
      <p:sp>
        <p:nvSpPr>
          <p:cNvPr id="5" name="Text 3"/>
          <p:cNvSpPr txBox="1"/>
          <p:nvPr/>
        </p:nvSpPr>
        <p:spPr>
          <a:xfrm>
            <a:off x="548640" y="2011680"/>
            <a:ext cx="6949440" cy="548640"/>
          </a:xfrm>
          <a:prstGeom prst="rect">
            <a:avLst/>
          </a:prstGeom>
          <a:noFill/>
          <a:ln/>
        </p:spPr>
        <p:txBody>
          <a:bodyPr wrap="square" lIns="0" tIns="0" rIns="0" bIns="0" rtlCol="0" anchor="ctr"/>
          <a:lstStyle/>
          <a:p>
            <a:pPr algn="l" indent="0" marL="0">
              <a:lnSpc>
                <a:spcPct val="110000"/>
              </a:lnSpc>
              <a:buNone/>
            </a:pPr>
            <a:r>
              <a:rPr lang="en-US" sz="1400" dirty="0">
                <a:solidFill>
                  <a:srgbClr val="5F7183"/>
                </a:solidFill>
                <a:latin typeface="Calibri" pitchFamily="34" charset="0"/>
                <a:ea typeface="Calibri" pitchFamily="34" charset="-122"/>
                <a:cs typeface="Calibri" pitchFamily="34" charset="-120"/>
              </a:rPr>
              <a:t>Strategic optimization slashed the cost per page like — dramatically improving the efficiency of acquiring new followers.</a:t>
            </a:r>
            <a:endParaRPr lang="en-US" sz="1400" dirty="0"/>
          </a:p>
        </p:txBody>
      </p:sp>
      <p:sp>
        <p:nvSpPr>
          <p:cNvPr id="6" name="Shape 4"/>
          <p:cNvSpPr/>
          <p:nvPr/>
        </p:nvSpPr>
        <p:spPr>
          <a:xfrm>
            <a:off x="548640" y="2743200"/>
            <a:ext cx="3200400" cy="1600200"/>
          </a:xfrm>
          <a:prstGeom prst="roundRect">
            <a:avLst>
              <a:gd name="adj" fmla="val 628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7" name="Text 5"/>
          <p:cNvSpPr txBox="1"/>
          <p:nvPr/>
        </p:nvSpPr>
        <p:spPr>
          <a:xfrm>
            <a:off x="731520" y="2926080"/>
            <a:ext cx="2743200" cy="274320"/>
          </a:xfrm>
          <a:prstGeom prst="rect">
            <a:avLst/>
          </a:prstGeom>
          <a:noFill/>
          <a:ln/>
        </p:spPr>
        <p:txBody>
          <a:bodyPr wrap="square" lIns="0" tIns="0" rIns="0" bIns="0" rtlCol="0" anchor="ctr"/>
          <a:lstStyle/>
          <a:p>
            <a:pPr algn="l" indent="0" marL="0">
              <a:buNone/>
            </a:pPr>
            <a:r>
              <a:rPr lang="en-US" sz="1100" b="1" spc="200" kern="0" dirty="0">
                <a:solidFill>
                  <a:srgbClr val="5F7183"/>
                </a:solidFill>
                <a:latin typeface="Calibri" pitchFamily="34" charset="0"/>
                <a:ea typeface="Calibri" pitchFamily="34" charset="-122"/>
                <a:cs typeface="Calibri" pitchFamily="34" charset="-120"/>
              </a:rPr>
              <a:t>BEFORE</a:t>
            </a:r>
            <a:endParaRPr lang="en-US" sz="1100" dirty="0"/>
          </a:p>
        </p:txBody>
      </p:sp>
      <p:sp>
        <p:nvSpPr>
          <p:cNvPr id="8" name="Text 6"/>
          <p:cNvSpPr txBox="1"/>
          <p:nvPr/>
        </p:nvSpPr>
        <p:spPr>
          <a:xfrm>
            <a:off x="731520" y="3200400"/>
            <a:ext cx="3017520" cy="822960"/>
          </a:xfrm>
          <a:prstGeom prst="rect">
            <a:avLst/>
          </a:prstGeom>
          <a:noFill/>
          <a:ln/>
        </p:spPr>
        <p:txBody>
          <a:bodyPr wrap="square" lIns="0" tIns="0" rIns="0" bIns="0" rtlCol="0" anchor="ctr"/>
          <a:lstStyle/>
          <a:p>
            <a:pPr algn="l" indent="0" marL="0">
              <a:buNone/>
            </a:pPr>
            <a:r>
              <a:rPr lang="en-US" sz="4000" b="1" dirty="0">
                <a:solidFill>
                  <a:srgbClr val="9AA9B8"/>
                </a:solidFill>
                <a:latin typeface="Calibri" pitchFamily="34" charset="0"/>
                <a:ea typeface="Calibri" pitchFamily="34" charset="-122"/>
                <a:cs typeface="Calibri" pitchFamily="34" charset="-120"/>
              </a:rPr>
              <a:t>Rs 10.89</a:t>
            </a:r>
            <a:endParaRPr lang="en-US" sz="4000" dirty="0"/>
          </a:p>
        </p:txBody>
      </p:sp>
      <p:sp>
        <p:nvSpPr>
          <p:cNvPr id="9" name="Text 7"/>
          <p:cNvSpPr txBox="1"/>
          <p:nvPr/>
        </p:nvSpPr>
        <p:spPr>
          <a:xfrm>
            <a:off x="749808" y="4005072"/>
            <a:ext cx="2743200" cy="274320"/>
          </a:xfrm>
          <a:prstGeom prst="rect">
            <a:avLst/>
          </a:prstGeom>
          <a:noFill/>
          <a:ln/>
        </p:spPr>
        <p:txBody>
          <a:bodyPr wrap="square" lIns="0" tIns="0" rIns="0" bIns="0" rtlCol="0" anchor="ctr"/>
          <a:lstStyle/>
          <a:p>
            <a:pPr algn="l" indent="0" marL="0">
              <a:buNone/>
            </a:pPr>
            <a:r>
              <a:rPr lang="en-US" sz="1100" dirty="0">
                <a:solidFill>
                  <a:srgbClr val="5F7183"/>
                </a:solidFill>
                <a:latin typeface="Calibri" pitchFamily="34" charset="0"/>
                <a:ea typeface="Calibri" pitchFamily="34" charset="-122"/>
                <a:cs typeface="Calibri" pitchFamily="34" charset="-120"/>
              </a:rPr>
              <a:t>cost per page like</a:t>
            </a:r>
            <a:endParaRPr lang="en-US" sz="1100" dirty="0"/>
          </a:p>
        </p:txBody>
      </p:sp>
      <p:sp>
        <p:nvSpPr>
          <p:cNvPr id="10" name="Shape 8"/>
          <p:cNvSpPr/>
          <p:nvPr/>
        </p:nvSpPr>
        <p:spPr>
          <a:xfrm>
            <a:off x="3977640" y="2743200"/>
            <a:ext cx="3520440" cy="1600200"/>
          </a:xfrm>
          <a:prstGeom prst="roundRect">
            <a:avLst>
              <a:gd name="adj" fmla="val 6286"/>
            </a:avLst>
          </a:prstGeom>
          <a:solidFill>
            <a:srgbClr val="0E2A47"/>
          </a:solidFill>
          <a:ln/>
          <a:effectLst>
            <a:outerShdw sx="100000" sy="100000" kx="0" ky="0" algn="bl" rotWithShape="0" blurRad="127000" dist="50800" dir="5400000">
              <a:srgbClr val="32506e">
                <a:alpha val="16000"/>
              </a:srgbClr>
            </a:outerShdw>
          </a:effectLst>
        </p:spPr>
      </p:sp>
      <p:sp>
        <p:nvSpPr>
          <p:cNvPr id="11" name="Text 9"/>
          <p:cNvSpPr txBox="1"/>
          <p:nvPr/>
        </p:nvSpPr>
        <p:spPr>
          <a:xfrm>
            <a:off x="4206240" y="2926080"/>
            <a:ext cx="2743200" cy="274320"/>
          </a:xfrm>
          <a:prstGeom prst="rect">
            <a:avLst/>
          </a:prstGeom>
          <a:noFill/>
          <a:ln/>
        </p:spPr>
        <p:txBody>
          <a:bodyPr wrap="square" lIns="0" tIns="0" rIns="0" bIns="0" rtlCol="0" anchor="ctr"/>
          <a:lstStyle/>
          <a:p>
            <a:pPr algn="l" indent="0" marL="0">
              <a:buNone/>
            </a:pPr>
            <a:r>
              <a:rPr lang="en-US" sz="1100" b="1" spc="200" kern="0" dirty="0">
                <a:solidFill>
                  <a:srgbClr val="F5A623"/>
                </a:solidFill>
                <a:latin typeface="Calibri" pitchFamily="34" charset="0"/>
                <a:ea typeface="Calibri" pitchFamily="34" charset="-122"/>
                <a:cs typeface="Calibri" pitchFamily="34" charset="-120"/>
              </a:rPr>
              <a:t>AFTER</a:t>
            </a:r>
            <a:endParaRPr lang="en-US" sz="1100" dirty="0"/>
          </a:p>
        </p:txBody>
      </p:sp>
      <p:sp>
        <p:nvSpPr>
          <p:cNvPr id="12" name="Text 10"/>
          <p:cNvSpPr txBox="1"/>
          <p:nvPr/>
        </p:nvSpPr>
        <p:spPr>
          <a:xfrm>
            <a:off x="4206240" y="3200400"/>
            <a:ext cx="310896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Rs 1.25</a:t>
            </a:r>
            <a:endParaRPr lang="en-US" sz="4000" dirty="0"/>
          </a:p>
        </p:txBody>
      </p:sp>
      <p:sp>
        <p:nvSpPr>
          <p:cNvPr id="13" name="Text 11"/>
          <p:cNvSpPr txBox="1"/>
          <p:nvPr/>
        </p:nvSpPr>
        <p:spPr>
          <a:xfrm>
            <a:off x="4224528" y="4005072"/>
            <a:ext cx="2743200" cy="274320"/>
          </a:xfrm>
          <a:prstGeom prst="rect">
            <a:avLst/>
          </a:prstGeom>
          <a:noFill/>
          <a:ln/>
        </p:spPr>
        <p:txBody>
          <a:bodyPr wrap="square" lIns="0" tIns="0" rIns="0" bIns="0" rtlCol="0" anchor="ctr"/>
          <a:lstStyle/>
          <a:p>
            <a:pPr algn="l" indent="0" marL="0">
              <a:buNone/>
            </a:pPr>
            <a:r>
              <a:rPr lang="en-US" sz="1100" dirty="0">
                <a:solidFill>
                  <a:srgbClr val="C9D6E5"/>
                </a:solidFill>
                <a:latin typeface="Calibri" pitchFamily="34" charset="0"/>
                <a:ea typeface="Calibri" pitchFamily="34" charset="-122"/>
                <a:cs typeface="Calibri" pitchFamily="34" charset="-120"/>
              </a:rPr>
              <a:t>cost per page like</a:t>
            </a:r>
            <a:endParaRPr lang="en-US" sz="1100" dirty="0"/>
          </a:p>
        </p:txBody>
      </p:sp>
      <p:sp>
        <p:nvSpPr>
          <p:cNvPr id="14" name="Text 12"/>
          <p:cNvSpPr txBox="1"/>
          <p:nvPr/>
        </p:nvSpPr>
        <p:spPr>
          <a:xfrm>
            <a:off x="548640" y="4617720"/>
            <a:ext cx="6949440" cy="457200"/>
          </a:xfrm>
          <a:prstGeom prst="rect">
            <a:avLst/>
          </a:prstGeom>
          <a:noFill/>
          <a:ln/>
        </p:spPr>
        <p:txBody>
          <a:bodyPr wrap="square" lIns="0" tIns="0" rIns="0" bIns="0" rtlCol="0" anchor="ctr"/>
          <a:lstStyle/>
          <a:p>
            <a:pPr algn="l" indent="0" marL="0">
              <a:buNone/>
            </a:pPr>
            <a:r>
              <a:rPr lang="en-US" sz="2000" b="1" dirty="0">
                <a:solidFill>
                  <a:srgbClr val="F5A623"/>
                </a:solidFill>
                <a:latin typeface="Calibri" pitchFamily="34" charset="0"/>
                <a:ea typeface="Calibri" pitchFamily="34" charset="-122"/>
                <a:cs typeface="Calibri" pitchFamily="34" charset="-120"/>
              </a:rPr>
              <a:t>88% </a:t>
            </a:r>
            <a:pPr algn="l" indent="0" marL="0">
              <a:buNone/>
            </a:pPr>
            <a:r>
              <a:rPr lang="en-US" sz="1400" dirty="0">
                <a:solidFill>
                  <a:srgbClr val="1B2A3A"/>
                </a:solidFill>
                <a:latin typeface="Calibri" pitchFamily="34" charset="0"/>
                <a:ea typeface="Calibri" pitchFamily="34" charset="-122"/>
                <a:cs typeface="Calibri" pitchFamily="34" charset="-120"/>
              </a:rPr>
              <a:t>lower cost per acquisition</a:t>
            </a:r>
            <a:endParaRPr lang="en-US" sz="2000" dirty="0"/>
          </a:p>
        </p:txBody>
      </p:sp>
      <p:sp>
        <p:nvSpPr>
          <p:cNvPr id="15" name="Text 13"/>
          <p:cNvSpPr txBox="1"/>
          <p:nvPr/>
        </p:nvSpPr>
        <p:spPr>
          <a:xfrm>
            <a:off x="566928" y="5120640"/>
            <a:ext cx="6858000" cy="1005840"/>
          </a:xfrm>
          <a:prstGeom prst="rect">
            <a:avLst/>
          </a:prstGeom>
          <a:noFill/>
          <a:ln/>
        </p:spPr>
        <p:txBody>
          <a:bodyPr wrap="square" lIns="0" tIns="0" rIns="0" bIns="0" rtlCol="0" anchor="t"/>
          <a:lstStyle/>
          <a:p>
            <a:pPr algn="l" marL="203200" indent="-203200">
              <a:lnSpc>
                <a:spcPct val="102000"/>
              </a:lnSpc>
              <a:spcAft>
                <a:spcPts val="400"/>
              </a:spcAft>
              <a:buSzPct val="100000"/>
              <a:buChar char="•"/>
            </a:pPr>
            <a:r>
              <a:rPr lang="en-US" sz="1300" dirty="0">
                <a:solidFill>
                  <a:srgbClr val="1B2A3A"/>
                </a:solidFill>
                <a:latin typeface="Calibri" pitchFamily="34" charset="0"/>
                <a:ea typeface="Calibri" pitchFamily="34" charset="-122"/>
                <a:cs typeface="Calibri" pitchFamily="34" charset="-120"/>
              </a:rPr>
              <a:t>Objective — Facebook Page Likes</a:t>
            </a:r>
            <a:endParaRPr lang="en-US" sz="1300" dirty="0"/>
          </a:p>
          <a:p>
            <a:pPr algn="l" marL="203200" indent="-203200">
              <a:lnSpc>
                <a:spcPct val="102000"/>
              </a:lnSpc>
              <a:spcAft>
                <a:spcPts val="400"/>
              </a:spcAft>
              <a:buSzPct val="100000"/>
              <a:buChar char="•"/>
            </a:pPr>
            <a:r>
              <a:rPr lang="en-US" sz="1300" dirty="0">
                <a:solidFill>
                  <a:srgbClr val="1B2A3A"/>
                </a:solidFill>
                <a:latin typeface="Calibri" pitchFamily="34" charset="0"/>
                <a:ea typeface="Calibri" pitchFamily="34" charset="-122"/>
                <a:cs typeface="Calibri" pitchFamily="34" charset="-120"/>
              </a:rPr>
              <a:t>Refined audience &amp; creative testing</a:t>
            </a:r>
            <a:endParaRPr lang="en-US" sz="1300" dirty="0"/>
          </a:p>
          <a:p>
            <a:pPr algn="l" marL="203200" indent="-203200">
              <a:lnSpc>
                <a:spcPct val="102000"/>
              </a:lnSpc>
              <a:spcAft>
                <a:spcPts val="400"/>
              </a:spcAft>
              <a:buSzPct val="100000"/>
              <a:buChar char="•"/>
            </a:pPr>
            <a:r>
              <a:rPr lang="en-US" sz="1300" dirty="0">
                <a:solidFill>
                  <a:srgbClr val="1B2A3A"/>
                </a:solidFill>
                <a:latin typeface="Calibri" pitchFamily="34" charset="0"/>
                <a:ea typeface="Calibri" pitchFamily="34" charset="-122"/>
                <a:cs typeface="Calibri" pitchFamily="34" charset="-120"/>
              </a:rPr>
              <a:t>Continuous bid and placement optimization</a:t>
            </a:r>
            <a:endParaRPr lang="en-US" sz="1300" dirty="0"/>
          </a:p>
        </p:txBody>
      </p:sp>
      <p:sp>
        <p:nvSpPr>
          <p:cNvPr id="16" name="Shape 14"/>
          <p:cNvSpPr/>
          <p:nvPr/>
        </p:nvSpPr>
        <p:spPr>
          <a:xfrm>
            <a:off x="7818120" y="2148840"/>
            <a:ext cx="3794760" cy="3931920"/>
          </a:xfrm>
          <a:prstGeom prst="roundRect">
            <a:avLst>
              <a:gd name="adj" fmla="val 265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7" name="Image 0" descr="img/5c6599b1e9.png">    </p:cNvPr>
          <p:cNvPicPr>
            <a:picLocks noChangeAspect="1"/>
          </p:cNvPicPr>
          <p:nvPr/>
        </p:nvPicPr>
        <p:blipFill>
          <a:blip r:embed="rId1"/>
          <a:stretch>
            <a:fillRect/>
          </a:stretch>
        </p:blipFill>
        <p:spPr>
          <a:xfrm>
            <a:off x="8681657" y="2276856"/>
            <a:ext cx="2067687" cy="3675888"/>
          </a:xfrm>
          <a:prstGeom prst="rect">
            <a:avLst/>
          </a:prstGeom>
        </p:spPr>
      </p:pic>
      <p:sp>
        <p:nvSpPr>
          <p:cNvPr id="18" name="Text 15"/>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9" name="Text 16"/>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FACEBOOK ADS</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Engagement Campaign</a:t>
            </a:r>
            <a:endParaRPr lang="en-US" sz="3400" dirty="0"/>
          </a:p>
        </p:txBody>
      </p:sp>
      <p:sp>
        <p:nvSpPr>
          <p:cNvPr id="5" name="Text 3"/>
          <p:cNvSpPr txBox="1"/>
          <p:nvPr/>
        </p:nvSpPr>
        <p:spPr>
          <a:xfrm>
            <a:off x="548640" y="2011680"/>
            <a:ext cx="6400800" cy="45720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Single-image ad designed to maximise post engagement and interaction.</a:t>
            </a:r>
            <a:endParaRPr lang="en-US" sz="1400" dirty="0"/>
          </a:p>
        </p:txBody>
      </p:sp>
      <p:sp>
        <p:nvSpPr>
          <p:cNvPr id="6" name="Shape 4"/>
          <p:cNvSpPr/>
          <p:nvPr/>
        </p:nvSpPr>
        <p:spPr>
          <a:xfrm>
            <a:off x="548640" y="2606040"/>
            <a:ext cx="3657600" cy="3429000"/>
          </a:xfrm>
          <a:prstGeom prst="roundRect">
            <a:avLst>
              <a:gd name="adj" fmla="val 2933"/>
            </a:avLst>
          </a:prstGeom>
          <a:solidFill>
            <a:srgbClr val="E8F1FB"/>
          </a:solidFill>
          <a:ln/>
          <a:effectLst>
            <a:outerShdw sx="100000" sy="100000" kx="0" ky="0" algn="bl" rotWithShape="0" blurRad="127000" dist="50800" dir="5400000">
              <a:srgbClr val="32506e">
                <a:alpha val="16000"/>
              </a:srgbClr>
            </a:outerShdw>
          </a:effectLst>
        </p:spPr>
      </p:sp>
      <p:sp>
        <p:nvSpPr>
          <p:cNvPr id="7" name="Text 5"/>
          <p:cNvSpPr txBox="1"/>
          <p:nvPr/>
        </p:nvSpPr>
        <p:spPr>
          <a:xfrm>
            <a:off x="777240" y="2834640"/>
            <a:ext cx="320040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CAMPAIGN</a:t>
            </a:r>
            <a:endParaRPr lang="en-US" sz="1100" dirty="0"/>
          </a:p>
        </p:txBody>
      </p:sp>
      <p:sp>
        <p:nvSpPr>
          <p:cNvPr id="8" name="Text 6"/>
          <p:cNvSpPr txBox="1"/>
          <p:nvPr/>
        </p:nvSpPr>
        <p:spPr>
          <a:xfrm>
            <a:off x="777240" y="3200400"/>
            <a:ext cx="3246120" cy="2651760"/>
          </a:xfrm>
          <a:prstGeom prst="rect">
            <a:avLst/>
          </a:prstGeom>
          <a:noFill/>
          <a:ln/>
        </p:spPr>
        <p:txBody>
          <a:bodyPr wrap="square" lIns="0" tIns="0" rIns="0" bIns="0" rtlCol="0" anchor="t"/>
          <a:lstStyle/>
          <a:p>
            <a:pPr algn="l" marL="203200" indent="-203200">
              <a:lnSpc>
                <a:spcPct val="102000"/>
              </a:lnSpc>
              <a:spcAft>
                <a:spcPts val="1200"/>
              </a:spcAft>
              <a:buSzPct val="100000"/>
              <a:buChar char="•"/>
            </a:pPr>
            <a:r>
              <a:rPr lang="en-US" sz="1450" dirty="0">
                <a:solidFill>
                  <a:srgbClr val="1B2A3A"/>
                </a:solidFill>
                <a:latin typeface="Calibri" pitchFamily="34" charset="0"/>
                <a:ea typeface="Calibri" pitchFamily="34" charset="-122"/>
                <a:cs typeface="Calibri" pitchFamily="34" charset="-120"/>
              </a:rPr>
              <a:t>Objective — Post Engagement</a:t>
            </a:r>
            <a:endParaRPr lang="en-US" sz="1450" dirty="0"/>
          </a:p>
          <a:p>
            <a:pPr algn="l" marL="203200" indent="-203200">
              <a:lnSpc>
                <a:spcPct val="102000"/>
              </a:lnSpc>
              <a:spcAft>
                <a:spcPts val="1200"/>
              </a:spcAft>
              <a:buSzPct val="100000"/>
              <a:buChar char="•"/>
            </a:pPr>
            <a:r>
              <a:rPr lang="en-US" sz="1450" dirty="0">
                <a:solidFill>
                  <a:srgbClr val="1B2A3A"/>
                </a:solidFill>
                <a:latin typeface="Calibri" pitchFamily="34" charset="0"/>
                <a:ea typeface="Calibri" pitchFamily="34" charset="-122"/>
                <a:cs typeface="Calibri" pitchFamily="34" charset="-120"/>
              </a:rPr>
              <a:t>Format — Single Image Ad</a:t>
            </a:r>
            <a:endParaRPr lang="en-US" sz="1450" dirty="0"/>
          </a:p>
          <a:p>
            <a:pPr algn="l" marL="203200" indent="-203200">
              <a:lnSpc>
                <a:spcPct val="102000"/>
              </a:lnSpc>
              <a:spcAft>
                <a:spcPts val="1200"/>
              </a:spcAft>
              <a:buSzPct val="100000"/>
              <a:buChar char="•"/>
            </a:pPr>
            <a:r>
              <a:rPr lang="en-US" sz="1450" dirty="0">
                <a:solidFill>
                  <a:srgbClr val="1B2A3A"/>
                </a:solidFill>
                <a:latin typeface="Calibri" pitchFamily="34" charset="0"/>
                <a:ea typeface="Calibri" pitchFamily="34" charset="-122"/>
                <a:cs typeface="Calibri" pitchFamily="34" charset="-120"/>
              </a:rPr>
              <a:t>Placements — Facebook &amp; Instagram</a:t>
            </a:r>
            <a:endParaRPr lang="en-US" sz="1450" dirty="0"/>
          </a:p>
          <a:p>
            <a:pPr algn="l" marL="203200" indent="-203200">
              <a:lnSpc>
                <a:spcPct val="102000"/>
              </a:lnSpc>
              <a:spcAft>
                <a:spcPts val="1200"/>
              </a:spcAft>
              <a:buSzPct val="100000"/>
              <a:buChar char="•"/>
            </a:pPr>
            <a:r>
              <a:rPr lang="en-US" sz="1450" dirty="0">
                <a:solidFill>
                  <a:srgbClr val="1B2A3A"/>
                </a:solidFill>
                <a:latin typeface="Calibri" pitchFamily="34" charset="0"/>
                <a:ea typeface="Calibri" pitchFamily="34" charset="-122"/>
                <a:cs typeface="Calibri" pitchFamily="34" charset="-120"/>
              </a:rPr>
              <a:t>Focus — reach and interactions</a:t>
            </a:r>
            <a:endParaRPr lang="en-US" sz="1450" dirty="0"/>
          </a:p>
        </p:txBody>
      </p:sp>
      <p:sp>
        <p:nvSpPr>
          <p:cNvPr id="9" name="Shape 7"/>
          <p:cNvSpPr/>
          <p:nvPr/>
        </p:nvSpPr>
        <p:spPr>
          <a:xfrm>
            <a:off x="4434840" y="2606040"/>
            <a:ext cx="416052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0" name="Image 0" descr="img/2f49eb6275.png">    </p:cNvPr>
          <p:cNvPicPr>
            <a:picLocks noChangeAspect="1"/>
          </p:cNvPicPr>
          <p:nvPr/>
        </p:nvPicPr>
        <p:blipFill>
          <a:blip r:embed="rId1"/>
          <a:stretch>
            <a:fillRect/>
          </a:stretch>
        </p:blipFill>
        <p:spPr>
          <a:xfrm>
            <a:off x="4562856" y="3507862"/>
            <a:ext cx="3904488" cy="1625357"/>
          </a:xfrm>
          <a:prstGeom prst="rect">
            <a:avLst/>
          </a:prstGeom>
        </p:spPr>
      </p:pic>
      <p:sp>
        <p:nvSpPr>
          <p:cNvPr id="11" name="Shape 8"/>
          <p:cNvSpPr/>
          <p:nvPr/>
        </p:nvSpPr>
        <p:spPr>
          <a:xfrm>
            <a:off x="8823960" y="2606040"/>
            <a:ext cx="2788920" cy="3429000"/>
          </a:xfrm>
          <a:prstGeom prst="roundRect">
            <a:avLst>
              <a:gd name="adj" fmla="val 360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2" name="Image 1" descr="img/96d10485a0.png">    </p:cNvPr>
          <p:cNvPicPr>
            <a:picLocks noChangeAspect="1"/>
          </p:cNvPicPr>
          <p:nvPr/>
        </p:nvPicPr>
        <p:blipFill>
          <a:blip r:embed="rId2"/>
          <a:stretch>
            <a:fillRect/>
          </a:stretch>
        </p:blipFill>
        <p:spPr>
          <a:xfrm>
            <a:off x="9264669" y="2734056"/>
            <a:ext cx="1907503" cy="3172968"/>
          </a:xfrm>
          <a:prstGeom prst="rect">
            <a:avLst/>
          </a:prstGeom>
        </p:spPr>
      </p:pic>
      <p:sp>
        <p:nvSpPr>
          <p:cNvPr id="13" name="Text 9"/>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4" name="Text 10"/>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FACEBOOK ADS</a:t>
            </a:r>
            <a:endParaRPr lang="en-US" sz="1250" dirty="0"/>
          </a:p>
        </p:txBody>
      </p:sp>
      <p:sp>
        <p:nvSpPr>
          <p:cNvPr id="4" name="Text 2"/>
          <p:cNvSpPr txBox="1"/>
          <p:nvPr/>
        </p:nvSpPr>
        <p:spPr>
          <a:xfrm>
            <a:off x="548640" y="1170432"/>
            <a:ext cx="86868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Traffic Campaign — Carousel</a:t>
            </a:r>
            <a:endParaRPr lang="en-US" sz="3400" dirty="0"/>
          </a:p>
        </p:txBody>
      </p:sp>
      <p:sp>
        <p:nvSpPr>
          <p:cNvPr id="5" name="Shape 3"/>
          <p:cNvSpPr/>
          <p:nvPr/>
        </p:nvSpPr>
        <p:spPr>
          <a:xfrm>
            <a:off x="548640" y="2286000"/>
            <a:ext cx="3657600" cy="3749040"/>
          </a:xfrm>
          <a:prstGeom prst="roundRect">
            <a:avLst>
              <a:gd name="adj" fmla="val 2750"/>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Text 4"/>
          <p:cNvSpPr txBox="1"/>
          <p:nvPr/>
        </p:nvSpPr>
        <p:spPr>
          <a:xfrm>
            <a:off x="777240" y="2514600"/>
            <a:ext cx="320040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CAMPAIGN DETAILS</a:t>
            </a:r>
            <a:endParaRPr lang="en-US" sz="1100" dirty="0"/>
          </a:p>
        </p:txBody>
      </p:sp>
      <p:sp>
        <p:nvSpPr>
          <p:cNvPr id="7" name="Text 5"/>
          <p:cNvSpPr txBox="1"/>
          <p:nvPr/>
        </p:nvSpPr>
        <p:spPr>
          <a:xfrm>
            <a:off x="777240" y="288036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OBJECTIVE</a:t>
            </a:r>
            <a:endParaRPr lang="en-US" sz="1050" dirty="0"/>
          </a:p>
        </p:txBody>
      </p:sp>
      <p:sp>
        <p:nvSpPr>
          <p:cNvPr id="8" name="Text 6"/>
          <p:cNvSpPr txBox="1"/>
          <p:nvPr/>
        </p:nvSpPr>
        <p:spPr>
          <a:xfrm>
            <a:off x="2148840" y="288036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Traffic</a:t>
            </a:r>
            <a:endParaRPr lang="en-US" sz="1250" dirty="0"/>
          </a:p>
        </p:txBody>
      </p:sp>
      <p:sp>
        <p:nvSpPr>
          <p:cNvPr id="9" name="Text 7"/>
          <p:cNvSpPr txBox="1"/>
          <p:nvPr/>
        </p:nvSpPr>
        <p:spPr>
          <a:xfrm>
            <a:off x="777240" y="338328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CONVERSION</a:t>
            </a:r>
            <a:endParaRPr lang="en-US" sz="1050" dirty="0"/>
          </a:p>
        </p:txBody>
      </p:sp>
      <p:sp>
        <p:nvSpPr>
          <p:cNvPr id="10" name="Text 8"/>
          <p:cNvSpPr txBox="1"/>
          <p:nvPr/>
        </p:nvSpPr>
        <p:spPr>
          <a:xfrm>
            <a:off x="2148840" y="338328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Website</a:t>
            </a:r>
            <a:endParaRPr lang="en-US" sz="1250" dirty="0"/>
          </a:p>
        </p:txBody>
      </p:sp>
      <p:sp>
        <p:nvSpPr>
          <p:cNvPr id="11" name="Text 9"/>
          <p:cNvSpPr txBox="1"/>
          <p:nvPr/>
        </p:nvSpPr>
        <p:spPr>
          <a:xfrm>
            <a:off x="777240" y="388620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PLACEMENT</a:t>
            </a:r>
            <a:endParaRPr lang="en-US" sz="1050" dirty="0"/>
          </a:p>
        </p:txBody>
      </p:sp>
      <p:sp>
        <p:nvSpPr>
          <p:cNvPr id="12" name="Text 10"/>
          <p:cNvSpPr txBox="1"/>
          <p:nvPr/>
        </p:nvSpPr>
        <p:spPr>
          <a:xfrm>
            <a:off x="2148840" y="388620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Facebook, Instagram</a:t>
            </a:r>
            <a:endParaRPr lang="en-US" sz="1250" dirty="0"/>
          </a:p>
        </p:txBody>
      </p:sp>
      <p:sp>
        <p:nvSpPr>
          <p:cNvPr id="13" name="Text 11"/>
          <p:cNvSpPr txBox="1"/>
          <p:nvPr/>
        </p:nvSpPr>
        <p:spPr>
          <a:xfrm>
            <a:off x="777240" y="438912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AGE</a:t>
            </a:r>
            <a:endParaRPr lang="en-US" sz="1050" dirty="0"/>
          </a:p>
        </p:txBody>
      </p:sp>
      <p:sp>
        <p:nvSpPr>
          <p:cNvPr id="14" name="Text 12"/>
          <p:cNvSpPr txBox="1"/>
          <p:nvPr/>
        </p:nvSpPr>
        <p:spPr>
          <a:xfrm>
            <a:off x="2148840" y="438912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25 – 46</a:t>
            </a:r>
            <a:endParaRPr lang="en-US" sz="1250" dirty="0"/>
          </a:p>
        </p:txBody>
      </p:sp>
      <p:sp>
        <p:nvSpPr>
          <p:cNvPr id="15" name="Text 13"/>
          <p:cNvSpPr txBox="1"/>
          <p:nvPr/>
        </p:nvSpPr>
        <p:spPr>
          <a:xfrm>
            <a:off x="777240" y="489204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GENDER</a:t>
            </a:r>
            <a:endParaRPr lang="en-US" sz="1050" dirty="0"/>
          </a:p>
        </p:txBody>
      </p:sp>
      <p:sp>
        <p:nvSpPr>
          <p:cNvPr id="16" name="Text 14"/>
          <p:cNvSpPr txBox="1"/>
          <p:nvPr/>
        </p:nvSpPr>
        <p:spPr>
          <a:xfrm>
            <a:off x="2148840" y="489204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Male &amp; Female</a:t>
            </a:r>
            <a:endParaRPr lang="en-US" sz="1250" dirty="0"/>
          </a:p>
        </p:txBody>
      </p:sp>
      <p:sp>
        <p:nvSpPr>
          <p:cNvPr id="17" name="Text 15"/>
          <p:cNvSpPr txBox="1"/>
          <p:nvPr/>
        </p:nvSpPr>
        <p:spPr>
          <a:xfrm>
            <a:off x="777240" y="539496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LOCATION</a:t>
            </a:r>
            <a:endParaRPr lang="en-US" sz="1050" dirty="0"/>
          </a:p>
        </p:txBody>
      </p:sp>
      <p:sp>
        <p:nvSpPr>
          <p:cNvPr id="18" name="Text 16"/>
          <p:cNvSpPr txBox="1"/>
          <p:nvPr/>
        </p:nvSpPr>
        <p:spPr>
          <a:xfrm>
            <a:off x="2148840" y="539496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Kolkata</a:t>
            </a:r>
            <a:endParaRPr lang="en-US" sz="1250" dirty="0"/>
          </a:p>
        </p:txBody>
      </p:sp>
      <p:sp>
        <p:nvSpPr>
          <p:cNvPr id="19" name="Shape 17"/>
          <p:cNvSpPr/>
          <p:nvPr/>
        </p:nvSpPr>
        <p:spPr>
          <a:xfrm>
            <a:off x="4434840" y="2286000"/>
            <a:ext cx="2514600" cy="3749040"/>
          </a:xfrm>
          <a:prstGeom prst="roundRect">
            <a:avLst>
              <a:gd name="adj" fmla="val 4000"/>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0" name="Image 0" descr="img/c43bde68d8.png">    </p:cNvPr>
          <p:cNvPicPr>
            <a:picLocks noChangeAspect="1"/>
          </p:cNvPicPr>
          <p:nvPr/>
        </p:nvPicPr>
        <p:blipFill>
          <a:blip r:embed="rId1"/>
          <a:stretch>
            <a:fillRect/>
          </a:stretch>
        </p:blipFill>
        <p:spPr>
          <a:xfrm>
            <a:off x="4544568" y="2464237"/>
            <a:ext cx="2295144" cy="3392565"/>
          </a:xfrm>
          <a:prstGeom prst="rect">
            <a:avLst/>
          </a:prstGeom>
        </p:spPr>
      </p:pic>
      <p:sp>
        <p:nvSpPr>
          <p:cNvPr id="21" name="Shape 18"/>
          <p:cNvSpPr/>
          <p:nvPr/>
        </p:nvSpPr>
        <p:spPr>
          <a:xfrm>
            <a:off x="7132320" y="2286000"/>
            <a:ext cx="4480560" cy="3749040"/>
          </a:xfrm>
          <a:prstGeom prst="roundRect">
            <a:avLst>
              <a:gd name="adj" fmla="val 268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2" name="Image 1" descr="img/26c4f353dc.png">    </p:cNvPr>
          <p:cNvPicPr>
            <a:picLocks noChangeAspect="1"/>
          </p:cNvPicPr>
          <p:nvPr/>
        </p:nvPicPr>
        <p:blipFill>
          <a:blip r:embed="rId2"/>
          <a:stretch>
            <a:fillRect/>
          </a:stretch>
        </p:blipFill>
        <p:spPr>
          <a:xfrm>
            <a:off x="7260336" y="3127858"/>
            <a:ext cx="4224528" cy="2065325"/>
          </a:xfrm>
          <a:prstGeom prst="rect">
            <a:avLst/>
          </a:prstGeom>
        </p:spPr>
      </p:pic>
      <p:sp>
        <p:nvSpPr>
          <p:cNvPr id="23" name="Text 19"/>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4" name="Text 20"/>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FACEBOOK ADS</a:t>
            </a:r>
            <a:endParaRPr lang="en-US" sz="1250" dirty="0"/>
          </a:p>
        </p:txBody>
      </p:sp>
      <p:sp>
        <p:nvSpPr>
          <p:cNvPr id="4" name="Text 2"/>
          <p:cNvSpPr txBox="1"/>
          <p:nvPr/>
        </p:nvSpPr>
        <p:spPr>
          <a:xfrm>
            <a:off x="548640" y="1170432"/>
            <a:ext cx="86868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Lead Generation — Video Ad</a:t>
            </a:r>
            <a:endParaRPr lang="en-US" sz="3400" dirty="0"/>
          </a:p>
        </p:txBody>
      </p:sp>
      <p:sp>
        <p:nvSpPr>
          <p:cNvPr id="5" name="Shape 3"/>
          <p:cNvSpPr/>
          <p:nvPr/>
        </p:nvSpPr>
        <p:spPr>
          <a:xfrm>
            <a:off x="548640" y="2286000"/>
            <a:ext cx="3657600" cy="3749040"/>
          </a:xfrm>
          <a:prstGeom prst="roundRect">
            <a:avLst>
              <a:gd name="adj" fmla="val 2750"/>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Text 4"/>
          <p:cNvSpPr txBox="1"/>
          <p:nvPr/>
        </p:nvSpPr>
        <p:spPr>
          <a:xfrm>
            <a:off x="777240" y="2514600"/>
            <a:ext cx="320040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CAMPAIGN DETAILS</a:t>
            </a:r>
            <a:endParaRPr lang="en-US" sz="1100" dirty="0"/>
          </a:p>
        </p:txBody>
      </p:sp>
      <p:sp>
        <p:nvSpPr>
          <p:cNvPr id="7" name="Text 5"/>
          <p:cNvSpPr txBox="1"/>
          <p:nvPr/>
        </p:nvSpPr>
        <p:spPr>
          <a:xfrm>
            <a:off x="777240" y="288036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OBJECTIVE</a:t>
            </a:r>
            <a:endParaRPr lang="en-US" sz="1050" dirty="0"/>
          </a:p>
        </p:txBody>
      </p:sp>
      <p:sp>
        <p:nvSpPr>
          <p:cNvPr id="8" name="Text 6"/>
          <p:cNvSpPr txBox="1"/>
          <p:nvPr/>
        </p:nvSpPr>
        <p:spPr>
          <a:xfrm>
            <a:off x="2148840" y="288036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Leads</a:t>
            </a:r>
            <a:endParaRPr lang="en-US" sz="1250" dirty="0"/>
          </a:p>
        </p:txBody>
      </p:sp>
      <p:sp>
        <p:nvSpPr>
          <p:cNvPr id="9" name="Text 7"/>
          <p:cNvSpPr txBox="1"/>
          <p:nvPr/>
        </p:nvSpPr>
        <p:spPr>
          <a:xfrm>
            <a:off x="777240" y="338328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CONVERSION</a:t>
            </a:r>
            <a:endParaRPr lang="en-US" sz="1050" dirty="0"/>
          </a:p>
        </p:txBody>
      </p:sp>
      <p:sp>
        <p:nvSpPr>
          <p:cNvPr id="10" name="Text 8"/>
          <p:cNvSpPr txBox="1"/>
          <p:nvPr/>
        </p:nvSpPr>
        <p:spPr>
          <a:xfrm>
            <a:off x="2148840" y="338328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Call</a:t>
            </a:r>
            <a:endParaRPr lang="en-US" sz="1250" dirty="0"/>
          </a:p>
        </p:txBody>
      </p:sp>
      <p:sp>
        <p:nvSpPr>
          <p:cNvPr id="11" name="Text 9"/>
          <p:cNvSpPr txBox="1"/>
          <p:nvPr/>
        </p:nvSpPr>
        <p:spPr>
          <a:xfrm>
            <a:off x="777240" y="388620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PLACEMENT</a:t>
            </a:r>
            <a:endParaRPr lang="en-US" sz="1050" dirty="0"/>
          </a:p>
        </p:txBody>
      </p:sp>
      <p:sp>
        <p:nvSpPr>
          <p:cNvPr id="12" name="Text 10"/>
          <p:cNvSpPr txBox="1"/>
          <p:nvPr/>
        </p:nvSpPr>
        <p:spPr>
          <a:xfrm>
            <a:off x="2148840" y="388620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Facebook, Instagram</a:t>
            </a:r>
            <a:endParaRPr lang="en-US" sz="1250" dirty="0"/>
          </a:p>
        </p:txBody>
      </p:sp>
      <p:sp>
        <p:nvSpPr>
          <p:cNvPr id="13" name="Text 11"/>
          <p:cNvSpPr txBox="1"/>
          <p:nvPr/>
        </p:nvSpPr>
        <p:spPr>
          <a:xfrm>
            <a:off x="777240" y="438912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AGE</a:t>
            </a:r>
            <a:endParaRPr lang="en-US" sz="1050" dirty="0"/>
          </a:p>
        </p:txBody>
      </p:sp>
      <p:sp>
        <p:nvSpPr>
          <p:cNvPr id="14" name="Text 12"/>
          <p:cNvSpPr txBox="1"/>
          <p:nvPr/>
        </p:nvSpPr>
        <p:spPr>
          <a:xfrm>
            <a:off x="2148840" y="438912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25 – 45</a:t>
            </a:r>
            <a:endParaRPr lang="en-US" sz="1250" dirty="0"/>
          </a:p>
        </p:txBody>
      </p:sp>
      <p:sp>
        <p:nvSpPr>
          <p:cNvPr id="15" name="Text 13"/>
          <p:cNvSpPr txBox="1"/>
          <p:nvPr/>
        </p:nvSpPr>
        <p:spPr>
          <a:xfrm>
            <a:off x="777240" y="489204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GENDER</a:t>
            </a:r>
            <a:endParaRPr lang="en-US" sz="1050" dirty="0"/>
          </a:p>
        </p:txBody>
      </p:sp>
      <p:sp>
        <p:nvSpPr>
          <p:cNvPr id="16" name="Text 14"/>
          <p:cNvSpPr txBox="1"/>
          <p:nvPr/>
        </p:nvSpPr>
        <p:spPr>
          <a:xfrm>
            <a:off x="2148840" y="489204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Male &amp; Female</a:t>
            </a:r>
            <a:endParaRPr lang="en-US" sz="1250" dirty="0"/>
          </a:p>
        </p:txBody>
      </p:sp>
      <p:sp>
        <p:nvSpPr>
          <p:cNvPr id="17" name="Text 15"/>
          <p:cNvSpPr txBox="1"/>
          <p:nvPr/>
        </p:nvSpPr>
        <p:spPr>
          <a:xfrm>
            <a:off x="777240" y="539496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LOCATION</a:t>
            </a:r>
            <a:endParaRPr lang="en-US" sz="1050" dirty="0"/>
          </a:p>
        </p:txBody>
      </p:sp>
      <p:sp>
        <p:nvSpPr>
          <p:cNvPr id="18" name="Text 16"/>
          <p:cNvSpPr txBox="1"/>
          <p:nvPr/>
        </p:nvSpPr>
        <p:spPr>
          <a:xfrm>
            <a:off x="2148840" y="5394960"/>
            <a:ext cx="192024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Punjab</a:t>
            </a:r>
            <a:endParaRPr lang="en-US" sz="1250" dirty="0"/>
          </a:p>
        </p:txBody>
      </p:sp>
      <p:sp>
        <p:nvSpPr>
          <p:cNvPr id="19" name="Shape 17"/>
          <p:cNvSpPr/>
          <p:nvPr/>
        </p:nvSpPr>
        <p:spPr>
          <a:xfrm>
            <a:off x="4434840" y="2286000"/>
            <a:ext cx="3246120" cy="3749040"/>
          </a:xfrm>
          <a:prstGeom prst="roundRect">
            <a:avLst>
              <a:gd name="adj" fmla="val 309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0" name="Image 0" descr="img/bde33e5c67.png">    </p:cNvPr>
          <p:cNvPicPr>
            <a:picLocks noChangeAspect="1"/>
          </p:cNvPicPr>
          <p:nvPr/>
        </p:nvPicPr>
        <p:blipFill>
          <a:blip r:embed="rId1"/>
          <a:stretch>
            <a:fillRect/>
          </a:stretch>
        </p:blipFill>
        <p:spPr>
          <a:xfrm>
            <a:off x="4562856" y="2791191"/>
            <a:ext cx="2990088" cy="2738658"/>
          </a:xfrm>
          <a:prstGeom prst="rect">
            <a:avLst/>
          </a:prstGeom>
        </p:spPr>
      </p:pic>
      <p:sp>
        <p:nvSpPr>
          <p:cNvPr id="21" name="Shape 18"/>
          <p:cNvSpPr/>
          <p:nvPr/>
        </p:nvSpPr>
        <p:spPr>
          <a:xfrm>
            <a:off x="7909560" y="2286000"/>
            <a:ext cx="3703320" cy="3749040"/>
          </a:xfrm>
          <a:prstGeom prst="roundRect">
            <a:avLst>
              <a:gd name="adj" fmla="val 271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2" name="Image 1" descr="img/055b62cf0e.png">    </p:cNvPr>
          <p:cNvPicPr>
            <a:picLocks noChangeAspect="1"/>
          </p:cNvPicPr>
          <p:nvPr/>
        </p:nvPicPr>
        <p:blipFill>
          <a:blip r:embed="rId2"/>
          <a:stretch>
            <a:fillRect/>
          </a:stretch>
        </p:blipFill>
        <p:spPr>
          <a:xfrm>
            <a:off x="8037576" y="3522491"/>
            <a:ext cx="3447288" cy="1276057"/>
          </a:xfrm>
          <a:prstGeom prst="rect">
            <a:avLst/>
          </a:prstGeom>
        </p:spPr>
      </p:pic>
      <p:sp>
        <p:nvSpPr>
          <p:cNvPr id="23" name="Text 19"/>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4" name="Text 20"/>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FACEBOOK ADS</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Lead Generation — Single Image</a:t>
            </a:r>
            <a:endParaRPr lang="en-US" sz="3400" dirty="0"/>
          </a:p>
        </p:txBody>
      </p:sp>
      <p:sp>
        <p:nvSpPr>
          <p:cNvPr id="5" name="Shape 3"/>
          <p:cNvSpPr/>
          <p:nvPr/>
        </p:nvSpPr>
        <p:spPr>
          <a:xfrm>
            <a:off x="548640" y="2286000"/>
            <a:ext cx="3657600" cy="3749040"/>
          </a:xfrm>
          <a:prstGeom prst="roundRect">
            <a:avLst>
              <a:gd name="adj" fmla="val 2750"/>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Text 4"/>
          <p:cNvSpPr txBox="1"/>
          <p:nvPr/>
        </p:nvSpPr>
        <p:spPr>
          <a:xfrm>
            <a:off x="777240" y="2514600"/>
            <a:ext cx="320040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CAMPAIGN DETAILS</a:t>
            </a:r>
            <a:endParaRPr lang="en-US" sz="1100" dirty="0"/>
          </a:p>
        </p:txBody>
      </p:sp>
      <p:sp>
        <p:nvSpPr>
          <p:cNvPr id="7" name="Text 5"/>
          <p:cNvSpPr txBox="1"/>
          <p:nvPr/>
        </p:nvSpPr>
        <p:spPr>
          <a:xfrm>
            <a:off x="777240" y="288036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OBJECTIVE</a:t>
            </a:r>
            <a:endParaRPr lang="en-US" sz="1050" dirty="0"/>
          </a:p>
        </p:txBody>
      </p:sp>
      <p:sp>
        <p:nvSpPr>
          <p:cNvPr id="8" name="Text 6"/>
          <p:cNvSpPr txBox="1"/>
          <p:nvPr/>
        </p:nvSpPr>
        <p:spPr>
          <a:xfrm>
            <a:off x="2148840" y="2880360"/>
            <a:ext cx="1920240" cy="365760"/>
          </a:xfrm>
          <a:prstGeom prst="rect">
            <a:avLst/>
          </a:prstGeom>
          <a:noFill/>
          <a:ln/>
        </p:spPr>
        <p:txBody>
          <a:bodyPr wrap="square" lIns="0" tIns="0" rIns="0" bIns="0" rtlCol="0" anchor="ctr"/>
          <a:lstStyle/>
          <a:p>
            <a:pPr algn="l" indent="0" marL="0">
              <a:buNone/>
            </a:pPr>
            <a:r>
              <a:rPr lang="en-US" sz="1200" dirty="0">
                <a:solidFill>
                  <a:srgbClr val="1B2A3A"/>
                </a:solidFill>
                <a:latin typeface="Calibri" pitchFamily="34" charset="0"/>
                <a:ea typeface="Calibri" pitchFamily="34" charset="-122"/>
                <a:cs typeface="Calibri" pitchFamily="34" charset="-120"/>
              </a:rPr>
              <a:t>Leads</a:t>
            </a:r>
            <a:endParaRPr lang="en-US" sz="1200" dirty="0"/>
          </a:p>
        </p:txBody>
      </p:sp>
      <p:sp>
        <p:nvSpPr>
          <p:cNvPr id="9" name="Text 7"/>
          <p:cNvSpPr txBox="1"/>
          <p:nvPr/>
        </p:nvSpPr>
        <p:spPr>
          <a:xfrm>
            <a:off x="777240" y="338328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CONVERSION</a:t>
            </a:r>
            <a:endParaRPr lang="en-US" sz="1050" dirty="0"/>
          </a:p>
        </p:txBody>
      </p:sp>
      <p:sp>
        <p:nvSpPr>
          <p:cNvPr id="10" name="Text 8"/>
          <p:cNvSpPr txBox="1"/>
          <p:nvPr/>
        </p:nvSpPr>
        <p:spPr>
          <a:xfrm>
            <a:off x="2148840" y="3383280"/>
            <a:ext cx="1920240" cy="365760"/>
          </a:xfrm>
          <a:prstGeom prst="rect">
            <a:avLst/>
          </a:prstGeom>
          <a:noFill/>
          <a:ln/>
        </p:spPr>
        <p:txBody>
          <a:bodyPr wrap="square" lIns="0" tIns="0" rIns="0" bIns="0" rtlCol="0" anchor="ctr"/>
          <a:lstStyle/>
          <a:p>
            <a:pPr algn="l" indent="0" marL="0">
              <a:buNone/>
            </a:pPr>
            <a:r>
              <a:rPr lang="en-US" sz="1200" dirty="0">
                <a:solidFill>
                  <a:srgbClr val="1B2A3A"/>
                </a:solidFill>
                <a:latin typeface="Calibri" pitchFamily="34" charset="0"/>
                <a:ea typeface="Calibri" pitchFamily="34" charset="-122"/>
                <a:cs typeface="Calibri" pitchFamily="34" charset="-120"/>
              </a:rPr>
              <a:t>Website</a:t>
            </a:r>
            <a:endParaRPr lang="en-US" sz="1200" dirty="0"/>
          </a:p>
        </p:txBody>
      </p:sp>
      <p:sp>
        <p:nvSpPr>
          <p:cNvPr id="11" name="Text 9"/>
          <p:cNvSpPr txBox="1"/>
          <p:nvPr/>
        </p:nvSpPr>
        <p:spPr>
          <a:xfrm>
            <a:off x="777240" y="388620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PLACEMENT</a:t>
            </a:r>
            <a:endParaRPr lang="en-US" sz="1050" dirty="0"/>
          </a:p>
        </p:txBody>
      </p:sp>
      <p:sp>
        <p:nvSpPr>
          <p:cNvPr id="12" name="Text 10"/>
          <p:cNvSpPr txBox="1"/>
          <p:nvPr/>
        </p:nvSpPr>
        <p:spPr>
          <a:xfrm>
            <a:off x="2148840" y="3886200"/>
            <a:ext cx="1920240" cy="365760"/>
          </a:xfrm>
          <a:prstGeom prst="rect">
            <a:avLst/>
          </a:prstGeom>
          <a:noFill/>
          <a:ln/>
        </p:spPr>
        <p:txBody>
          <a:bodyPr wrap="square" lIns="0" tIns="0" rIns="0" bIns="0" rtlCol="0" anchor="ctr"/>
          <a:lstStyle/>
          <a:p>
            <a:pPr algn="l" indent="0" marL="0">
              <a:buNone/>
            </a:pPr>
            <a:r>
              <a:rPr lang="en-US" sz="1200" dirty="0">
                <a:solidFill>
                  <a:srgbClr val="1B2A3A"/>
                </a:solidFill>
                <a:latin typeface="Calibri" pitchFamily="34" charset="0"/>
                <a:ea typeface="Calibri" pitchFamily="34" charset="-122"/>
                <a:cs typeface="Calibri" pitchFamily="34" charset="-120"/>
              </a:rPr>
              <a:t>Facebook, Instagram</a:t>
            </a:r>
            <a:endParaRPr lang="en-US" sz="1200" dirty="0"/>
          </a:p>
        </p:txBody>
      </p:sp>
      <p:sp>
        <p:nvSpPr>
          <p:cNvPr id="13" name="Text 11"/>
          <p:cNvSpPr txBox="1"/>
          <p:nvPr/>
        </p:nvSpPr>
        <p:spPr>
          <a:xfrm>
            <a:off x="777240" y="438912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AGE</a:t>
            </a:r>
            <a:endParaRPr lang="en-US" sz="1050" dirty="0"/>
          </a:p>
        </p:txBody>
      </p:sp>
      <p:sp>
        <p:nvSpPr>
          <p:cNvPr id="14" name="Text 12"/>
          <p:cNvSpPr txBox="1"/>
          <p:nvPr/>
        </p:nvSpPr>
        <p:spPr>
          <a:xfrm>
            <a:off x="2148840" y="4389120"/>
            <a:ext cx="1920240" cy="365760"/>
          </a:xfrm>
          <a:prstGeom prst="rect">
            <a:avLst/>
          </a:prstGeom>
          <a:noFill/>
          <a:ln/>
        </p:spPr>
        <p:txBody>
          <a:bodyPr wrap="square" lIns="0" tIns="0" rIns="0" bIns="0" rtlCol="0" anchor="ctr"/>
          <a:lstStyle/>
          <a:p>
            <a:pPr algn="l" indent="0" marL="0">
              <a:buNone/>
            </a:pPr>
            <a:r>
              <a:rPr lang="en-US" sz="1200" dirty="0">
                <a:solidFill>
                  <a:srgbClr val="1B2A3A"/>
                </a:solidFill>
                <a:latin typeface="Calibri" pitchFamily="34" charset="0"/>
                <a:ea typeface="Calibri" pitchFamily="34" charset="-122"/>
                <a:cs typeface="Calibri" pitchFamily="34" charset="-120"/>
              </a:rPr>
              <a:t>21 – 35</a:t>
            </a:r>
            <a:endParaRPr lang="en-US" sz="1200" dirty="0"/>
          </a:p>
        </p:txBody>
      </p:sp>
      <p:sp>
        <p:nvSpPr>
          <p:cNvPr id="15" name="Text 13"/>
          <p:cNvSpPr txBox="1"/>
          <p:nvPr/>
        </p:nvSpPr>
        <p:spPr>
          <a:xfrm>
            <a:off x="777240" y="489204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GENDER</a:t>
            </a:r>
            <a:endParaRPr lang="en-US" sz="1050" dirty="0"/>
          </a:p>
        </p:txBody>
      </p:sp>
      <p:sp>
        <p:nvSpPr>
          <p:cNvPr id="16" name="Text 14"/>
          <p:cNvSpPr txBox="1"/>
          <p:nvPr/>
        </p:nvSpPr>
        <p:spPr>
          <a:xfrm>
            <a:off x="2148840" y="4892040"/>
            <a:ext cx="1920240" cy="365760"/>
          </a:xfrm>
          <a:prstGeom prst="rect">
            <a:avLst/>
          </a:prstGeom>
          <a:noFill/>
          <a:ln/>
        </p:spPr>
        <p:txBody>
          <a:bodyPr wrap="square" lIns="0" tIns="0" rIns="0" bIns="0" rtlCol="0" anchor="ctr"/>
          <a:lstStyle/>
          <a:p>
            <a:pPr algn="l" indent="0" marL="0">
              <a:buNone/>
            </a:pPr>
            <a:r>
              <a:rPr lang="en-US" sz="1200" dirty="0">
                <a:solidFill>
                  <a:srgbClr val="1B2A3A"/>
                </a:solidFill>
                <a:latin typeface="Calibri" pitchFamily="34" charset="0"/>
                <a:ea typeface="Calibri" pitchFamily="34" charset="-122"/>
                <a:cs typeface="Calibri" pitchFamily="34" charset="-120"/>
              </a:rPr>
              <a:t>Male &amp; Female</a:t>
            </a:r>
            <a:endParaRPr lang="en-US" sz="1200" dirty="0"/>
          </a:p>
        </p:txBody>
      </p:sp>
      <p:sp>
        <p:nvSpPr>
          <p:cNvPr id="17" name="Text 15"/>
          <p:cNvSpPr txBox="1"/>
          <p:nvPr/>
        </p:nvSpPr>
        <p:spPr>
          <a:xfrm>
            <a:off x="777240" y="5394960"/>
            <a:ext cx="137160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LOCATION</a:t>
            </a:r>
            <a:endParaRPr lang="en-US" sz="1050" dirty="0"/>
          </a:p>
        </p:txBody>
      </p:sp>
      <p:sp>
        <p:nvSpPr>
          <p:cNvPr id="18" name="Text 16"/>
          <p:cNvSpPr txBox="1"/>
          <p:nvPr/>
        </p:nvSpPr>
        <p:spPr>
          <a:xfrm>
            <a:off x="2148840" y="5394960"/>
            <a:ext cx="1920240" cy="365760"/>
          </a:xfrm>
          <a:prstGeom prst="rect">
            <a:avLst/>
          </a:prstGeom>
          <a:noFill/>
          <a:ln/>
        </p:spPr>
        <p:txBody>
          <a:bodyPr wrap="square" lIns="0" tIns="0" rIns="0" bIns="0" rtlCol="0" anchor="ctr"/>
          <a:lstStyle/>
          <a:p>
            <a:pPr algn="l" indent="0" marL="0">
              <a:buNone/>
            </a:pPr>
            <a:r>
              <a:rPr lang="en-US" sz="1200" dirty="0">
                <a:solidFill>
                  <a:srgbClr val="1B2A3A"/>
                </a:solidFill>
                <a:latin typeface="Calibri" pitchFamily="34" charset="0"/>
                <a:ea typeface="Calibri" pitchFamily="34" charset="-122"/>
                <a:cs typeface="Calibri" pitchFamily="34" charset="-120"/>
              </a:rPr>
              <a:t>Tier 1 &amp; Tier 2 India</a:t>
            </a:r>
            <a:endParaRPr lang="en-US" sz="1200" dirty="0"/>
          </a:p>
        </p:txBody>
      </p:sp>
      <p:sp>
        <p:nvSpPr>
          <p:cNvPr id="19" name="Shape 17"/>
          <p:cNvSpPr/>
          <p:nvPr/>
        </p:nvSpPr>
        <p:spPr>
          <a:xfrm>
            <a:off x="4434840" y="2286000"/>
            <a:ext cx="3429000" cy="374904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0" name="Image 0" descr="img/d07ec989cb.png">    </p:cNvPr>
          <p:cNvPicPr>
            <a:picLocks noChangeAspect="1"/>
          </p:cNvPicPr>
          <p:nvPr/>
        </p:nvPicPr>
        <p:blipFill>
          <a:blip r:embed="rId1"/>
          <a:stretch>
            <a:fillRect/>
          </a:stretch>
        </p:blipFill>
        <p:spPr>
          <a:xfrm>
            <a:off x="4562856" y="2479743"/>
            <a:ext cx="3172968" cy="3361555"/>
          </a:xfrm>
          <a:prstGeom prst="rect">
            <a:avLst/>
          </a:prstGeom>
        </p:spPr>
      </p:pic>
      <p:sp>
        <p:nvSpPr>
          <p:cNvPr id="21" name="Shape 18"/>
          <p:cNvSpPr/>
          <p:nvPr/>
        </p:nvSpPr>
        <p:spPr>
          <a:xfrm>
            <a:off x="8092440" y="2286000"/>
            <a:ext cx="3520440" cy="3749040"/>
          </a:xfrm>
          <a:prstGeom prst="roundRect">
            <a:avLst>
              <a:gd name="adj" fmla="val 285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2" name="Image 1" descr="img/2c5c3e1a7d.png">    </p:cNvPr>
          <p:cNvPicPr>
            <a:picLocks noChangeAspect="1"/>
          </p:cNvPicPr>
          <p:nvPr/>
        </p:nvPicPr>
        <p:blipFill>
          <a:blip r:embed="rId2"/>
          <a:stretch>
            <a:fillRect/>
          </a:stretch>
        </p:blipFill>
        <p:spPr>
          <a:xfrm>
            <a:off x="8220456" y="3402553"/>
            <a:ext cx="3264408" cy="1515933"/>
          </a:xfrm>
          <a:prstGeom prst="rect">
            <a:avLst/>
          </a:prstGeom>
        </p:spPr>
      </p:pic>
      <p:sp>
        <p:nvSpPr>
          <p:cNvPr id="23" name="Text 19"/>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4" name="Text 20"/>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INSTAGRAM ADS</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Profile-Visit Reel Campaign</a:t>
            </a:r>
            <a:endParaRPr lang="en-US" sz="3400" dirty="0"/>
          </a:p>
        </p:txBody>
      </p:sp>
      <p:sp>
        <p:nvSpPr>
          <p:cNvPr id="5" name="Shape 3"/>
          <p:cNvSpPr/>
          <p:nvPr/>
        </p:nvSpPr>
        <p:spPr>
          <a:xfrm>
            <a:off x="548640" y="2286000"/>
            <a:ext cx="3977640" cy="3749040"/>
          </a:xfrm>
          <a:prstGeom prst="roundRect">
            <a:avLst>
              <a:gd name="adj" fmla="val 268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Text 4"/>
          <p:cNvSpPr txBox="1"/>
          <p:nvPr/>
        </p:nvSpPr>
        <p:spPr>
          <a:xfrm>
            <a:off x="777240" y="2514600"/>
            <a:ext cx="320040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CAMPAIGN DETAILS</a:t>
            </a:r>
            <a:endParaRPr lang="en-US" sz="1100" dirty="0"/>
          </a:p>
        </p:txBody>
      </p:sp>
      <p:sp>
        <p:nvSpPr>
          <p:cNvPr id="7" name="Text 5"/>
          <p:cNvSpPr txBox="1"/>
          <p:nvPr/>
        </p:nvSpPr>
        <p:spPr>
          <a:xfrm>
            <a:off x="777240" y="2880360"/>
            <a:ext cx="146304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OBJECTIVE</a:t>
            </a:r>
            <a:endParaRPr lang="en-US" sz="1050" dirty="0"/>
          </a:p>
        </p:txBody>
      </p:sp>
      <p:sp>
        <p:nvSpPr>
          <p:cNvPr id="8" name="Text 6"/>
          <p:cNvSpPr txBox="1"/>
          <p:nvPr/>
        </p:nvSpPr>
        <p:spPr>
          <a:xfrm>
            <a:off x="2286000" y="2880360"/>
            <a:ext cx="210312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Profile Visits</a:t>
            </a:r>
            <a:endParaRPr lang="en-US" sz="1250" dirty="0"/>
          </a:p>
        </p:txBody>
      </p:sp>
      <p:sp>
        <p:nvSpPr>
          <p:cNvPr id="9" name="Text 7"/>
          <p:cNvSpPr txBox="1"/>
          <p:nvPr/>
        </p:nvSpPr>
        <p:spPr>
          <a:xfrm>
            <a:off x="777240" y="3337560"/>
            <a:ext cx="146304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PLACEMENT</a:t>
            </a:r>
            <a:endParaRPr lang="en-US" sz="1050" dirty="0"/>
          </a:p>
        </p:txBody>
      </p:sp>
      <p:sp>
        <p:nvSpPr>
          <p:cNvPr id="10" name="Text 8"/>
          <p:cNvSpPr txBox="1"/>
          <p:nvPr/>
        </p:nvSpPr>
        <p:spPr>
          <a:xfrm>
            <a:off x="2286000" y="3337560"/>
            <a:ext cx="210312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Instagram</a:t>
            </a:r>
            <a:endParaRPr lang="en-US" sz="1250" dirty="0"/>
          </a:p>
        </p:txBody>
      </p:sp>
      <p:sp>
        <p:nvSpPr>
          <p:cNvPr id="11" name="Text 9"/>
          <p:cNvSpPr txBox="1"/>
          <p:nvPr/>
        </p:nvSpPr>
        <p:spPr>
          <a:xfrm>
            <a:off x="777240" y="3794760"/>
            <a:ext cx="146304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AGE</a:t>
            </a:r>
            <a:endParaRPr lang="en-US" sz="1050" dirty="0"/>
          </a:p>
        </p:txBody>
      </p:sp>
      <p:sp>
        <p:nvSpPr>
          <p:cNvPr id="12" name="Text 10"/>
          <p:cNvSpPr txBox="1"/>
          <p:nvPr/>
        </p:nvSpPr>
        <p:spPr>
          <a:xfrm>
            <a:off x="2286000" y="3794760"/>
            <a:ext cx="210312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22 – 44</a:t>
            </a:r>
            <a:endParaRPr lang="en-US" sz="1250" dirty="0"/>
          </a:p>
        </p:txBody>
      </p:sp>
      <p:sp>
        <p:nvSpPr>
          <p:cNvPr id="13" name="Text 11"/>
          <p:cNvSpPr txBox="1"/>
          <p:nvPr/>
        </p:nvSpPr>
        <p:spPr>
          <a:xfrm>
            <a:off x="777240" y="4251960"/>
            <a:ext cx="146304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GENDER</a:t>
            </a:r>
            <a:endParaRPr lang="en-US" sz="1050" dirty="0"/>
          </a:p>
        </p:txBody>
      </p:sp>
      <p:sp>
        <p:nvSpPr>
          <p:cNvPr id="14" name="Text 12"/>
          <p:cNvSpPr txBox="1"/>
          <p:nvPr/>
        </p:nvSpPr>
        <p:spPr>
          <a:xfrm>
            <a:off x="2286000" y="4251960"/>
            <a:ext cx="210312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Male &amp; Female</a:t>
            </a:r>
            <a:endParaRPr lang="en-US" sz="1250" dirty="0"/>
          </a:p>
        </p:txBody>
      </p:sp>
      <p:sp>
        <p:nvSpPr>
          <p:cNvPr id="15" name="Text 13"/>
          <p:cNvSpPr txBox="1"/>
          <p:nvPr/>
        </p:nvSpPr>
        <p:spPr>
          <a:xfrm>
            <a:off x="777240" y="4709160"/>
            <a:ext cx="1463040" cy="365760"/>
          </a:xfrm>
          <a:prstGeom prst="rect">
            <a:avLst/>
          </a:prstGeom>
          <a:noFill/>
          <a:ln/>
        </p:spPr>
        <p:txBody>
          <a:bodyPr wrap="square" lIns="0" tIns="0" rIns="0" bIns="0" rtlCol="0" anchor="ctr"/>
          <a:lstStyle/>
          <a:p>
            <a:pPr algn="l" indent="0" marL="0">
              <a:buNone/>
            </a:pPr>
            <a:r>
              <a:rPr lang="en-US" sz="1050" b="1" spc="100" kern="0" dirty="0">
                <a:solidFill>
                  <a:srgbClr val="5F7183"/>
                </a:solidFill>
                <a:latin typeface="Calibri" pitchFamily="34" charset="0"/>
                <a:ea typeface="Calibri" pitchFamily="34" charset="-122"/>
                <a:cs typeface="Calibri" pitchFamily="34" charset="-120"/>
              </a:rPr>
              <a:t>LOCATION</a:t>
            </a:r>
            <a:endParaRPr lang="en-US" sz="1050" dirty="0"/>
          </a:p>
        </p:txBody>
      </p:sp>
      <p:sp>
        <p:nvSpPr>
          <p:cNvPr id="16" name="Text 14"/>
          <p:cNvSpPr txBox="1"/>
          <p:nvPr/>
        </p:nvSpPr>
        <p:spPr>
          <a:xfrm>
            <a:off x="2286000" y="4709160"/>
            <a:ext cx="2103120" cy="365760"/>
          </a:xfrm>
          <a:prstGeom prst="rect">
            <a:avLst/>
          </a:prstGeom>
          <a:noFill/>
          <a:ln/>
        </p:spPr>
        <p:txBody>
          <a:bodyPr wrap="square" lIns="0" tIns="0" rIns="0" bIns="0" rtlCol="0" anchor="ctr"/>
          <a:lstStyle/>
          <a:p>
            <a:pPr algn="l" indent="0" marL="0">
              <a:buNone/>
            </a:pPr>
            <a:r>
              <a:rPr lang="en-US" sz="1250" dirty="0">
                <a:solidFill>
                  <a:srgbClr val="1B2A3A"/>
                </a:solidFill>
                <a:latin typeface="Calibri" pitchFamily="34" charset="0"/>
                <a:ea typeface="Calibri" pitchFamily="34" charset="-122"/>
                <a:cs typeface="Calibri" pitchFamily="34" charset="-120"/>
              </a:rPr>
              <a:t>Kolkata</a:t>
            </a:r>
            <a:endParaRPr lang="en-US" sz="1250" dirty="0"/>
          </a:p>
        </p:txBody>
      </p:sp>
      <p:sp>
        <p:nvSpPr>
          <p:cNvPr id="17" name="Shape 15"/>
          <p:cNvSpPr/>
          <p:nvPr/>
        </p:nvSpPr>
        <p:spPr>
          <a:xfrm>
            <a:off x="777240" y="5029200"/>
            <a:ext cx="3520440" cy="0"/>
          </a:xfrm>
          <a:prstGeom prst="line">
            <a:avLst/>
          </a:prstGeom>
          <a:noFill/>
          <a:ln w="12700">
            <a:solidFill>
              <a:srgbClr val="DCE4EC"/>
            </a:solidFill>
            <a:prstDash val="solid"/>
          </a:ln>
        </p:spPr>
      </p:sp>
      <p:sp>
        <p:nvSpPr>
          <p:cNvPr id="18" name="Text 16"/>
          <p:cNvSpPr txBox="1"/>
          <p:nvPr/>
        </p:nvSpPr>
        <p:spPr>
          <a:xfrm>
            <a:off x="777240" y="5166360"/>
            <a:ext cx="1188720" cy="365760"/>
          </a:xfrm>
          <a:prstGeom prst="rect">
            <a:avLst/>
          </a:prstGeom>
          <a:noFill/>
          <a:ln/>
        </p:spPr>
        <p:txBody>
          <a:bodyPr wrap="square" lIns="0" tIns="0" rIns="0" bIns="0" rtlCol="0" anchor="ctr"/>
          <a:lstStyle/>
          <a:p>
            <a:pPr algn="l" indent="0" marL="0">
              <a:buNone/>
            </a:pPr>
            <a:r>
              <a:rPr lang="en-US" sz="1600" b="1" dirty="0">
                <a:solidFill>
                  <a:srgbClr val="1668B8"/>
                </a:solidFill>
                <a:latin typeface="Calibri" pitchFamily="34" charset="0"/>
                <a:ea typeface="Calibri" pitchFamily="34" charset="-122"/>
                <a:cs typeface="Calibri" pitchFamily="34" charset="-120"/>
              </a:rPr>
              <a:t>1,03,380</a:t>
            </a:r>
            <a:endParaRPr lang="en-US" sz="1600" dirty="0"/>
          </a:p>
        </p:txBody>
      </p:sp>
      <p:sp>
        <p:nvSpPr>
          <p:cNvPr id="19" name="Text 17"/>
          <p:cNvSpPr txBox="1"/>
          <p:nvPr/>
        </p:nvSpPr>
        <p:spPr>
          <a:xfrm>
            <a:off x="777240" y="5532120"/>
            <a:ext cx="1188720" cy="32004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Reel views</a:t>
            </a:r>
            <a:endParaRPr lang="en-US" sz="950" dirty="0"/>
          </a:p>
        </p:txBody>
      </p:sp>
      <p:sp>
        <p:nvSpPr>
          <p:cNvPr id="20" name="Text 18"/>
          <p:cNvSpPr txBox="1"/>
          <p:nvPr/>
        </p:nvSpPr>
        <p:spPr>
          <a:xfrm>
            <a:off x="1965960" y="5166360"/>
            <a:ext cx="1188720" cy="365760"/>
          </a:xfrm>
          <a:prstGeom prst="rect">
            <a:avLst/>
          </a:prstGeom>
          <a:noFill/>
          <a:ln/>
        </p:spPr>
        <p:txBody>
          <a:bodyPr wrap="square" lIns="0" tIns="0" rIns="0" bIns="0" rtlCol="0" anchor="ctr"/>
          <a:lstStyle/>
          <a:p>
            <a:pPr algn="l" indent="0" marL="0">
              <a:buNone/>
            </a:pPr>
            <a:r>
              <a:rPr lang="en-US" sz="1600" b="1" dirty="0">
                <a:solidFill>
                  <a:srgbClr val="1668B8"/>
                </a:solidFill>
                <a:latin typeface="Calibri" pitchFamily="34" charset="0"/>
                <a:ea typeface="Calibri" pitchFamily="34" charset="-122"/>
                <a:cs typeface="Calibri" pitchFamily="34" charset="-120"/>
              </a:rPr>
              <a:t>456</a:t>
            </a:r>
            <a:endParaRPr lang="en-US" sz="1600" dirty="0"/>
          </a:p>
        </p:txBody>
      </p:sp>
      <p:sp>
        <p:nvSpPr>
          <p:cNvPr id="21" name="Text 19"/>
          <p:cNvSpPr txBox="1"/>
          <p:nvPr/>
        </p:nvSpPr>
        <p:spPr>
          <a:xfrm>
            <a:off x="1965960" y="5532120"/>
            <a:ext cx="1188720" cy="32004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Link clicks</a:t>
            </a:r>
            <a:endParaRPr lang="en-US" sz="950" dirty="0"/>
          </a:p>
        </p:txBody>
      </p:sp>
      <p:sp>
        <p:nvSpPr>
          <p:cNvPr id="22" name="Text 20"/>
          <p:cNvSpPr txBox="1"/>
          <p:nvPr/>
        </p:nvSpPr>
        <p:spPr>
          <a:xfrm>
            <a:off x="3154680" y="5166360"/>
            <a:ext cx="1188720" cy="365760"/>
          </a:xfrm>
          <a:prstGeom prst="rect">
            <a:avLst/>
          </a:prstGeom>
          <a:noFill/>
          <a:ln/>
        </p:spPr>
        <p:txBody>
          <a:bodyPr wrap="square" lIns="0" tIns="0" rIns="0" bIns="0" rtlCol="0" anchor="ctr"/>
          <a:lstStyle/>
          <a:p>
            <a:pPr algn="l" indent="0" marL="0">
              <a:buNone/>
            </a:pPr>
            <a:r>
              <a:rPr lang="en-US" sz="1600" b="1" dirty="0">
                <a:solidFill>
                  <a:srgbClr val="1668B8"/>
                </a:solidFill>
                <a:latin typeface="Calibri" pitchFamily="34" charset="0"/>
                <a:ea typeface="Calibri" pitchFamily="34" charset="-122"/>
                <a:cs typeface="Calibri" pitchFamily="34" charset="-120"/>
              </a:rPr>
              <a:t>313</a:t>
            </a:r>
            <a:endParaRPr lang="en-US" sz="1600" dirty="0"/>
          </a:p>
        </p:txBody>
      </p:sp>
      <p:sp>
        <p:nvSpPr>
          <p:cNvPr id="23" name="Text 21"/>
          <p:cNvSpPr txBox="1"/>
          <p:nvPr/>
        </p:nvSpPr>
        <p:spPr>
          <a:xfrm>
            <a:off x="3154680" y="5532120"/>
            <a:ext cx="1188720" cy="32004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Profile visits</a:t>
            </a:r>
            <a:endParaRPr lang="en-US" sz="950" dirty="0"/>
          </a:p>
        </p:txBody>
      </p:sp>
      <p:sp>
        <p:nvSpPr>
          <p:cNvPr id="24" name="Shape 22"/>
          <p:cNvSpPr/>
          <p:nvPr/>
        </p:nvSpPr>
        <p:spPr>
          <a:xfrm>
            <a:off x="4754880" y="2286000"/>
            <a:ext cx="3291840" cy="3749040"/>
          </a:xfrm>
          <a:prstGeom prst="roundRect">
            <a:avLst>
              <a:gd name="adj" fmla="val 3056"/>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5" name="Image 0" descr="img/70198311bc.png">    </p:cNvPr>
          <p:cNvPicPr>
            <a:picLocks noChangeAspect="1"/>
          </p:cNvPicPr>
          <p:nvPr/>
        </p:nvPicPr>
        <p:blipFill>
          <a:blip r:embed="rId1"/>
          <a:stretch>
            <a:fillRect/>
          </a:stretch>
        </p:blipFill>
        <p:spPr>
          <a:xfrm>
            <a:off x="5379425" y="2395728"/>
            <a:ext cx="2042751" cy="3529584"/>
          </a:xfrm>
          <a:prstGeom prst="rect">
            <a:avLst/>
          </a:prstGeom>
        </p:spPr>
      </p:pic>
      <p:sp>
        <p:nvSpPr>
          <p:cNvPr id="26" name="Shape 23"/>
          <p:cNvSpPr/>
          <p:nvPr/>
        </p:nvSpPr>
        <p:spPr>
          <a:xfrm>
            <a:off x="8229600" y="2286000"/>
            <a:ext cx="3383280" cy="3749040"/>
          </a:xfrm>
          <a:prstGeom prst="roundRect">
            <a:avLst>
              <a:gd name="adj" fmla="val 297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7" name="Image 1" descr="img/a43eeb3c95.png">    </p:cNvPr>
          <p:cNvPicPr>
            <a:picLocks noChangeAspect="1"/>
          </p:cNvPicPr>
          <p:nvPr/>
        </p:nvPicPr>
        <p:blipFill>
          <a:blip r:embed="rId2"/>
          <a:stretch>
            <a:fillRect/>
          </a:stretch>
        </p:blipFill>
        <p:spPr>
          <a:xfrm>
            <a:off x="8898435" y="2395728"/>
            <a:ext cx="2045611" cy="3529584"/>
          </a:xfrm>
          <a:prstGeom prst="rect">
            <a:avLst/>
          </a:prstGeom>
        </p:spPr>
      </p:pic>
      <p:sp>
        <p:nvSpPr>
          <p:cNvPr id="28" name="Text 24"/>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9" name="Text 25"/>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LINKEDIN ADS</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LinkedIn Advertising</a:t>
            </a:r>
            <a:endParaRPr lang="en-US" sz="3400" dirty="0"/>
          </a:p>
        </p:txBody>
      </p:sp>
      <p:sp>
        <p:nvSpPr>
          <p:cNvPr id="5" name="Shape 3"/>
          <p:cNvSpPr/>
          <p:nvPr/>
        </p:nvSpPr>
        <p:spPr>
          <a:xfrm>
            <a:off x="548640" y="2240280"/>
            <a:ext cx="3063240" cy="3794760"/>
          </a:xfrm>
          <a:prstGeom prst="roundRect">
            <a:avLst>
              <a:gd name="adj" fmla="val 3284"/>
            </a:avLst>
          </a:prstGeom>
          <a:solidFill>
            <a:srgbClr val="E8F1FB"/>
          </a:solidFill>
          <a:ln/>
          <a:effectLst>
            <a:outerShdw sx="100000" sy="100000" kx="0" ky="0" algn="bl" rotWithShape="0" blurRad="127000" dist="50800" dir="5400000">
              <a:srgbClr val="32506e">
                <a:alpha val="16000"/>
              </a:srgbClr>
            </a:outerShdw>
          </a:effectLst>
        </p:spPr>
      </p:sp>
      <p:sp>
        <p:nvSpPr>
          <p:cNvPr id="6" name="Text 4"/>
          <p:cNvSpPr txBox="1"/>
          <p:nvPr/>
        </p:nvSpPr>
        <p:spPr>
          <a:xfrm>
            <a:off x="777240" y="2468880"/>
            <a:ext cx="2651760" cy="274320"/>
          </a:xfrm>
          <a:prstGeom prst="rect">
            <a:avLst/>
          </a:prstGeom>
          <a:noFill/>
          <a:ln/>
        </p:spPr>
        <p:txBody>
          <a:bodyPr wrap="square" lIns="0" tIns="0" rIns="0" bIns="0" rtlCol="0" anchor="ctr"/>
          <a:lstStyle/>
          <a:p>
            <a:pPr algn="l" indent="0" marL="0">
              <a:buNone/>
            </a:pPr>
            <a:r>
              <a:rPr lang="en-US" sz="1100" b="1" spc="150" kern="0" dirty="0">
                <a:solidFill>
                  <a:srgbClr val="1668B8"/>
                </a:solidFill>
                <a:latin typeface="Calibri" pitchFamily="34" charset="0"/>
                <a:ea typeface="Calibri" pitchFamily="34" charset="-122"/>
                <a:cs typeface="Calibri" pitchFamily="34" charset="-120"/>
              </a:rPr>
              <a:t>OUTREACH — SALES</a:t>
            </a:r>
            <a:endParaRPr lang="en-US" sz="1100" dirty="0"/>
          </a:p>
        </p:txBody>
      </p:sp>
      <p:sp>
        <p:nvSpPr>
          <p:cNvPr id="7" name="Text 5"/>
          <p:cNvSpPr txBox="1"/>
          <p:nvPr/>
        </p:nvSpPr>
        <p:spPr>
          <a:xfrm>
            <a:off x="777240" y="2788920"/>
            <a:ext cx="2651760" cy="640080"/>
          </a:xfrm>
          <a:prstGeom prst="rect">
            <a:avLst/>
          </a:prstGeom>
          <a:noFill/>
          <a:ln/>
        </p:spPr>
        <p:txBody>
          <a:bodyPr wrap="square" lIns="0" tIns="0" rIns="0" bIns="0" rtlCol="0" anchor="ctr"/>
          <a:lstStyle/>
          <a:p>
            <a:pPr algn="l" indent="0" marL="0">
              <a:buNone/>
            </a:pPr>
            <a:r>
              <a:rPr lang="en-US" sz="3200" b="1" dirty="0">
                <a:solidFill>
                  <a:srgbClr val="0E2A47"/>
                </a:solidFill>
                <a:latin typeface="Calibri" pitchFamily="34" charset="0"/>
                <a:ea typeface="Calibri" pitchFamily="34" charset="-122"/>
                <a:cs typeface="Calibri" pitchFamily="34" charset="-120"/>
              </a:rPr>
              <a:t>Rs 900</a:t>
            </a:r>
            <a:endParaRPr lang="en-US" sz="3200" dirty="0"/>
          </a:p>
        </p:txBody>
      </p:sp>
      <p:sp>
        <p:nvSpPr>
          <p:cNvPr id="8" name="Text 6"/>
          <p:cNvSpPr txBox="1"/>
          <p:nvPr/>
        </p:nvSpPr>
        <p:spPr>
          <a:xfrm>
            <a:off x="795528" y="3401568"/>
            <a:ext cx="2651760" cy="274320"/>
          </a:xfrm>
          <a:prstGeom prst="rect">
            <a:avLst/>
          </a:prstGeom>
          <a:noFill/>
          <a:ln/>
        </p:spPr>
        <p:txBody>
          <a:bodyPr wrap="square" lIns="0" tIns="0" rIns="0" bIns="0" rtlCol="0" anchor="ctr"/>
          <a:lstStyle/>
          <a:p>
            <a:pPr algn="l" indent="0" marL="0">
              <a:buNone/>
            </a:pPr>
            <a:r>
              <a:rPr lang="en-US" sz="1100" dirty="0">
                <a:solidFill>
                  <a:srgbClr val="5F7183"/>
                </a:solidFill>
                <a:latin typeface="Calibri" pitchFamily="34" charset="0"/>
                <a:ea typeface="Calibri" pitchFamily="34" charset="-122"/>
                <a:cs typeface="Calibri" pitchFamily="34" charset="-120"/>
              </a:rPr>
              <a:t>daily budget</a:t>
            </a:r>
            <a:endParaRPr lang="en-US" sz="1100" dirty="0"/>
          </a:p>
        </p:txBody>
      </p:sp>
      <p:sp>
        <p:nvSpPr>
          <p:cNvPr id="9" name="Shape 7"/>
          <p:cNvSpPr/>
          <p:nvPr/>
        </p:nvSpPr>
        <p:spPr>
          <a:xfrm>
            <a:off x="777240" y="3840480"/>
            <a:ext cx="2606040" cy="0"/>
          </a:xfrm>
          <a:prstGeom prst="line">
            <a:avLst/>
          </a:prstGeom>
          <a:noFill/>
          <a:ln w="12700">
            <a:solidFill>
              <a:srgbClr val="C9D6E5"/>
            </a:solidFill>
            <a:prstDash val="solid"/>
          </a:ln>
        </p:spPr>
      </p:sp>
      <p:sp>
        <p:nvSpPr>
          <p:cNvPr id="10" name="Text 8"/>
          <p:cNvSpPr txBox="1"/>
          <p:nvPr/>
        </p:nvSpPr>
        <p:spPr>
          <a:xfrm>
            <a:off x="777240" y="3977640"/>
            <a:ext cx="2651760" cy="822960"/>
          </a:xfrm>
          <a:prstGeom prst="rect">
            <a:avLst/>
          </a:prstGeom>
          <a:noFill/>
          <a:ln/>
        </p:spPr>
        <p:txBody>
          <a:bodyPr wrap="square" lIns="0" tIns="0" rIns="0" bIns="0" rtlCol="0" anchor="t"/>
          <a:lstStyle/>
          <a:p>
            <a:pPr algn="l" indent="0" marL="0">
              <a:lnSpc>
                <a:spcPct val="120000"/>
              </a:lnSpc>
              <a:buNone/>
            </a:pPr>
            <a:r>
              <a:rPr lang="en-US" sz="1100" dirty="0">
                <a:solidFill>
                  <a:srgbClr val="5F7183"/>
                </a:solidFill>
                <a:latin typeface="Calibri" pitchFamily="34" charset="0"/>
                <a:ea typeface="Calibri" pitchFamily="34" charset="-122"/>
                <a:cs typeface="Calibri" pitchFamily="34" charset="-120"/>
              </a:rPr>
              <a:t>Goal
</a:t>
            </a:r>
            <a:pPr algn="l" indent="0" marL="0">
              <a:lnSpc>
                <a:spcPct val="120000"/>
              </a:lnSpc>
              <a:buNone/>
            </a:pPr>
            <a:r>
              <a:rPr lang="en-US" sz="1400" b="1" dirty="0">
                <a:solidFill>
                  <a:srgbClr val="1B2A3A"/>
                </a:solidFill>
                <a:latin typeface="Calibri" pitchFamily="34" charset="0"/>
                <a:ea typeface="Calibri" pitchFamily="34" charset="-122"/>
                <a:cs typeface="Calibri" pitchFamily="34" charset="-120"/>
              </a:rPr>
              <a:t>Website Visits</a:t>
            </a:r>
            <a:endParaRPr lang="en-US" sz="1100" dirty="0"/>
          </a:p>
        </p:txBody>
      </p:sp>
      <p:sp>
        <p:nvSpPr>
          <p:cNvPr id="11" name="Shape 9"/>
          <p:cNvSpPr/>
          <p:nvPr/>
        </p:nvSpPr>
        <p:spPr>
          <a:xfrm>
            <a:off x="3794760" y="2240280"/>
            <a:ext cx="3063240" cy="3794760"/>
          </a:xfrm>
          <a:prstGeom prst="roundRect">
            <a:avLst>
              <a:gd name="adj" fmla="val 3284"/>
            </a:avLst>
          </a:prstGeom>
          <a:solidFill>
            <a:srgbClr val="0E2A47"/>
          </a:solidFill>
          <a:ln/>
          <a:effectLst>
            <a:outerShdw sx="100000" sy="100000" kx="0" ky="0" algn="bl" rotWithShape="0" blurRad="127000" dist="50800" dir="5400000">
              <a:srgbClr val="32506e">
                <a:alpha val="16000"/>
              </a:srgbClr>
            </a:outerShdw>
          </a:effectLst>
        </p:spPr>
      </p:sp>
      <p:sp>
        <p:nvSpPr>
          <p:cNvPr id="12" name="Text 10"/>
          <p:cNvSpPr txBox="1"/>
          <p:nvPr/>
        </p:nvSpPr>
        <p:spPr>
          <a:xfrm>
            <a:off x="4023360" y="2468880"/>
            <a:ext cx="2651760" cy="274320"/>
          </a:xfrm>
          <a:prstGeom prst="rect">
            <a:avLst/>
          </a:prstGeom>
          <a:noFill/>
          <a:ln/>
        </p:spPr>
        <p:txBody>
          <a:bodyPr wrap="square" lIns="0" tIns="0" rIns="0" bIns="0" rtlCol="0" anchor="ctr"/>
          <a:lstStyle/>
          <a:p>
            <a:pPr algn="l" indent="0" marL="0">
              <a:buNone/>
            </a:pPr>
            <a:r>
              <a:rPr lang="en-US" sz="1100" b="1" spc="150" kern="0" dirty="0">
                <a:solidFill>
                  <a:srgbClr val="F5A623"/>
                </a:solidFill>
                <a:latin typeface="Calibri" pitchFamily="34" charset="0"/>
                <a:ea typeface="Calibri" pitchFamily="34" charset="-122"/>
                <a:cs typeface="Calibri" pitchFamily="34" charset="-120"/>
              </a:rPr>
              <a:t>LEAD GENERATION</a:t>
            </a:r>
            <a:endParaRPr lang="en-US" sz="1100" dirty="0"/>
          </a:p>
        </p:txBody>
      </p:sp>
      <p:sp>
        <p:nvSpPr>
          <p:cNvPr id="13" name="Text 11"/>
          <p:cNvSpPr txBox="1"/>
          <p:nvPr/>
        </p:nvSpPr>
        <p:spPr>
          <a:xfrm>
            <a:off x="4023360" y="2788920"/>
            <a:ext cx="2651760" cy="64008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26</a:t>
            </a:r>
            <a:endParaRPr lang="en-US" sz="4000" dirty="0"/>
          </a:p>
        </p:txBody>
      </p:sp>
      <p:sp>
        <p:nvSpPr>
          <p:cNvPr id="14" name="Text 12"/>
          <p:cNvSpPr txBox="1"/>
          <p:nvPr/>
        </p:nvSpPr>
        <p:spPr>
          <a:xfrm>
            <a:off x="4041648" y="3456432"/>
            <a:ext cx="2651760" cy="274320"/>
          </a:xfrm>
          <a:prstGeom prst="rect">
            <a:avLst/>
          </a:prstGeom>
          <a:noFill/>
          <a:ln/>
        </p:spPr>
        <p:txBody>
          <a:bodyPr wrap="square" lIns="0" tIns="0" rIns="0" bIns="0" rtlCol="0" anchor="ctr"/>
          <a:lstStyle/>
          <a:p>
            <a:pPr algn="l" indent="0" marL="0">
              <a:buNone/>
            </a:pPr>
            <a:r>
              <a:rPr lang="en-US" sz="1100" dirty="0">
                <a:solidFill>
                  <a:srgbClr val="C9D6E5"/>
                </a:solidFill>
                <a:latin typeface="Calibri" pitchFamily="34" charset="0"/>
                <a:ea typeface="Calibri" pitchFamily="34" charset="-122"/>
                <a:cs typeface="Calibri" pitchFamily="34" charset="-120"/>
              </a:rPr>
              <a:t>total leads</a:t>
            </a:r>
            <a:endParaRPr lang="en-US" sz="1100" dirty="0"/>
          </a:p>
        </p:txBody>
      </p:sp>
      <p:sp>
        <p:nvSpPr>
          <p:cNvPr id="15" name="Shape 13"/>
          <p:cNvSpPr/>
          <p:nvPr/>
        </p:nvSpPr>
        <p:spPr>
          <a:xfrm>
            <a:off x="4023360" y="3840480"/>
            <a:ext cx="2606040" cy="0"/>
          </a:xfrm>
          <a:prstGeom prst="line">
            <a:avLst/>
          </a:prstGeom>
          <a:noFill/>
          <a:ln w="12700">
            <a:solidFill>
              <a:srgbClr val="33507A"/>
            </a:solidFill>
            <a:prstDash val="solid"/>
          </a:ln>
        </p:spPr>
      </p:sp>
      <p:sp>
        <p:nvSpPr>
          <p:cNvPr id="16" name="Text 14"/>
          <p:cNvSpPr txBox="1"/>
          <p:nvPr/>
        </p:nvSpPr>
        <p:spPr>
          <a:xfrm>
            <a:off x="4023360" y="3977640"/>
            <a:ext cx="2651760" cy="1371600"/>
          </a:xfrm>
          <a:prstGeom prst="rect">
            <a:avLst/>
          </a:prstGeom>
          <a:noFill/>
          <a:ln/>
        </p:spPr>
        <p:txBody>
          <a:bodyPr wrap="square" lIns="0" tIns="0" rIns="0" bIns="0" rtlCol="0" anchor="t"/>
          <a:lstStyle/>
          <a:p>
            <a:pPr algn="l" indent="0" marL="0">
              <a:lnSpc>
                <a:spcPct val="150000"/>
              </a:lnSpc>
              <a:buNone/>
            </a:pPr>
            <a:r>
              <a:rPr lang="en-US" sz="1200" dirty="0">
                <a:solidFill>
                  <a:srgbClr val="9FB4CC"/>
                </a:solidFill>
                <a:latin typeface="Calibri" pitchFamily="34" charset="0"/>
                <a:ea typeface="Calibri" pitchFamily="34" charset="-122"/>
                <a:cs typeface="Calibri" pitchFamily="34" charset="-120"/>
              </a:rPr>
              <a:t>Daily budget  </a:t>
            </a:r>
            <a:pPr algn="l" indent="0" marL="0">
              <a:lnSpc>
                <a:spcPct val="150000"/>
              </a:lnSpc>
              <a:buNone/>
            </a:pPr>
            <a:r>
              <a:rPr lang="en-US" sz="1300" b="1" dirty="0">
                <a:solidFill>
                  <a:srgbClr val="FFFFFF"/>
                </a:solidFill>
                <a:latin typeface="Calibri" pitchFamily="34" charset="0"/>
                <a:ea typeface="Calibri" pitchFamily="34" charset="-122"/>
                <a:cs typeface="Calibri" pitchFamily="34" charset="-120"/>
              </a:rPr>
              <a:t>Rs 500
</a:t>
            </a:r>
            <a:pPr algn="l" indent="0" marL="0">
              <a:lnSpc>
                <a:spcPct val="150000"/>
              </a:lnSpc>
              <a:buNone/>
            </a:pPr>
            <a:r>
              <a:rPr lang="en-US" sz="1200" dirty="0">
                <a:solidFill>
                  <a:srgbClr val="9FB4CC"/>
                </a:solidFill>
                <a:latin typeface="Calibri" pitchFamily="34" charset="0"/>
                <a:ea typeface="Calibri" pitchFamily="34" charset="-122"/>
                <a:cs typeface="Calibri" pitchFamily="34" charset="-120"/>
              </a:rPr>
              <a:t>Total spent  </a:t>
            </a:r>
            <a:pPr algn="l" indent="0" marL="0">
              <a:lnSpc>
                <a:spcPct val="150000"/>
              </a:lnSpc>
              <a:buNone/>
            </a:pPr>
            <a:r>
              <a:rPr lang="en-US" sz="1300" b="1" dirty="0">
                <a:solidFill>
                  <a:srgbClr val="FFFFFF"/>
                </a:solidFill>
                <a:latin typeface="Calibri" pitchFamily="34" charset="0"/>
                <a:ea typeface="Calibri" pitchFamily="34" charset="-122"/>
                <a:cs typeface="Calibri" pitchFamily="34" charset="-120"/>
              </a:rPr>
              <a:t>Rs 4,289</a:t>
            </a:r>
            <a:endParaRPr lang="en-US" sz="1200" dirty="0"/>
          </a:p>
        </p:txBody>
      </p:sp>
      <p:sp>
        <p:nvSpPr>
          <p:cNvPr id="17" name="Shape 15"/>
          <p:cNvSpPr/>
          <p:nvPr/>
        </p:nvSpPr>
        <p:spPr>
          <a:xfrm>
            <a:off x="7040880" y="2240280"/>
            <a:ext cx="4572000" cy="3794760"/>
          </a:xfrm>
          <a:prstGeom prst="roundRect">
            <a:avLst>
              <a:gd name="adj" fmla="val 265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8" name="Image 0" descr="img/da61a34a8a.png">    </p:cNvPr>
          <p:cNvPicPr>
            <a:picLocks noChangeAspect="1"/>
          </p:cNvPicPr>
          <p:nvPr/>
        </p:nvPicPr>
        <p:blipFill>
          <a:blip r:embed="rId1"/>
          <a:stretch>
            <a:fillRect/>
          </a:stretch>
        </p:blipFill>
        <p:spPr>
          <a:xfrm>
            <a:off x="7168896" y="3184550"/>
            <a:ext cx="4315968" cy="1906219"/>
          </a:xfrm>
          <a:prstGeom prst="rect">
            <a:avLst/>
          </a:prstGeom>
        </p:spPr>
      </p:pic>
      <p:sp>
        <p:nvSpPr>
          <p:cNvPr id="19" name="Text 1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0" name="Text 1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VIDEO ADVERTISING</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YouTube Ads</a:t>
            </a:r>
            <a:endParaRPr lang="en-US" sz="3400" dirty="0"/>
          </a:p>
        </p:txBody>
      </p:sp>
      <p:sp>
        <p:nvSpPr>
          <p:cNvPr id="5" name="Text 3"/>
          <p:cNvSpPr txBox="1"/>
          <p:nvPr/>
        </p:nvSpPr>
        <p:spPr>
          <a:xfrm>
            <a:off x="548640" y="2011680"/>
            <a:ext cx="7315200" cy="36576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Video campaigns built for reach, views, and qualified traffic.</a:t>
            </a:r>
            <a:endParaRPr lang="en-US" sz="1400" dirty="0"/>
          </a:p>
        </p:txBody>
      </p:sp>
      <p:sp>
        <p:nvSpPr>
          <p:cNvPr id="6" name="Shape 4"/>
          <p:cNvSpPr/>
          <p:nvPr/>
        </p:nvSpPr>
        <p:spPr>
          <a:xfrm>
            <a:off x="2249215" y="2514600"/>
            <a:ext cx="7693265" cy="3858768"/>
          </a:xfrm>
          <a:prstGeom prst="roundRect">
            <a:avLst>
              <a:gd name="adj" fmla="val 2607"/>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da57efaf71.png">    </p:cNvPr>
          <p:cNvPicPr>
            <a:picLocks noChangeAspect="1"/>
          </p:cNvPicPr>
          <p:nvPr/>
        </p:nvPicPr>
        <p:blipFill>
          <a:blip r:embed="rId1"/>
          <a:stretch>
            <a:fillRect/>
          </a:stretch>
        </p:blipFill>
        <p:spPr>
          <a:xfrm>
            <a:off x="2395519" y="2660904"/>
            <a:ext cx="7400657" cy="3566160"/>
          </a:xfrm>
          <a:prstGeom prst="rect">
            <a:avLst/>
          </a:prstGeom>
        </p:spPr>
      </p:pic>
      <p:sp>
        <p:nvSpPr>
          <p:cNvPr id="8" name="Text 5"/>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9" name="Text 6"/>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412480" y="3108960"/>
            <a:ext cx="5669280" cy="5669280"/>
          </a:xfrm>
          <a:prstGeom prst="ellipse">
            <a:avLst/>
          </a:prstGeom>
          <a:solidFill>
            <a:srgbClr val="163A5F"/>
          </a:solidFill>
          <a:ln/>
        </p:spPr>
      </p:sp>
      <p:sp>
        <p:nvSpPr>
          <p:cNvPr id="3" name="Shape 1"/>
          <p:cNvSpPr/>
          <p:nvPr/>
        </p:nvSpPr>
        <p:spPr>
          <a:xfrm>
            <a:off x="-2011680" y="-2194560"/>
            <a:ext cx="4206240" cy="4206240"/>
          </a:xfrm>
          <a:prstGeom prst="ellipse">
            <a:avLst/>
          </a:prstGeom>
          <a:solidFill>
            <a:srgbClr val="163A5F"/>
          </a:solidFill>
          <a:ln/>
        </p:spPr>
      </p:sp>
      <p:sp>
        <p:nvSpPr>
          <p:cNvPr id="4" name="Text 2"/>
          <p:cNvSpPr txBox="1"/>
          <p:nvPr/>
        </p:nvSpPr>
        <p:spPr>
          <a:xfrm>
            <a:off x="7315200" y="182880"/>
            <a:ext cx="4754880" cy="6492240"/>
          </a:xfrm>
          <a:prstGeom prst="rect">
            <a:avLst/>
          </a:prstGeom>
          <a:noFill/>
          <a:ln/>
        </p:spPr>
        <p:txBody>
          <a:bodyPr wrap="square" lIns="0" tIns="0" rIns="0" bIns="0" rtlCol="0" anchor="ctr"/>
          <a:lstStyle/>
          <a:p>
            <a:pPr algn="r" indent="0" marL="0">
              <a:buNone/>
            </a:pPr>
            <a:r>
              <a:rPr lang="en-US" sz="34000" b="1" dirty="0">
                <a:solidFill>
                  <a:srgbClr val="163A5F"/>
                </a:solidFill>
                <a:latin typeface="Calibri" pitchFamily="34" charset="0"/>
                <a:ea typeface="Calibri" pitchFamily="34" charset="-122"/>
                <a:cs typeface="Calibri" pitchFamily="34" charset="-120"/>
              </a:rPr>
              <a:t>03</a:t>
            </a:r>
            <a:endParaRPr lang="en-US" sz="34000" dirty="0"/>
          </a:p>
        </p:txBody>
      </p:sp>
      <p:sp>
        <p:nvSpPr>
          <p:cNvPr id="5" name="Shape 3"/>
          <p:cNvSpPr/>
          <p:nvPr/>
        </p:nvSpPr>
        <p:spPr>
          <a:xfrm>
            <a:off x="914400" y="2331720"/>
            <a:ext cx="457200" cy="82296"/>
          </a:xfrm>
          <a:prstGeom prst="rect">
            <a:avLst/>
          </a:prstGeom>
          <a:solidFill>
            <a:srgbClr val="F5A623"/>
          </a:solidFill>
          <a:ln/>
        </p:spPr>
      </p:sp>
      <p:sp>
        <p:nvSpPr>
          <p:cNvPr id="6" name="Text 4"/>
          <p:cNvSpPr txBox="1"/>
          <p:nvPr/>
        </p:nvSpPr>
        <p:spPr>
          <a:xfrm>
            <a:off x="914400" y="2514600"/>
            <a:ext cx="73152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SECTION THREE</a:t>
            </a:r>
            <a:endParaRPr lang="en-US" sz="1250" dirty="0"/>
          </a:p>
        </p:txBody>
      </p:sp>
      <p:sp>
        <p:nvSpPr>
          <p:cNvPr id="7" name="Text 5"/>
          <p:cNvSpPr txBox="1"/>
          <p:nvPr/>
        </p:nvSpPr>
        <p:spPr>
          <a:xfrm>
            <a:off x="868680" y="2880360"/>
            <a:ext cx="7498080" cy="1737360"/>
          </a:xfrm>
          <a:prstGeom prst="rect">
            <a:avLst/>
          </a:prstGeom>
          <a:noFill/>
          <a:ln/>
        </p:spPr>
        <p:txBody>
          <a:bodyPr wrap="square" lIns="0" tIns="0" rIns="0" bIns="0" rtlCol="0" anchor="t"/>
          <a:lstStyle/>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Search Engine</a:t>
            </a:r>
            <a:endParaRPr lang="en-US" sz="5200" dirty="0"/>
          </a:p>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Marketing</a:t>
            </a:r>
            <a:endParaRPr lang="en-US" sz="5200" dirty="0"/>
          </a:p>
        </p:txBody>
      </p:sp>
      <p:sp>
        <p:nvSpPr>
          <p:cNvPr id="8" name="Text 6"/>
          <p:cNvSpPr txBox="1"/>
          <p:nvPr/>
        </p:nvSpPr>
        <p:spPr>
          <a:xfrm>
            <a:off x="914400" y="4709160"/>
            <a:ext cx="6766560" cy="1097280"/>
          </a:xfrm>
          <a:prstGeom prst="rect">
            <a:avLst/>
          </a:prstGeom>
          <a:noFill/>
          <a:ln/>
        </p:spPr>
        <p:txBody>
          <a:bodyPr wrap="square" lIns="0" tIns="0" rIns="0" bIns="0" rtlCol="0" anchor="t"/>
          <a:lstStyle/>
          <a:p>
            <a:pPr algn="l" indent="0" marL="0">
              <a:lnSpc>
                <a:spcPct val="112000"/>
              </a:lnSpc>
              <a:buNone/>
            </a:pPr>
            <a:r>
              <a:rPr lang="en-US" sz="1500" dirty="0">
                <a:solidFill>
                  <a:srgbClr val="C9D6E5"/>
                </a:solidFill>
                <a:latin typeface="Calibri" pitchFamily="34" charset="0"/>
                <a:ea typeface="Calibri" pitchFamily="34" charset="-122"/>
                <a:cs typeface="Calibri" pitchFamily="34" charset="-120"/>
              </a:rPr>
              <a:t>Capturing high-intent demand with Google Search &amp; Display advertising.</a:t>
            </a:r>
            <a:endParaRPr lang="en-US" sz="1500" dirty="0"/>
          </a:p>
        </p:txBody>
      </p:sp>
      <p:sp>
        <p:nvSpPr>
          <p:cNvPr id="9" name="Text 7"/>
          <p:cNvSpPr txBox="1"/>
          <p:nvPr/>
        </p:nvSpPr>
        <p:spPr>
          <a:xfrm>
            <a:off x="914400" y="6172200"/>
            <a:ext cx="5486400" cy="274320"/>
          </a:xfrm>
          <a:prstGeom prst="rect">
            <a:avLst/>
          </a:prstGeom>
          <a:noFill/>
          <a:ln/>
        </p:spPr>
        <p:txBody>
          <a:bodyPr wrap="square" lIns="0" tIns="0" rIns="0" bIns="0" rtlCol="0" anchor="ctr"/>
          <a:lstStyle/>
          <a:p>
            <a:pPr algn="l" indent="0" marL="0">
              <a:buNone/>
            </a:pPr>
            <a:r>
              <a:rPr lang="en-US" sz="1050" b="1" spc="300" kern="0" dirty="0">
                <a:solidFill>
                  <a:srgbClr val="7C93AC"/>
                </a:solidFill>
                <a:latin typeface="Calibri" pitchFamily="34" charset="0"/>
                <a:ea typeface="Calibri" pitchFamily="34" charset="-122"/>
                <a:cs typeface="Calibri" pitchFamily="34" charset="-120"/>
              </a:rPr>
              <a:t>CROWN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SEM · GOOGLE ADS</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Google Search Ads</a:t>
            </a:r>
            <a:endParaRPr lang="en-US" sz="3400" dirty="0"/>
          </a:p>
        </p:txBody>
      </p:sp>
      <p:sp>
        <p:nvSpPr>
          <p:cNvPr id="5" name="Text 3"/>
          <p:cNvSpPr txBox="1"/>
          <p:nvPr/>
        </p:nvSpPr>
        <p:spPr>
          <a:xfrm>
            <a:off x="548640" y="2011680"/>
            <a:ext cx="7772400" cy="45720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Keyword-targeted search campaigns that put the brand in front of ready-to-buy audiences.</a:t>
            </a:r>
            <a:endParaRPr lang="en-US" sz="1400" dirty="0"/>
          </a:p>
        </p:txBody>
      </p:sp>
      <p:sp>
        <p:nvSpPr>
          <p:cNvPr id="6" name="Shape 4"/>
          <p:cNvSpPr/>
          <p:nvPr/>
        </p:nvSpPr>
        <p:spPr>
          <a:xfrm>
            <a:off x="548640" y="2560320"/>
            <a:ext cx="6766560" cy="3474720"/>
          </a:xfrm>
          <a:prstGeom prst="roundRect">
            <a:avLst>
              <a:gd name="adj" fmla="val 2895"/>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4ddce64fe1.png">    </p:cNvPr>
          <p:cNvPicPr>
            <a:picLocks noChangeAspect="1"/>
          </p:cNvPicPr>
          <p:nvPr/>
        </p:nvPicPr>
        <p:blipFill>
          <a:blip r:embed="rId1"/>
          <a:stretch>
            <a:fillRect/>
          </a:stretch>
        </p:blipFill>
        <p:spPr>
          <a:xfrm>
            <a:off x="919720" y="2688336"/>
            <a:ext cx="6024400" cy="3218688"/>
          </a:xfrm>
          <a:prstGeom prst="rect">
            <a:avLst/>
          </a:prstGeom>
        </p:spPr>
      </p:pic>
      <p:sp>
        <p:nvSpPr>
          <p:cNvPr id="8" name="Shape 5"/>
          <p:cNvSpPr/>
          <p:nvPr/>
        </p:nvSpPr>
        <p:spPr>
          <a:xfrm>
            <a:off x="7498080" y="2560320"/>
            <a:ext cx="4114800" cy="3474720"/>
          </a:xfrm>
          <a:prstGeom prst="roundRect">
            <a:avLst>
              <a:gd name="adj" fmla="val 2895"/>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9" name="Image 1" descr="img/6e99ce2997.png">    </p:cNvPr>
          <p:cNvPicPr>
            <a:picLocks noChangeAspect="1"/>
          </p:cNvPicPr>
          <p:nvPr/>
        </p:nvPicPr>
        <p:blipFill>
          <a:blip r:embed="rId2"/>
          <a:stretch>
            <a:fillRect/>
          </a:stretch>
        </p:blipFill>
        <p:spPr>
          <a:xfrm>
            <a:off x="7626096" y="2705728"/>
            <a:ext cx="3858768" cy="3183904"/>
          </a:xfrm>
          <a:prstGeom prst="rect">
            <a:avLst/>
          </a:prstGeom>
        </p:spPr>
      </p:pic>
      <p:sp>
        <p:nvSpPr>
          <p:cNvPr id="10" name="Text 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1" name="Text 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SEM · GOOGLE ADS</a:t>
            </a:r>
            <a:endParaRPr lang="en-US" sz="1250" dirty="0"/>
          </a:p>
        </p:txBody>
      </p:sp>
      <p:sp>
        <p:nvSpPr>
          <p:cNvPr id="4" name="Text 2"/>
          <p:cNvSpPr txBox="1"/>
          <p:nvPr/>
        </p:nvSpPr>
        <p:spPr>
          <a:xfrm>
            <a:off x="548640" y="1170432"/>
            <a:ext cx="96012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Search Campaign Performance</a:t>
            </a:r>
            <a:endParaRPr lang="en-US" sz="3400" dirty="0"/>
          </a:p>
        </p:txBody>
      </p:sp>
      <p:sp>
        <p:nvSpPr>
          <p:cNvPr id="5" name="Text 3"/>
          <p:cNvSpPr txBox="1"/>
          <p:nvPr/>
        </p:nvSpPr>
        <p:spPr>
          <a:xfrm>
            <a:off x="548640" y="2011680"/>
            <a:ext cx="10058400" cy="36576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Live campaign dashboards showing spend, clicks, impressions and optimization scores.</a:t>
            </a:r>
            <a:endParaRPr lang="en-US" sz="1400" dirty="0"/>
          </a:p>
        </p:txBody>
      </p:sp>
      <p:sp>
        <p:nvSpPr>
          <p:cNvPr id="6" name="Shape 4"/>
          <p:cNvSpPr/>
          <p:nvPr/>
        </p:nvSpPr>
        <p:spPr>
          <a:xfrm>
            <a:off x="548640" y="2606040"/>
            <a:ext cx="676656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d2c9547410.png">    </p:cNvPr>
          <p:cNvPicPr>
            <a:picLocks noChangeAspect="1"/>
          </p:cNvPicPr>
          <p:nvPr/>
        </p:nvPicPr>
        <p:blipFill>
          <a:blip r:embed="rId1"/>
          <a:stretch>
            <a:fillRect/>
          </a:stretch>
        </p:blipFill>
        <p:spPr>
          <a:xfrm>
            <a:off x="955906" y="2734056"/>
            <a:ext cx="5952029" cy="3172968"/>
          </a:xfrm>
          <a:prstGeom prst="rect">
            <a:avLst/>
          </a:prstGeom>
        </p:spPr>
      </p:pic>
      <p:sp>
        <p:nvSpPr>
          <p:cNvPr id="8" name="Shape 5"/>
          <p:cNvSpPr/>
          <p:nvPr/>
        </p:nvSpPr>
        <p:spPr>
          <a:xfrm>
            <a:off x="7498080" y="2606040"/>
            <a:ext cx="411480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9" name="Image 1" descr="img/659023efab.png">    </p:cNvPr>
          <p:cNvPicPr>
            <a:picLocks noChangeAspect="1"/>
          </p:cNvPicPr>
          <p:nvPr/>
        </p:nvPicPr>
        <p:blipFill>
          <a:blip r:embed="rId2"/>
          <a:stretch>
            <a:fillRect/>
          </a:stretch>
        </p:blipFill>
        <p:spPr>
          <a:xfrm>
            <a:off x="7626096" y="3515022"/>
            <a:ext cx="3858768" cy="1611036"/>
          </a:xfrm>
          <a:prstGeom prst="rect">
            <a:avLst/>
          </a:prstGeom>
        </p:spPr>
      </p:pic>
      <p:sp>
        <p:nvSpPr>
          <p:cNvPr id="10" name="Text 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1" name="Text 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SEM · GOOGLE ADS</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Campaign Setup &amp; Structure</a:t>
            </a:r>
            <a:endParaRPr lang="en-US" sz="3400" dirty="0"/>
          </a:p>
        </p:txBody>
      </p:sp>
      <p:sp>
        <p:nvSpPr>
          <p:cNvPr id="5" name="Text 3"/>
          <p:cNvSpPr txBox="1"/>
          <p:nvPr/>
        </p:nvSpPr>
        <p:spPr>
          <a:xfrm>
            <a:off x="548640" y="2011680"/>
            <a:ext cx="7772400" cy="45720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Well-structured ad groups, keywords, and extensions built for quality score and efficiency.</a:t>
            </a:r>
            <a:endParaRPr lang="en-US" sz="1400" dirty="0"/>
          </a:p>
        </p:txBody>
      </p:sp>
      <p:sp>
        <p:nvSpPr>
          <p:cNvPr id="6" name="Shape 4"/>
          <p:cNvSpPr/>
          <p:nvPr/>
        </p:nvSpPr>
        <p:spPr>
          <a:xfrm>
            <a:off x="548640" y="2606040"/>
            <a:ext cx="676656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523aebea4a.png">    </p:cNvPr>
          <p:cNvPicPr>
            <a:picLocks noChangeAspect="1"/>
          </p:cNvPicPr>
          <p:nvPr/>
        </p:nvPicPr>
        <p:blipFill>
          <a:blip r:embed="rId1"/>
          <a:stretch>
            <a:fillRect/>
          </a:stretch>
        </p:blipFill>
        <p:spPr>
          <a:xfrm>
            <a:off x="676656" y="3244203"/>
            <a:ext cx="6510528" cy="2152675"/>
          </a:xfrm>
          <a:prstGeom prst="rect">
            <a:avLst/>
          </a:prstGeom>
        </p:spPr>
      </p:pic>
      <p:sp>
        <p:nvSpPr>
          <p:cNvPr id="8" name="Shape 5"/>
          <p:cNvSpPr/>
          <p:nvPr/>
        </p:nvSpPr>
        <p:spPr>
          <a:xfrm>
            <a:off x="7498080" y="2606040"/>
            <a:ext cx="411480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9" name="Image 1" descr="img/0d3e08a042.png">    </p:cNvPr>
          <p:cNvPicPr>
            <a:picLocks noChangeAspect="1"/>
          </p:cNvPicPr>
          <p:nvPr/>
        </p:nvPicPr>
        <p:blipFill>
          <a:blip r:embed="rId2"/>
          <a:stretch>
            <a:fillRect/>
          </a:stretch>
        </p:blipFill>
        <p:spPr>
          <a:xfrm>
            <a:off x="8010162" y="2734056"/>
            <a:ext cx="3090635" cy="3172968"/>
          </a:xfrm>
          <a:prstGeom prst="rect">
            <a:avLst/>
          </a:prstGeom>
        </p:spPr>
      </p:pic>
      <p:sp>
        <p:nvSpPr>
          <p:cNvPr id="10" name="Text 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1" name="Text 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ORGANIC SEARCH</a:t>
            </a:r>
            <a:endParaRPr lang="en-US" sz="1250" dirty="0"/>
          </a:p>
        </p:txBody>
      </p:sp>
      <p:sp>
        <p:nvSpPr>
          <p:cNvPr id="4" name="Text 2"/>
          <p:cNvSpPr txBox="1"/>
          <p:nvPr/>
        </p:nvSpPr>
        <p:spPr>
          <a:xfrm>
            <a:off x="548640" y="1170432"/>
            <a:ext cx="82296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Search Engine Optimization</a:t>
            </a:r>
            <a:endParaRPr lang="en-US" sz="3400" dirty="0"/>
          </a:p>
        </p:txBody>
      </p:sp>
      <p:sp>
        <p:nvSpPr>
          <p:cNvPr id="5" name="Text 3"/>
          <p:cNvSpPr txBox="1"/>
          <p:nvPr/>
        </p:nvSpPr>
        <p:spPr>
          <a:xfrm>
            <a:off x="548640" y="2011680"/>
            <a:ext cx="8229600" cy="365760"/>
          </a:xfrm>
          <a:prstGeom prst="rect">
            <a:avLst/>
          </a:prstGeom>
          <a:noFill/>
          <a:ln/>
        </p:spPr>
        <p:txBody>
          <a:bodyPr wrap="square" lIns="0" tIns="0" rIns="0" bIns="0" rtlCol="0" anchor="ctr"/>
          <a:lstStyle/>
          <a:p>
            <a:pPr algn="l" indent="0" marL="0">
              <a:buNone/>
            </a:pPr>
            <a:r>
              <a:rPr lang="en-US" sz="1400" dirty="0">
                <a:solidFill>
                  <a:srgbClr val="5F7183"/>
                </a:solidFill>
                <a:latin typeface="Calibri" pitchFamily="34" charset="0"/>
                <a:ea typeface="Calibri" pitchFamily="34" charset="-122"/>
                <a:cs typeface="Calibri" pitchFamily="34" charset="-120"/>
              </a:rPr>
              <a:t>End-to-end on-page and off-page optimization to grow organic visibility and rankings.</a:t>
            </a:r>
            <a:endParaRPr lang="en-US" sz="1400" dirty="0"/>
          </a:p>
        </p:txBody>
      </p:sp>
      <p:sp>
        <p:nvSpPr>
          <p:cNvPr id="6" name="Shape 4"/>
          <p:cNvSpPr/>
          <p:nvPr/>
        </p:nvSpPr>
        <p:spPr>
          <a:xfrm>
            <a:off x="548640" y="2560320"/>
            <a:ext cx="352044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7" name="Shape 5"/>
          <p:cNvSpPr/>
          <p:nvPr/>
        </p:nvSpPr>
        <p:spPr>
          <a:xfrm>
            <a:off x="804672" y="2816352"/>
            <a:ext cx="548640" cy="548640"/>
          </a:xfrm>
          <a:prstGeom prst="roundRect">
            <a:avLst>
              <a:gd name="adj" fmla="val 20000"/>
            </a:avLst>
          </a:prstGeom>
          <a:solidFill>
            <a:srgbClr val="E8F1FB"/>
          </a:solidFill>
          <a:ln/>
        </p:spPr>
      </p:sp>
      <p:sp>
        <p:nvSpPr>
          <p:cNvPr id="8" name="Text 6"/>
          <p:cNvSpPr txBox="1"/>
          <p:nvPr/>
        </p:nvSpPr>
        <p:spPr>
          <a:xfrm>
            <a:off x="804672" y="2816352"/>
            <a:ext cx="548640" cy="548640"/>
          </a:xfrm>
          <a:prstGeom prst="rect">
            <a:avLst/>
          </a:prstGeom>
          <a:noFill/>
          <a:ln/>
        </p:spPr>
        <p:txBody>
          <a:bodyPr wrap="square" lIns="0" tIns="0" rIns="0" bIns="0" rtlCol="0" anchor="ctr"/>
          <a:lstStyle/>
          <a:p>
            <a:pPr algn="ctr" indent="0" marL="0">
              <a:buNone/>
            </a:pPr>
            <a:r>
              <a:rPr lang="en-US" sz="1440" b="1" dirty="0">
                <a:solidFill>
                  <a:srgbClr val="1668B8"/>
                </a:solidFill>
                <a:latin typeface="Calibri" pitchFamily="34" charset="0"/>
                <a:ea typeface="Calibri" pitchFamily="34" charset="-122"/>
                <a:cs typeface="Calibri" pitchFamily="34" charset="-120"/>
              </a:rPr>
              <a:t>01</a:t>
            </a:r>
            <a:endParaRPr lang="en-US" sz="1440" dirty="0"/>
          </a:p>
        </p:txBody>
      </p:sp>
      <p:sp>
        <p:nvSpPr>
          <p:cNvPr id="9" name="Text 7"/>
          <p:cNvSpPr txBox="1"/>
          <p:nvPr/>
        </p:nvSpPr>
        <p:spPr>
          <a:xfrm>
            <a:off x="1481328" y="2816352"/>
            <a:ext cx="2423160" cy="548640"/>
          </a:xfrm>
          <a:prstGeom prst="rect">
            <a:avLst/>
          </a:prstGeom>
          <a:noFill/>
          <a:ln/>
        </p:spPr>
        <p:txBody>
          <a:bodyPr wrap="square" lIns="0" tIns="0" rIns="0" bIns="0" rtlCol="0" anchor="ctr"/>
          <a:lstStyle/>
          <a:p>
            <a:pPr algn="l" indent="0" marL="0">
              <a:buNone/>
            </a:pPr>
            <a:r>
              <a:rPr lang="en-US" sz="1800" b="1" dirty="0">
                <a:solidFill>
                  <a:srgbClr val="0E2A47"/>
                </a:solidFill>
                <a:latin typeface="Calibri" pitchFamily="34" charset="0"/>
                <a:ea typeface="Calibri" pitchFamily="34" charset="-122"/>
                <a:cs typeface="Calibri" pitchFamily="34" charset="-120"/>
              </a:rPr>
              <a:t>On-Page</a:t>
            </a:r>
            <a:endParaRPr lang="en-US" sz="1800" dirty="0"/>
          </a:p>
        </p:txBody>
      </p:sp>
      <p:sp>
        <p:nvSpPr>
          <p:cNvPr id="10" name="Text 8"/>
          <p:cNvSpPr txBox="1"/>
          <p:nvPr/>
        </p:nvSpPr>
        <p:spPr>
          <a:xfrm>
            <a:off x="822960" y="3611880"/>
            <a:ext cx="3017520" cy="2194560"/>
          </a:xfrm>
          <a:prstGeom prst="rect">
            <a:avLst/>
          </a:prstGeom>
          <a:noFill/>
          <a:ln/>
        </p:spPr>
        <p:txBody>
          <a:bodyPr wrap="square" lIns="0" tIns="0" rIns="0" bIns="0" rtlCol="0" anchor="t"/>
          <a:lstStyle/>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Keyword research &amp; analysis</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Meta titles &amp; descriptions</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Internal &amp; external linking</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Content &amp; image optimization</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Tags &amp; page speed</a:t>
            </a:r>
            <a:endParaRPr lang="en-US" sz="1300" dirty="0"/>
          </a:p>
        </p:txBody>
      </p:sp>
      <p:sp>
        <p:nvSpPr>
          <p:cNvPr id="11" name="Shape 9"/>
          <p:cNvSpPr/>
          <p:nvPr/>
        </p:nvSpPr>
        <p:spPr>
          <a:xfrm>
            <a:off x="4251960" y="2560320"/>
            <a:ext cx="352044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2" name="Shape 10"/>
          <p:cNvSpPr/>
          <p:nvPr/>
        </p:nvSpPr>
        <p:spPr>
          <a:xfrm>
            <a:off x="4507992" y="2816352"/>
            <a:ext cx="548640" cy="548640"/>
          </a:xfrm>
          <a:prstGeom prst="roundRect">
            <a:avLst>
              <a:gd name="adj" fmla="val 20000"/>
            </a:avLst>
          </a:prstGeom>
          <a:solidFill>
            <a:srgbClr val="E8F1FB"/>
          </a:solidFill>
          <a:ln/>
        </p:spPr>
      </p:sp>
      <p:sp>
        <p:nvSpPr>
          <p:cNvPr id="13" name="Text 11"/>
          <p:cNvSpPr txBox="1"/>
          <p:nvPr/>
        </p:nvSpPr>
        <p:spPr>
          <a:xfrm>
            <a:off x="4507992" y="2816352"/>
            <a:ext cx="548640" cy="548640"/>
          </a:xfrm>
          <a:prstGeom prst="rect">
            <a:avLst/>
          </a:prstGeom>
          <a:noFill/>
          <a:ln/>
        </p:spPr>
        <p:txBody>
          <a:bodyPr wrap="square" lIns="0" tIns="0" rIns="0" bIns="0" rtlCol="0" anchor="ctr"/>
          <a:lstStyle/>
          <a:p>
            <a:pPr algn="ctr" indent="0" marL="0">
              <a:buNone/>
            </a:pPr>
            <a:r>
              <a:rPr lang="en-US" sz="1440" b="1" dirty="0">
                <a:solidFill>
                  <a:srgbClr val="1668B8"/>
                </a:solidFill>
                <a:latin typeface="Calibri" pitchFamily="34" charset="0"/>
                <a:ea typeface="Calibri" pitchFamily="34" charset="-122"/>
                <a:cs typeface="Calibri" pitchFamily="34" charset="-120"/>
              </a:rPr>
              <a:t>02</a:t>
            </a:r>
            <a:endParaRPr lang="en-US" sz="1440" dirty="0"/>
          </a:p>
        </p:txBody>
      </p:sp>
      <p:sp>
        <p:nvSpPr>
          <p:cNvPr id="14" name="Text 12"/>
          <p:cNvSpPr txBox="1"/>
          <p:nvPr/>
        </p:nvSpPr>
        <p:spPr>
          <a:xfrm>
            <a:off x="5184648" y="2816352"/>
            <a:ext cx="2423160" cy="548640"/>
          </a:xfrm>
          <a:prstGeom prst="rect">
            <a:avLst/>
          </a:prstGeom>
          <a:noFill/>
          <a:ln/>
        </p:spPr>
        <p:txBody>
          <a:bodyPr wrap="square" lIns="0" tIns="0" rIns="0" bIns="0" rtlCol="0" anchor="ctr"/>
          <a:lstStyle/>
          <a:p>
            <a:pPr algn="l" indent="0" marL="0">
              <a:buNone/>
            </a:pPr>
            <a:r>
              <a:rPr lang="en-US" sz="1800" b="1" dirty="0">
                <a:solidFill>
                  <a:srgbClr val="0E2A47"/>
                </a:solidFill>
                <a:latin typeface="Calibri" pitchFamily="34" charset="0"/>
                <a:ea typeface="Calibri" pitchFamily="34" charset="-122"/>
                <a:cs typeface="Calibri" pitchFamily="34" charset="-120"/>
              </a:rPr>
              <a:t>Technical</a:t>
            </a:r>
            <a:endParaRPr lang="en-US" sz="1800" dirty="0"/>
          </a:p>
        </p:txBody>
      </p:sp>
      <p:sp>
        <p:nvSpPr>
          <p:cNvPr id="15" name="Text 13"/>
          <p:cNvSpPr txBox="1"/>
          <p:nvPr/>
        </p:nvSpPr>
        <p:spPr>
          <a:xfrm>
            <a:off x="4526280" y="3611880"/>
            <a:ext cx="3017520" cy="2194560"/>
          </a:xfrm>
          <a:prstGeom prst="rect">
            <a:avLst/>
          </a:prstGeom>
          <a:noFill/>
          <a:ln/>
        </p:spPr>
        <p:txBody>
          <a:bodyPr wrap="square" lIns="0" tIns="0" rIns="0" bIns="0" rtlCol="0" anchor="t"/>
          <a:lstStyle/>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Robots.txt &amp; sitemap.xml</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Google Search Console</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Google Analytics</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Google integration</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Core Web Vitals</a:t>
            </a:r>
            <a:endParaRPr lang="en-US" sz="1300" dirty="0"/>
          </a:p>
        </p:txBody>
      </p:sp>
      <p:sp>
        <p:nvSpPr>
          <p:cNvPr id="16" name="Shape 14"/>
          <p:cNvSpPr/>
          <p:nvPr/>
        </p:nvSpPr>
        <p:spPr>
          <a:xfrm>
            <a:off x="7955280" y="2560320"/>
            <a:ext cx="3520440" cy="342900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7" name="Shape 15"/>
          <p:cNvSpPr/>
          <p:nvPr/>
        </p:nvSpPr>
        <p:spPr>
          <a:xfrm>
            <a:off x="8211312" y="2816352"/>
            <a:ext cx="548640" cy="548640"/>
          </a:xfrm>
          <a:prstGeom prst="roundRect">
            <a:avLst>
              <a:gd name="adj" fmla="val 20000"/>
            </a:avLst>
          </a:prstGeom>
          <a:solidFill>
            <a:srgbClr val="E8F1FB"/>
          </a:solidFill>
          <a:ln/>
        </p:spPr>
      </p:sp>
      <p:sp>
        <p:nvSpPr>
          <p:cNvPr id="18" name="Text 16"/>
          <p:cNvSpPr txBox="1"/>
          <p:nvPr/>
        </p:nvSpPr>
        <p:spPr>
          <a:xfrm>
            <a:off x="8211312" y="2816352"/>
            <a:ext cx="548640" cy="548640"/>
          </a:xfrm>
          <a:prstGeom prst="rect">
            <a:avLst/>
          </a:prstGeom>
          <a:noFill/>
          <a:ln/>
        </p:spPr>
        <p:txBody>
          <a:bodyPr wrap="square" lIns="0" tIns="0" rIns="0" bIns="0" rtlCol="0" anchor="ctr"/>
          <a:lstStyle/>
          <a:p>
            <a:pPr algn="ctr" indent="0" marL="0">
              <a:buNone/>
            </a:pPr>
            <a:r>
              <a:rPr lang="en-US" sz="1440" b="1" dirty="0">
                <a:solidFill>
                  <a:srgbClr val="1668B8"/>
                </a:solidFill>
                <a:latin typeface="Calibri" pitchFamily="34" charset="0"/>
                <a:ea typeface="Calibri" pitchFamily="34" charset="-122"/>
                <a:cs typeface="Calibri" pitchFamily="34" charset="-120"/>
              </a:rPr>
              <a:t>03</a:t>
            </a:r>
            <a:endParaRPr lang="en-US" sz="1440" dirty="0"/>
          </a:p>
        </p:txBody>
      </p:sp>
      <p:sp>
        <p:nvSpPr>
          <p:cNvPr id="19" name="Text 17"/>
          <p:cNvSpPr txBox="1"/>
          <p:nvPr/>
        </p:nvSpPr>
        <p:spPr>
          <a:xfrm>
            <a:off x="8887968" y="2816352"/>
            <a:ext cx="2423160" cy="548640"/>
          </a:xfrm>
          <a:prstGeom prst="rect">
            <a:avLst/>
          </a:prstGeom>
          <a:noFill/>
          <a:ln/>
        </p:spPr>
        <p:txBody>
          <a:bodyPr wrap="square" lIns="0" tIns="0" rIns="0" bIns="0" rtlCol="0" anchor="ctr"/>
          <a:lstStyle/>
          <a:p>
            <a:pPr algn="l" indent="0" marL="0">
              <a:buNone/>
            </a:pPr>
            <a:r>
              <a:rPr lang="en-US" sz="1800" b="1" dirty="0">
                <a:solidFill>
                  <a:srgbClr val="0E2A47"/>
                </a:solidFill>
                <a:latin typeface="Calibri" pitchFamily="34" charset="0"/>
                <a:ea typeface="Calibri" pitchFamily="34" charset="-122"/>
                <a:cs typeface="Calibri" pitchFamily="34" charset="-120"/>
              </a:rPr>
              <a:t>Off-Page</a:t>
            </a:r>
            <a:endParaRPr lang="en-US" sz="1800" dirty="0"/>
          </a:p>
        </p:txBody>
      </p:sp>
      <p:sp>
        <p:nvSpPr>
          <p:cNvPr id="20" name="Text 18"/>
          <p:cNvSpPr txBox="1"/>
          <p:nvPr/>
        </p:nvSpPr>
        <p:spPr>
          <a:xfrm>
            <a:off x="8229600" y="3611880"/>
            <a:ext cx="3017520" cy="2194560"/>
          </a:xfrm>
          <a:prstGeom prst="rect">
            <a:avLst/>
          </a:prstGeom>
          <a:noFill/>
          <a:ln/>
        </p:spPr>
        <p:txBody>
          <a:bodyPr wrap="square" lIns="0" tIns="0" rIns="0" bIns="0" rtlCol="0" anchor="t"/>
          <a:lstStyle/>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Backlink building</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Social media linking</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Brand mentions</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Directory &amp; citations</a:t>
            </a:r>
            <a:endParaRPr lang="en-US" sz="1300" dirty="0"/>
          </a:p>
          <a:p>
            <a:pPr algn="l" marL="203200" indent="-203200">
              <a:lnSpc>
                <a:spcPct val="102000"/>
              </a:lnSpc>
              <a:spcAft>
                <a:spcPts val="800"/>
              </a:spcAft>
              <a:buSzPct val="100000"/>
              <a:buChar char="•"/>
            </a:pPr>
            <a:r>
              <a:rPr lang="en-US" sz="1300" dirty="0">
                <a:solidFill>
                  <a:srgbClr val="1B2A3A"/>
                </a:solidFill>
                <a:latin typeface="Calibri" pitchFamily="34" charset="0"/>
                <a:ea typeface="Calibri" pitchFamily="34" charset="-122"/>
                <a:cs typeface="Calibri" pitchFamily="34" charset="-120"/>
              </a:rPr>
              <a:t>Reputation signals</a:t>
            </a:r>
            <a:endParaRPr lang="en-US" sz="1300" dirty="0"/>
          </a:p>
        </p:txBody>
      </p:sp>
      <p:sp>
        <p:nvSpPr>
          <p:cNvPr id="21" name="Text 19"/>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2" name="Text 20"/>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412480" y="3108960"/>
            <a:ext cx="5669280" cy="5669280"/>
          </a:xfrm>
          <a:prstGeom prst="ellipse">
            <a:avLst/>
          </a:prstGeom>
          <a:solidFill>
            <a:srgbClr val="163A5F"/>
          </a:solidFill>
          <a:ln/>
        </p:spPr>
      </p:sp>
      <p:sp>
        <p:nvSpPr>
          <p:cNvPr id="3" name="Shape 1"/>
          <p:cNvSpPr/>
          <p:nvPr/>
        </p:nvSpPr>
        <p:spPr>
          <a:xfrm>
            <a:off x="-2011680" y="-2194560"/>
            <a:ext cx="4206240" cy="4206240"/>
          </a:xfrm>
          <a:prstGeom prst="ellipse">
            <a:avLst/>
          </a:prstGeom>
          <a:solidFill>
            <a:srgbClr val="163A5F"/>
          </a:solidFill>
          <a:ln/>
        </p:spPr>
      </p:sp>
      <p:sp>
        <p:nvSpPr>
          <p:cNvPr id="4" name="Text 2"/>
          <p:cNvSpPr txBox="1"/>
          <p:nvPr/>
        </p:nvSpPr>
        <p:spPr>
          <a:xfrm>
            <a:off x="7315200" y="182880"/>
            <a:ext cx="4754880" cy="6492240"/>
          </a:xfrm>
          <a:prstGeom prst="rect">
            <a:avLst/>
          </a:prstGeom>
          <a:noFill/>
          <a:ln/>
        </p:spPr>
        <p:txBody>
          <a:bodyPr wrap="square" lIns="0" tIns="0" rIns="0" bIns="0" rtlCol="0" anchor="ctr"/>
          <a:lstStyle/>
          <a:p>
            <a:pPr algn="r" indent="0" marL="0">
              <a:buNone/>
            </a:pPr>
            <a:r>
              <a:rPr lang="en-US" sz="34000" b="1" dirty="0">
                <a:solidFill>
                  <a:srgbClr val="163A5F"/>
                </a:solidFill>
                <a:latin typeface="Calibri" pitchFamily="34" charset="0"/>
                <a:ea typeface="Calibri" pitchFamily="34" charset="-122"/>
                <a:cs typeface="Calibri" pitchFamily="34" charset="-120"/>
              </a:rPr>
              <a:t>04</a:t>
            </a:r>
            <a:endParaRPr lang="en-US" sz="34000" dirty="0"/>
          </a:p>
        </p:txBody>
      </p:sp>
      <p:sp>
        <p:nvSpPr>
          <p:cNvPr id="5" name="Shape 3"/>
          <p:cNvSpPr/>
          <p:nvPr/>
        </p:nvSpPr>
        <p:spPr>
          <a:xfrm>
            <a:off x="914400" y="2331720"/>
            <a:ext cx="457200" cy="82296"/>
          </a:xfrm>
          <a:prstGeom prst="rect">
            <a:avLst/>
          </a:prstGeom>
          <a:solidFill>
            <a:srgbClr val="F5A623"/>
          </a:solidFill>
          <a:ln/>
        </p:spPr>
      </p:sp>
      <p:sp>
        <p:nvSpPr>
          <p:cNvPr id="6" name="Text 4"/>
          <p:cNvSpPr txBox="1"/>
          <p:nvPr/>
        </p:nvSpPr>
        <p:spPr>
          <a:xfrm>
            <a:off x="914400" y="2514600"/>
            <a:ext cx="73152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SECTION FOUR</a:t>
            </a:r>
            <a:endParaRPr lang="en-US" sz="1250" dirty="0"/>
          </a:p>
        </p:txBody>
      </p:sp>
      <p:sp>
        <p:nvSpPr>
          <p:cNvPr id="7" name="Text 5"/>
          <p:cNvSpPr txBox="1"/>
          <p:nvPr/>
        </p:nvSpPr>
        <p:spPr>
          <a:xfrm>
            <a:off x="868680" y="2880360"/>
            <a:ext cx="7498080" cy="1737360"/>
          </a:xfrm>
          <a:prstGeom prst="rect">
            <a:avLst/>
          </a:prstGeom>
          <a:noFill/>
          <a:ln/>
        </p:spPr>
        <p:txBody>
          <a:bodyPr wrap="square" lIns="0" tIns="0" rIns="0" bIns="0" rtlCol="0" anchor="t"/>
          <a:lstStyle/>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More Marketing</a:t>
            </a:r>
            <a:endParaRPr lang="en-US" sz="5200" dirty="0"/>
          </a:p>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Channels</a:t>
            </a:r>
            <a:endParaRPr lang="en-US" sz="5200" dirty="0"/>
          </a:p>
        </p:txBody>
      </p:sp>
      <p:sp>
        <p:nvSpPr>
          <p:cNvPr id="8" name="Text 6"/>
          <p:cNvSpPr txBox="1"/>
          <p:nvPr/>
        </p:nvSpPr>
        <p:spPr>
          <a:xfrm>
            <a:off x="914400" y="4709160"/>
            <a:ext cx="6766560" cy="1097280"/>
          </a:xfrm>
          <a:prstGeom prst="rect">
            <a:avLst/>
          </a:prstGeom>
          <a:noFill/>
          <a:ln/>
        </p:spPr>
        <p:txBody>
          <a:bodyPr wrap="square" lIns="0" tIns="0" rIns="0" bIns="0" rtlCol="0" anchor="t"/>
          <a:lstStyle/>
          <a:p>
            <a:pPr algn="l" indent="0" marL="0">
              <a:lnSpc>
                <a:spcPct val="112000"/>
              </a:lnSpc>
              <a:buNone/>
            </a:pPr>
            <a:r>
              <a:rPr lang="en-US" sz="1500" dirty="0">
                <a:solidFill>
                  <a:srgbClr val="C9D6E5"/>
                </a:solidFill>
                <a:latin typeface="Calibri" pitchFamily="34" charset="0"/>
                <a:ea typeface="Calibri" pitchFamily="34" charset="-122"/>
                <a:cs typeface="Calibri" pitchFamily="34" charset="-120"/>
              </a:rPr>
              <a:t>SMS, email automation and influencer marketing that extend every campaign's reach.</a:t>
            </a:r>
            <a:endParaRPr lang="en-US" sz="1500" dirty="0"/>
          </a:p>
        </p:txBody>
      </p:sp>
      <p:sp>
        <p:nvSpPr>
          <p:cNvPr id="9" name="Text 7"/>
          <p:cNvSpPr txBox="1"/>
          <p:nvPr/>
        </p:nvSpPr>
        <p:spPr>
          <a:xfrm>
            <a:off x="914400" y="6172200"/>
            <a:ext cx="5486400" cy="274320"/>
          </a:xfrm>
          <a:prstGeom prst="rect">
            <a:avLst/>
          </a:prstGeom>
          <a:noFill/>
          <a:ln/>
        </p:spPr>
        <p:txBody>
          <a:bodyPr wrap="square" lIns="0" tIns="0" rIns="0" bIns="0" rtlCol="0" anchor="ctr"/>
          <a:lstStyle/>
          <a:p>
            <a:pPr algn="l" indent="0" marL="0">
              <a:buNone/>
            </a:pPr>
            <a:r>
              <a:rPr lang="en-US" sz="1050" b="1" spc="300" kern="0" dirty="0">
                <a:solidFill>
                  <a:srgbClr val="7C93AC"/>
                </a:solidFill>
                <a:latin typeface="Calibri" pitchFamily="34" charset="0"/>
                <a:ea typeface="Calibri" pitchFamily="34" charset="-122"/>
                <a:cs typeface="Calibri" pitchFamily="34" charset="-120"/>
              </a:rPr>
              <a:t>CROWN</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DIRECT MARKETING</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SMS &amp; WhatsApp Campaigns</a:t>
            </a:r>
            <a:endParaRPr lang="en-US" sz="3400" dirty="0"/>
          </a:p>
        </p:txBody>
      </p:sp>
      <p:sp>
        <p:nvSpPr>
          <p:cNvPr id="5" name="Shape 3"/>
          <p:cNvSpPr/>
          <p:nvPr/>
        </p:nvSpPr>
        <p:spPr>
          <a:xfrm>
            <a:off x="548640" y="2286000"/>
            <a:ext cx="5440680" cy="3566160"/>
          </a:xfrm>
          <a:prstGeom prst="roundRect">
            <a:avLst>
              <a:gd name="adj" fmla="val 282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Shape 4"/>
          <p:cNvSpPr/>
          <p:nvPr/>
        </p:nvSpPr>
        <p:spPr>
          <a:xfrm>
            <a:off x="868680" y="2606040"/>
            <a:ext cx="777240" cy="777240"/>
          </a:xfrm>
          <a:prstGeom prst="roundRect">
            <a:avLst>
              <a:gd name="adj" fmla="val 14118"/>
            </a:avLst>
          </a:prstGeom>
          <a:solidFill>
            <a:srgbClr val="E8F1FB"/>
          </a:solidFill>
          <a:ln/>
        </p:spPr>
      </p:sp>
      <p:sp>
        <p:nvSpPr>
          <p:cNvPr id="7" name="Text 5"/>
          <p:cNvSpPr txBox="1"/>
          <p:nvPr/>
        </p:nvSpPr>
        <p:spPr>
          <a:xfrm>
            <a:off x="868680" y="2606040"/>
            <a:ext cx="777240" cy="777240"/>
          </a:xfrm>
          <a:prstGeom prst="rect">
            <a:avLst/>
          </a:prstGeom>
          <a:noFill/>
          <a:ln/>
        </p:spPr>
        <p:txBody>
          <a:bodyPr wrap="square" lIns="0" tIns="0" rIns="0" bIns="0" rtlCol="0" anchor="ctr"/>
          <a:lstStyle/>
          <a:p>
            <a:pPr algn="ctr" indent="0" marL="0">
              <a:buNone/>
            </a:pPr>
            <a:r>
              <a:rPr lang="en-US" sz="2040" b="1" dirty="0">
                <a:solidFill>
                  <a:srgbClr val="1668B8"/>
                </a:solidFill>
                <a:latin typeface="Calibri" pitchFamily="34" charset="0"/>
                <a:ea typeface="Calibri" pitchFamily="34" charset="-122"/>
                <a:cs typeface="Calibri" pitchFamily="34" charset="-120"/>
              </a:rPr>
              <a:t>01</a:t>
            </a:r>
            <a:endParaRPr lang="en-US" sz="2040" dirty="0"/>
          </a:p>
        </p:txBody>
      </p:sp>
      <p:sp>
        <p:nvSpPr>
          <p:cNvPr id="8" name="Text 6"/>
          <p:cNvSpPr txBox="1"/>
          <p:nvPr/>
        </p:nvSpPr>
        <p:spPr>
          <a:xfrm>
            <a:off x="1828800" y="2670048"/>
            <a:ext cx="3886200" cy="685800"/>
          </a:xfrm>
          <a:prstGeom prst="rect">
            <a:avLst/>
          </a:prstGeom>
          <a:noFill/>
          <a:ln/>
        </p:spPr>
        <p:txBody>
          <a:bodyPr wrap="square" lIns="0" tIns="0" rIns="0" bIns="0" rtlCol="0" anchor="ctr"/>
          <a:lstStyle/>
          <a:p>
            <a:pPr algn="l" indent="0" marL="0">
              <a:buNone/>
            </a:pPr>
            <a:r>
              <a:rPr lang="en-US" sz="1900" b="1" dirty="0">
                <a:solidFill>
                  <a:srgbClr val="0E2A47"/>
                </a:solidFill>
                <a:latin typeface="Calibri" pitchFamily="34" charset="0"/>
                <a:ea typeface="Calibri" pitchFamily="34" charset="-122"/>
                <a:cs typeface="Calibri" pitchFamily="34" charset="-120"/>
              </a:rPr>
              <a:t>WhatsApp Marketing</a:t>
            </a:r>
            <a:endParaRPr lang="en-US" sz="1900" dirty="0"/>
          </a:p>
        </p:txBody>
      </p:sp>
      <p:sp>
        <p:nvSpPr>
          <p:cNvPr id="9" name="Text 7"/>
          <p:cNvSpPr txBox="1"/>
          <p:nvPr/>
        </p:nvSpPr>
        <p:spPr>
          <a:xfrm>
            <a:off x="914400" y="3657600"/>
            <a:ext cx="4709160" cy="2011680"/>
          </a:xfrm>
          <a:prstGeom prst="rect">
            <a:avLst/>
          </a:prstGeom>
          <a:noFill/>
          <a:ln/>
        </p:spPr>
        <p:txBody>
          <a:bodyPr wrap="square" lIns="0" tIns="0" rIns="0" bIns="0" rtlCol="0" anchor="t"/>
          <a:lstStyle/>
          <a:p>
            <a:pPr algn="l" indent="0" marL="0">
              <a:lnSpc>
                <a:spcPct val="118000"/>
              </a:lnSpc>
              <a:buNone/>
            </a:pPr>
            <a:r>
              <a:rPr lang="en-US" sz="1400" dirty="0">
                <a:solidFill>
                  <a:srgbClr val="1B2A3A"/>
                </a:solidFill>
                <a:latin typeface="Calibri" pitchFamily="34" charset="0"/>
                <a:ea typeface="Calibri" pitchFamily="34" charset="-122"/>
                <a:cs typeface="Calibri" pitchFamily="34" charset="-120"/>
              </a:rPr>
              <a:t>A time- and cost-effective way to share new products, services, offers and app marketing using tools like Mbasket — building awareness and brand presence online and offline.</a:t>
            </a:r>
            <a:endParaRPr lang="en-US" sz="1400" dirty="0"/>
          </a:p>
        </p:txBody>
      </p:sp>
      <p:sp>
        <p:nvSpPr>
          <p:cNvPr id="10" name="Shape 8"/>
          <p:cNvSpPr/>
          <p:nvPr/>
        </p:nvSpPr>
        <p:spPr>
          <a:xfrm>
            <a:off x="6172200" y="2286000"/>
            <a:ext cx="5440680" cy="3566160"/>
          </a:xfrm>
          <a:prstGeom prst="roundRect">
            <a:avLst>
              <a:gd name="adj" fmla="val 282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11" name="Shape 9"/>
          <p:cNvSpPr/>
          <p:nvPr/>
        </p:nvSpPr>
        <p:spPr>
          <a:xfrm>
            <a:off x="6492240" y="2606040"/>
            <a:ext cx="777240" cy="777240"/>
          </a:xfrm>
          <a:prstGeom prst="roundRect">
            <a:avLst>
              <a:gd name="adj" fmla="val 14118"/>
            </a:avLst>
          </a:prstGeom>
          <a:solidFill>
            <a:srgbClr val="FDEEDA"/>
          </a:solidFill>
          <a:ln/>
        </p:spPr>
      </p:sp>
      <p:sp>
        <p:nvSpPr>
          <p:cNvPr id="12" name="Text 10"/>
          <p:cNvSpPr txBox="1"/>
          <p:nvPr/>
        </p:nvSpPr>
        <p:spPr>
          <a:xfrm>
            <a:off x="6492240" y="2606040"/>
            <a:ext cx="777240" cy="777240"/>
          </a:xfrm>
          <a:prstGeom prst="rect">
            <a:avLst/>
          </a:prstGeom>
          <a:noFill/>
          <a:ln/>
        </p:spPr>
        <p:txBody>
          <a:bodyPr wrap="square" lIns="0" tIns="0" rIns="0" bIns="0" rtlCol="0" anchor="ctr"/>
          <a:lstStyle/>
          <a:p>
            <a:pPr algn="ctr" indent="0" marL="0">
              <a:buNone/>
            </a:pPr>
            <a:r>
              <a:rPr lang="en-US" sz="2040" b="1" dirty="0">
                <a:solidFill>
                  <a:srgbClr val="C77F17"/>
                </a:solidFill>
                <a:latin typeface="Calibri" pitchFamily="34" charset="0"/>
                <a:ea typeface="Calibri" pitchFamily="34" charset="-122"/>
                <a:cs typeface="Calibri" pitchFamily="34" charset="-120"/>
              </a:rPr>
              <a:t>02</a:t>
            </a:r>
            <a:endParaRPr lang="en-US" sz="2040" dirty="0"/>
          </a:p>
        </p:txBody>
      </p:sp>
      <p:sp>
        <p:nvSpPr>
          <p:cNvPr id="13" name="Text 11"/>
          <p:cNvSpPr txBox="1"/>
          <p:nvPr/>
        </p:nvSpPr>
        <p:spPr>
          <a:xfrm>
            <a:off x="7452360" y="2670048"/>
            <a:ext cx="3886200" cy="685800"/>
          </a:xfrm>
          <a:prstGeom prst="rect">
            <a:avLst/>
          </a:prstGeom>
          <a:noFill/>
          <a:ln/>
        </p:spPr>
        <p:txBody>
          <a:bodyPr wrap="square" lIns="0" tIns="0" rIns="0" bIns="0" rtlCol="0" anchor="ctr"/>
          <a:lstStyle/>
          <a:p>
            <a:pPr algn="l" indent="0" marL="0">
              <a:buNone/>
            </a:pPr>
            <a:r>
              <a:rPr lang="en-US" sz="1900" b="1" dirty="0">
                <a:solidFill>
                  <a:srgbClr val="0E2A47"/>
                </a:solidFill>
                <a:latin typeface="Calibri" pitchFamily="34" charset="0"/>
                <a:ea typeface="Calibri" pitchFamily="34" charset="-122"/>
                <a:cs typeface="Calibri" pitchFamily="34" charset="-120"/>
              </a:rPr>
              <a:t>SMS Marketing</a:t>
            </a:r>
            <a:endParaRPr lang="en-US" sz="1900" dirty="0"/>
          </a:p>
        </p:txBody>
      </p:sp>
      <p:sp>
        <p:nvSpPr>
          <p:cNvPr id="14" name="Text 12"/>
          <p:cNvSpPr txBox="1"/>
          <p:nvPr/>
        </p:nvSpPr>
        <p:spPr>
          <a:xfrm>
            <a:off x="6537960" y="3657600"/>
            <a:ext cx="4709160" cy="2011680"/>
          </a:xfrm>
          <a:prstGeom prst="rect">
            <a:avLst/>
          </a:prstGeom>
          <a:noFill/>
          <a:ln/>
        </p:spPr>
        <p:txBody>
          <a:bodyPr wrap="square" lIns="0" tIns="0" rIns="0" bIns="0" rtlCol="0" anchor="t"/>
          <a:lstStyle/>
          <a:p>
            <a:pPr algn="l" indent="0" marL="0">
              <a:lnSpc>
                <a:spcPct val="118000"/>
              </a:lnSpc>
              <a:buNone/>
            </a:pPr>
            <a:r>
              <a:rPr lang="en-US" sz="1400" dirty="0">
                <a:solidFill>
                  <a:srgbClr val="1B2A3A"/>
                </a:solidFill>
                <a:latin typeface="Calibri" pitchFamily="34" charset="0"/>
                <a:ea typeface="Calibri" pitchFamily="34" charset="-122"/>
                <a:cs typeface="Calibri" pitchFamily="34" charset="-120"/>
              </a:rPr>
              <a:t>Textlocal business SMS to promote services and stay connected with candidates and clients — job updates, interview confirmations, and follow-ups — boosting productivity and cutting cold calls.</a:t>
            </a:r>
            <a:endParaRPr lang="en-US" sz="1400" dirty="0"/>
          </a:p>
        </p:txBody>
      </p:sp>
      <p:sp>
        <p:nvSpPr>
          <p:cNvPr id="15" name="Text 13"/>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6" name="Text 14"/>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LIFECYCLE MARKETING</a:t>
            </a:r>
            <a:endParaRPr lang="en-US" sz="1250" dirty="0"/>
          </a:p>
        </p:txBody>
      </p:sp>
      <p:sp>
        <p:nvSpPr>
          <p:cNvPr id="4" name="Text 2"/>
          <p:cNvSpPr txBox="1"/>
          <p:nvPr/>
        </p:nvSpPr>
        <p:spPr>
          <a:xfrm>
            <a:off x="548640" y="1170432"/>
            <a:ext cx="96012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Email Marketing &amp; Automation</a:t>
            </a:r>
            <a:endParaRPr lang="en-US" sz="3400" dirty="0"/>
          </a:p>
        </p:txBody>
      </p:sp>
      <p:sp>
        <p:nvSpPr>
          <p:cNvPr id="5" name="Shape 3"/>
          <p:cNvSpPr/>
          <p:nvPr/>
        </p:nvSpPr>
        <p:spPr>
          <a:xfrm>
            <a:off x="548640" y="2286000"/>
            <a:ext cx="3429000" cy="3749040"/>
          </a:xfrm>
          <a:prstGeom prst="roundRect">
            <a:avLst>
              <a:gd name="adj" fmla="val 293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sp>
        <p:nvSpPr>
          <p:cNvPr id="6" name="Text 4"/>
          <p:cNvSpPr txBox="1"/>
          <p:nvPr/>
        </p:nvSpPr>
        <p:spPr>
          <a:xfrm>
            <a:off x="777240" y="2487168"/>
            <a:ext cx="301752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PLATFORMS</a:t>
            </a:r>
            <a:endParaRPr lang="en-US" sz="1100" dirty="0"/>
          </a:p>
        </p:txBody>
      </p:sp>
      <p:sp>
        <p:nvSpPr>
          <p:cNvPr id="7" name="Text 5"/>
          <p:cNvSpPr txBox="1"/>
          <p:nvPr/>
        </p:nvSpPr>
        <p:spPr>
          <a:xfrm>
            <a:off x="777240" y="2788920"/>
            <a:ext cx="3017520" cy="1005840"/>
          </a:xfrm>
          <a:prstGeom prst="rect">
            <a:avLst/>
          </a:prstGeom>
          <a:noFill/>
          <a:ln/>
        </p:spPr>
        <p:txBody>
          <a:bodyPr wrap="square" lIns="0" tIns="0" rIns="0" bIns="0" rtlCol="0" anchor="t"/>
          <a:lstStyle/>
          <a:p>
            <a:pPr algn="l" marL="203200" indent="-203200">
              <a:lnSpc>
                <a:spcPct val="102000"/>
              </a:lnSpc>
              <a:spcAft>
                <a:spcPts val="800"/>
              </a:spcAft>
              <a:buSzPct val="100000"/>
              <a:buChar char="•"/>
            </a:pPr>
            <a:r>
              <a:rPr lang="en-US" sz="1450" dirty="0">
                <a:solidFill>
                  <a:srgbClr val="1B2A3A"/>
                </a:solidFill>
                <a:latin typeface="Calibri" pitchFamily="34" charset="0"/>
                <a:ea typeface="Calibri" pitchFamily="34" charset="-122"/>
                <a:cs typeface="Calibri" pitchFamily="34" charset="-120"/>
              </a:rPr>
              <a:t>SendGrid</a:t>
            </a:r>
            <a:endParaRPr lang="en-US" sz="1450" dirty="0"/>
          </a:p>
          <a:p>
            <a:pPr algn="l" marL="203200" indent="-203200">
              <a:lnSpc>
                <a:spcPct val="102000"/>
              </a:lnSpc>
              <a:spcAft>
                <a:spcPts val="800"/>
              </a:spcAft>
              <a:buSzPct val="100000"/>
              <a:buChar char="•"/>
            </a:pPr>
            <a:r>
              <a:rPr lang="en-US" sz="1450" dirty="0">
                <a:solidFill>
                  <a:srgbClr val="1B2A3A"/>
                </a:solidFill>
                <a:latin typeface="Calibri" pitchFamily="34" charset="0"/>
                <a:ea typeface="Calibri" pitchFamily="34" charset="-122"/>
                <a:cs typeface="Calibri" pitchFamily="34" charset="-120"/>
              </a:rPr>
              <a:t>Mailchimp</a:t>
            </a:r>
            <a:endParaRPr lang="en-US" sz="1450" dirty="0"/>
          </a:p>
          <a:p>
            <a:pPr algn="l" marL="203200" indent="-203200">
              <a:lnSpc>
                <a:spcPct val="102000"/>
              </a:lnSpc>
              <a:spcAft>
                <a:spcPts val="800"/>
              </a:spcAft>
              <a:buSzPct val="100000"/>
              <a:buChar char="•"/>
            </a:pPr>
            <a:r>
              <a:rPr lang="en-US" sz="1450" dirty="0">
                <a:solidFill>
                  <a:srgbClr val="1B2A3A"/>
                </a:solidFill>
                <a:latin typeface="Calibri" pitchFamily="34" charset="0"/>
                <a:ea typeface="Calibri" pitchFamily="34" charset="-122"/>
                <a:cs typeface="Calibri" pitchFamily="34" charset="-120"/>
              </a:rPr>
              <a:t>Mailgun</a:t>
            </a:r>
            <a:endParaRPr lang="en-US" sz="1450" dirty="0"/>
          </a:p>
        </p:txBody>
      </p:sp>
      <p:sp>
        <p:nvSpPr>
          <p:cNvPr id="8" name="Text 6"/>
          <p:cNvSpPr txBox="1"/>
          <p:nvPr/>
        </p:nvSpPr>
        <p:spPr>
          <a:xfrm>
            <a:off x="777240" y="3886200"/>
            <a:ext cx="3017520" cy="274320"/>
          </a:xfrm>
          <a:prstGeom prst="rect">
            <a:avLst/>
          </a:prstGeom>
          <a:noFill/>
          <a:ln/>
        </p:spPr>
        <p:txBody>
          <a:bodyPr wrap="square" lIns="0" tIns="0" rIns="0" bIns="0" rtlCol="0" anchor="ctr"/>
          <a:lstStyle/>
          <a:p>
            <a:pPr algn="l" indent="0" marL="0">
              <a:buNone/>
            </a:pPr>
            <a:r>
              <a:rPr lang="en-US" sz="1100" b="1" spc="200" kern="0" dirty="0">
                <a:solidFill>
                  <a:srgbClr val="1668B8"/>
                </a:solidFill>
                <a:latin typeface="Calibri" pitchFamily="34" charset="0"/>
                <a:ea typeface="Calibri" pitchFamily="34" charset="-122"/>
                <a:cs typeface="Calibri" pitchFamily="34" charset="-120"/>
              </a:rPr>
              <a:t>CAPABILITIES</a:t>
            </a:r>
            <a:endParaRPr lang="en-US" sz="1100" dirty="0"/>
          </a:p>
        </p:txBody>
      </p:sp>
      <p:sp>
        <p:nvSpPr>
          <p:cNvPr id="9" name="Text 7"/>
          <p:cNvSpPr txBox="1"/>
          <p:nvPr/>
        </p:nvSpPr>
        <p:spPr>
          <a:xfrm>
            <a:off x="777240" y="4187952"/>
            <a:ext cx="3063240" cy="1737360"/>
          </a:xfrm>
          <a:prstGeom prst="rect">
            <a:avLst/>
          </a:prstGeom>
          <a:noFill/>
          <a:ln/>
        </p:spPr>
        <p:txBody>
          <a:bodyPr wrap="square" lIns="0" tIns="0" rIns="0" bIns="0" rtlCol="0" anchor="t"/>
          <a:lstStyle/>
          <a:p>
            <a:pPr algn="l" marL="203200" indent="-203200">
              <a:lnSpc>
                <a:spcPct val="102000"/>
              </a:lnSpc>
              <a:spcAft>
                <a:spcPts val="700"/>
              </a:spcAft>
              <a:buSzPct val="100000"/>
              <a:buChar char="•"/>
            </a:pPr>
            <a:r>
              <a:rPr lang="en-US" sz="1300" dirty="0">
                <a:solidFill>
                  <a:srgbClr val="1B2A3A"/>
                </a:solidFill>
                <a:latin typeface="Calibri" pitchFamily="34" charset="0"/>
                <a:ea typeface="Calibri" pitchFamily="34" charset="-122"/>
                <a:cs typeface="Calibri" pitchFamily="34" charset="-120"/>
              </a:rPr>
              <a:t>Email automation</a:t>
            </a:r>
            <a:endParaRPr lang="en-US" sz="1300" dirty="0"/>
          </a:p>
          <a:p>
            <a:pPr algn="l" marL="203200" indent="-203200">
              <a:lnSpc>
                <a:spcPct val="102000"/>
              </a:lnSpc>
              <a:spcAft>
                <a:spcPts val="700"/>
              </a:spcAft>
              <a:buSzPct val="100000"/>
              <a:buChar char="•"/>
            </a:pPr>
            <a:r>
              <a:rPr lang="en-US" sz="1300" dirty="0">
                <a:solidFill>
                  <a:srgbClr val="1B2A3A"/>
                </a:solidFill>
                <a:latin typeface="Calibri" pitchFamily="34" charset="0"/>
                <a:ea typeface="Calibri" pitchFamily="34" charset="-122"/>
                <a:cs typeface="Calibri" pitchFamily="34" charset="-120"/>
              </a:rPr>
              <a:t>Signup forms &amp; testing</a:t>
            </a:r>
            <a:endParaRPr lang="en-US" sz="1300" dirty="0"/>
          </a:p>
          <a:p>
            <a:pPr algn="l" marL="203200" indent="-203200">
              <a:lnSpc>
                <a:spcPct val="102000"/>
              </a:lnSpc>
              <a:spcAft>
                <a:spcPts val="700"/>
              </a:spcAft>
              <a:buSzPct val="100000"/>
              <a:buChar char="•"/>
            </a:pPr>
            <a:r>
              <a:rPr lang="en-US" sz="1300" dirty="0">
                <a:solidFill>
                  <a:srgbClr val="1B2A3A"/>
                </a:solidFill>
                <a:latin typeface="Calibri" pitchFamily="34" charset="0"/>
                <a:ea typeface="Calibri" pitchFamily="34" charset="-122"/>
                <a:cs typeface="Calibri" pitchFamily="34" charset="-120"/>
              </a:rPr>
              <a:t>Creative templates &amp; design</a:t>
            </a:r>
            <a:endParaRPr lang="en-US" sz="1300" dirty="0"/>
          </a:p>
          <a:p>
            <a:pPr algn="l" marL="203200" indent="-203200">
              <a:lnSpc>
                <a:spcPct val="102000"/>
              </a:lnSpc>
              <a:spcAft>
                <a:spcPts val="700"/>
              </a:spcAft>
              <a:buSzPct val="100000"/>
              <a:buChar char="•"/>
            </a:pPr>
            <a:r>
              <a:rPr lang="en-US" sz="1300" dirty="0">
                <a:solidFill>
                  <a:srgbClr val="1B2A3A"/>
                </a:solidFill>
                <a:latin typeface="Calibri" pitchFamily="34" charset="0"/>
                <a:ea typeface="Calibri" pitchFamily="34" charset="-122"/>
                <a:cs typeface="Calibri" pitchFamily="34" charset="-120"/>
              </a:rPr>
              <a:t>Delivery &amp; open-rate analytics</a:t>
            </a:r>
            <a:endParaRPr lang="en-US" sz="1300" dirty="0"/>
          </a:p>
        </p:txBody>
      </p:sp>
      <p:sp>
        <p:nvSpPr>
          <p:cNvPr id="10" name="Shape 8"/>
          <p:cNvSpPr/>
          <p:nvPr/>
        </p:nvSpPr>
        <p:spPr>
          <a:xfrm>
            <a:off x="4160520" y="2286000"/>
            <a:ext cx="7479792" cy="3749040"/>
          </a:xfrm>
          <a:prstGeom prst="roundRect">
            <a:avLst>
              <a:gd name="adj" fmla="val 268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1" name="Image 0" descr="img/cdd209314f.png">    </p:cNvPr>
          <p:cNvPicPr>
            <a:picLocks noChangeAspect="1"/>
          </p:cNvPicPr>
          <p:nvPr/>
        </p:nvPicPr>
        <p:blipFill>
          <a:blip r:embed="rId1"/>
          <a:stretch>
            <a:fillRect/>
          </a:stretch>
        </p:blipFill>
        <p:spPr>
          <a:xfrm>
            <a:off x="4306824" y="2498484"/>
            <a:ext cx="7187184" cy="3324073"/>
          </a:xfrm>
          <a:prstGeom prst="rect">
            <a:avLst/>
          </a:prstGeom>
        </p:spPr>
      </p:pic>
      <p:sp>
        <p:nvSpPr>
          <p:cNvPr id="12" name="Text 9"/>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3" name="Text 10"/>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INFLUENCER MARKETING</a:t>
            </a:r>
            <a:endParaRPr lang="en-US" sz="1250" dirty="0"/>
          </a:p>
        </p:txBody>
      </p:sp>
      <p:sp>
        <p:nvSpPr>
          <p:cNvPr id="4" name="Text 2"/>
          <p:cNvSpPr txBox="1"/>
          <p:nvPr/>
        </p:nvSpPr>
        <p:spPr>
          <a:xfrm>
            <a:off x="548640" y="1170432"/>
            <a:ext cx="100584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Influencer Discovery &amp; Management</a:t>
            </a:r>
            <a:endParaRPr lang="en-US" sz="3400" dirty="0"/>
          </a:p>
        </p:txBody>
      </p:sp>
      <p:sp>
        <p:nvSpPr>
          <p:cNvPr id="5" name="Text 3"/>
          <p:cNvSpPr txBox="1"/>
          <p:nvPr/>
        </p:nvSpPr>
        <p:spPr>
          <a:xfrm>
            <a:off x="548640" y="2011680"/>
            <a:ext cx="10972800" cy="502920"/>
          </a:xfrm>
          <a:prstGeom prst="rect">
            <a:avLst/>
          </a:prstGeom>
          <a:noFill/>
          <a:ln/>
        </p:spPr>
        <p:txBody>
          <a:bodyPr wrap="square" lIns="0" tIns="0" rIns="0" bIns="0" rtlCol="0" anchor="ctr"/>
          <a:lstStyle/>
          <a:p>
            <a:pPr algn="l" indent="0" marL="0">
              <a:lnSpc>
                <a:spcPct val="110000"/>
              </a:lnSpc>
              <a:buNone/>
            </a:pPr>
            <a:r>
              <a:rPr lang="en-US" sz="1400" dirty="0">
                <a:solidFill>
                  <a:srgbClr val="5F7183"/>
                </a:solidFill>
                <a:latin typeface="Calibri" pitchFamily="34" charset="0"/>
                <a:ea typeface="Calibri" pitchFamily="34" charset="-122"/>
                <a:cs typeface="Calibri" pitchFamily="34" charset="-120"/>
              </a:rPr>
              <a:t>Sourcing and managing influencers for a digital marketing agency — identifying creators on Instagram who meet set criteria to help brands grow their audience organically.</a:t>
            </a:r>
            <a:endParaRPr lang="en-US" sz="1400" dirty="0"/>
          </a:p>
        </p:txBody>
      </p:sp>
      <p:sp>
        <p:nvSpPr>
          <p:cNvPr id="6" name="Shape 4"/>
          <p:cNvSpPr/>
          <p:nvPr/>
        </p:nvSpPr>
        <p:spPr>
          <a:xfrm>
            <a:off x="548640" y="2651760"/>
            <a:ext cx="5532120" cy="3383280"/>
          </a:xfrm>
          <a:prstGeom prst="roundRect">
            <a:avLst>
              <a:gd name="adj" fmla="val 297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7" name="Image 0" descr="img/907202f530.png">    </p:cNvPr>
          <p:cNvPicPr>
            <a:picLocks noChangeAspect="1"/>
          </p:cNvPicPr>
          <p:nvPr/>
        </p:nvPicPr>
        <p:blipFill>
          <a:blip r:embed="rId1"/>
          <a:stretch>
            <a:fillRect/>
          </a:stretch>
        </p:blipFill>
        <p:spPr>
          <a:xfrm>
            <a:off x="969264" y="2779776"/>
            <a:ext cx="4690872" cy="3127248"/>
          </a:xfrm>
          <a:prstGeom prst="rect">
            <a:avLst/>
          </a:prstGeom>
        </p:spPr>
      </p:pic>
      <p:sp>
        <p:nvSpPr>
          <p:cNvPr id="8" name="Shape 5"/>
          <p:cNvSpPr/>
          <p:nvPr/>
        </p:nvSpPr>
        <p:spPr>
          <a:xfrm>
            <a:off x="6263640" y="2651760"/>
            <a:ext cx="5349240" cy="3383280"/>
          </a:xfrm>
          <a:prstGeom prst="roundRect">
            <a:avLst>
              <a:gd name="adj" fmla="val 2973"/>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9" name="Image 1" descr="img/00478e516b.png">    </p:cNvPr>
          <p:cNvPicPr>
            <a:picLocks noChangeAspect="1"/>
          </p:cNvPicPr>
          <p:nvPr/>
        </p:nvPicPr>
        <p:blipFill>
          <a:blip r:embed="rId2"/>
          <a:stretch>
            <a:fillRect/>
          </a:stretch>
        </p:blipFill>
        <p:spPr>
          <a:xfrm>
            <a:off x="6391656" y="2839256"/>
            <a:ext cx="5093208" cy="3008288"/>
          </a:xfrm>
          <a:prstGeom prst="rect">
            <a:avLst/>
          </a:prstGeom>
        </p:spPr>
      </p:pic>
      <p:sp>
        <p:nvSpPr>
          <p:cNvPr id="10" name="Text 6"/>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1" name="Text 7"/>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TOOLKIT</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Marketing Tools &amp; Platforms</a:t>
            </a:r>
            <a:endParaRPr lang="en-US" sz="3400" dirty="0"/>
          </a:p>
        </p:txBody>
      </p:sp>
      <p:sp>
        <p:nvSpPr>
          <p:cNvPr id="5" name="Shape 3"/>
          <p:cNvSpPr/>
          <p:nvPr/>
        </p:nvSpPr>
        <p:spPr>
          <a:xfrm>
            <a:off x="548640" y="2286000"/>
            <a:ext cx="3639312" cy="1627632"/>
          </a:xfrm>
          <a:prstGeom prst="roundRect">
            <a:avLst>
              <a:gd name="adj" fmla="val 6180"/>
            </a:avLst>
          </a:prstGeom>
          <a:solidFill>
            <a:srgbClr val="FFFFFF"/>
          </a:solidFill>
          <a:ln w="12700">
            <a:solidFill>
              <a:srgbClr val="DCE4EC"/>
            </a:solidFill>
            <a:prstDash val="solid"/>
          </a:ln>
        </p:spPr>
      </p:sp>
      <p:sp>
        <p:nvSpPr>
          <p:cNvPr id="6" name="Text 4"/>
          <p:cNvSpPr txBox="1"/>
          <p:nvPr/>
        </p:nvSpPr>
        <p:spPr>
          <a:xfrm>
            <a:off x="777240" y="2450592"/>
            <a:ext cx="3182112" cy="292608"/>
          </a:xfrm>
          <a:prstGeom prst="rect">
            <a:avLst/>
          </a:prstGeom>
          <a:noFill/>
          <a:ln/>
        </p:spPr>
        <p:txBody>
          <a:bodyPr wrap="square" lIns="0" tIns="0" rIns="0" bIns="0" rtlCol="0" anchor="ctr"/>
          <a:lstStyle/>
          <a:p>
            <a:pPr algn="l" indent="0" marL="0">
              <a:buNone/>
            </a:pPr>
            <a:r>
              <a:rPr lang="en-US" sz="1150" b="1" spc="150" kern="0" dirty="0">
                <a:solidFill>
                  <a:srgbClr val="F5A623"/>
                </a:solidFill>
                <a:latin typeface="Calibri" pitchFamily="34" charset="0"/>
                <a:ea typeface="Calibri" pitchFamily="34" charset="-122"/>
                <a:cs typeface="Calibri" pitchFamily="34" charset="-120"/>
              </a:rPr>
              <a:t>GRAPHICS &amp; VIDEO</a:t>
            </a:r>
            <a:endParaRPr lang="en-US" sz="1150" dirty="0"/>
          </a:p>
        </p:txBody>
      </p:sp>
      <p:sp>
        <p:nvSpPr>
          <p:cNvPr id="7" name="Text 5"/>
          <p:cNvSpPr txBox="1"/>
          <p:nvPr/>
        </p:nvSpPr>
        <p:spPr>
          <a:xfrm>
            <a:off x="777240" y="2788920"/>
            <a:ext cx="3182112" cy="1005840"/>
          </a:xfrm>
          <a:prstGeom prst="rect">
            <a:avLst/>
          </a:prstGeom>
          <a:noFill/>
          <a:ln/>
        </p:spPr>
        <p:txBody>
          <a:bodyPr wrap="square" lIns="0" tIns="0" rIns="0" bIns="0" rtlCol="0" anchor="t"/>
          <a:lstStyle/>
          <a:p>
            <a:pPr algn="l" indent="0" marL="0">
              <a:lnSpc>
                <a:spcPct val="115000"/>
              </a:lnSpc>
              <a:buNone/>
            </a:pPr>
            <a:r>
              <a:rPr lang="en-US" sz="1250" dirty="0">
                <a:solidFill>
                  <a:srgbClr val="1B2A3A"/>
                </a:solidFill>
                <a:latin typeface="Calibri" pitchFamily="34" charset="0"/>
                <a:ea typeface="Calibri" pitchFamily="34" charset="-122"/>
                <a:cs typeface="Calibri" pitchFamily="34" charset="-120"/>
              </a:rPr>
              <a:t>Canva   ·   VN Video Editor   ·   Pictory   ·   Capcut</a:t>
            </a:r>
            <a:endParaRPr lang="en-US" sz="1250" dirty="0"/>
          </a:p>
        </p:txBody>
      </p:sp>
      <p:sp>
        <p:nvSpPr>
          <p:cNvPr id="8" name="Shape 6"/>
          <p:cNvSpPr/>
          <p:nvPr/>
        </p:nvSpPr>
        <p:spPr>
          <a:xfrm>
            <a:off x="4361688" y="2286000"/>
            <a:ext cx="3639312" cy="1627632"/>
          </a:xfrm>
          <a:prstGeom prst="roundRect">
            <a:avLst>
              <a:gd name="adj" fmla="val 6180"/>
            </a:avLst>
          </a:prstGeom>
          <a:solidFill>
            <a:srgbClr val="FFFFFF"/>
          </a:solidFill>
          <a:ln w="12700">
            <a:solidFill>
              <a:srgbClr val="DCE4EC"/>
            </a:solidFill>
            <a:prstDash val="solid"/>
          </a:ln>
        </p:spPr>
      </p:sp>
      <p:sp>
        <p:nvSpPr>
          <p:cNvPr id="9" name="Text 7"/>
          <p:cNvSpPr txBox="1"/>
          <p:nvPr/>
        </p:nvSpPr>
        <p:spPr>
          <a:xfrm>
            <a:off x="4590288" y="2450592"/>
            <a:ext cx="3182112" cy="292608"/>
          </a:xfrm>
          <a:prstGeom prst="rect">
            <a:avLst/>
          </a:prstGeom>
          <a:noFill/>
          <a:ln/>
        </p:spPr>
        <p:txBody>
          <a:bodyPr wrap="square" lIns="0" tIns="0" rIns="0" bIns="0" rtlCol="0" anchor="ctr"/>
          <a:lstStyle/>
          <a:p>
            <a:pPr algn="l" indent="0" marL="0">
              <a:buNone/>
            </a:pPr>
            <a:r>
              <a:rPr lang="en-US" sz="1150" b="1" spc="150" kern="0" dirty="0">
                <a:solidFill>
                  <a:srgbClr val="F5A623"/>
                </a:solidFill>
                <a:latin typeface="Calibri" pitchFamily="34" charset="0"/>
                <a:ea typeface="Calibri" pitchFamily="34" charset="-122"/>
                <a:cs typeface="Calibri" pitchFamily="34" charset="-120"/>
              </a:rPr>
              <a:t>CONTENT PLANNING</a:t>
            </a:r>
            <a:endParaRPr lang="en-US" sz="1150" dirty="0"/>
          </a:p>
        </p:txBody>
      </p:sp>
      <p:sp>
        <p:nvSpPr>
          <p:cNvPr id="10" name="Text 8"/>
          <p:cNvSpPr txBox="1"/>
          <p:nvPr/>
        </p:nvSpPr>
        <p:spPr>
          <a:xfrm>
            <a:off x="4590288" y="2788920"/>
            <a:ext cx="3182112" cy="1005840"/>
          </a:xfrm>
          <a:prstGeom prst="rect">
            <a:avLst/>
          </a:prstGeom>
          <a:noFill/>
          <a:ln/>
        </p:spPr>
        <p:txBody>
          <a:bodyPr wrap="square" lIns="0" tIns="0" rIns="0" bIns="0" rtlCol="0" anchor="t"/>
          <a:lstStyle/>
          <a:p>
            <a:pPr algn="l" indent="0" marL="0">
              <a:lnSpc>
                <a:spcPct val="115000"/>
              </a:lnSpc>
              <a:buNone/>
            </a:pPr>
            <a:r>
              <a:rPr lang="en-US" sz="1250" dirty="0">
                <a:solidFill>
                  <a:srgbClr val="1B2A3A"/>
                </a:solidFill>
                <a:latin typeface="Calibri" pitchFamily="34" charset="0"/>
                <a:ea typeface="Calibri" pitchFamily="34" charset="-122"/>
                <a:cs typeface="Calibri" pitchFamily="34" charset="-120"/>
              </a:rPr>
              <a:t>Buffer   ·   Hootsuite   ·   Asana</a:t>
            </a:r>
            <a:endParaRPr lang="en-US" sz="1250" dirty="0"/>
          </a:p>
        </p:txBody>
      </p:sp>
      <p:sp>
        <p:nvSpPr>
          <p:cNvPr id="11" name="Shape 9"/>
          <p:cNvSpPr/>
          <p:nvPr/>
        </p:nvSpPr>
        <p:spPr>
          <a:xfrm>
            <a:off x="8174736" y="2286000"/>
            <a:ext cx="3639312" cy="1627632"/>
          </a:xfrm>
          <a:prstGeom prst="roundRect">
            <a:avLst>
              <a:gd name="adj" fmla="val 6180"/>
            </a:avLst>
          </a:prstGeom>
          <a:solidFill>
            <a:srgbClr val="FFFFFF"/>
          </a:solidFill>
          <a:ln w="12700">
            <a:solidFill>
              <a:srgbClr val="DCE4EC"/>
            </a:solidFill>
            <a:prstDash val="solid"/>
          </a:ln>
        </p:spPr>
      </p:sp>
      <p:sp>
        <p:nvSpPr>
          <p:cNvPr id="12" name="Text 10"/>
          <p:cNvSpPr txBox="1"/>
          <p:nvPr/>
        </p:nvSpPr>
        <p:spPr>
          <a:xfrm>
            <a:off x="8403336" y="2450592"/>
            <a:ext cx="3182112" cy="292608"/>
          </a:xfrm>
          <a:prstGeom prst="rect">
            <a:avLst/>
          </a:prstGeom>
          <a:noFill/>
          <a:ln/>
        </p:spPr>
        <p:txBody>
          <a:bodyPr wrap="square" lIns="0" tIns="0" rIns="0" bIns="0" rtlCol="0" anchor="ctr"/>
          <a:lstStyle/>
          <a:p>
            <a:pPr algn="l" indent="0" marL="0">
              <a:buNone/>
            </a:pPr>
            <a:r>
              <a:rPr lang="en-US" sz="1150" b="1" spc="150" kern="0" dirty="0">
                <a:solidFill>
                  <a:srgbClr val="F5A623"/>
                </a:solidFill>
                <a:latin typeface="Calibri" pitchFamily="34" charset="0"/>
                <a:ea typeface="Calibri" pitchFamily="34" charset="-122"/>
                <a:cs typeface="Calibri" pitchFamily="34" charset="-120"/>
              </a:rPr>
              <a:t>EMAIL MARKETING</a:t>
            </a:r>
            <a:endParaRPr lang="en-US" sz="1150" dirty="0"/>
          </a:p>
        </p:txBody>
      </p:sp>
      <p:sp>
        <p:nvSpPr>
          <p:cNvPr id="13" name="Text 11"/>
          <p:cNvSpPr txBox="1"/>
          <p:nvPr/>
        </p:nvSpPr>
        <p:spPr>
          <a:xfrm>
            <a:off x="8403336" y="2788920"/>
            <a:ext cx="3182112" cy="1005840"/>
          </a:xfrm>
          <a:prstGeom prst="rect">
            <a:avLst/>
          </a:prstGeom>
          <a:noFill/>
          <a:ln/>
        </p:spPr>
        <p:txBody>
          <a:bodyPr wrap="square" lIns="0" tIns="0" rIns="0" bIns="0" rtlCol="0" anchor="t"/>
          <a:lstStyle/>
          <a:p>
            <a:pPr algn="l" indent="0" marL="0">
              <a:lnSpc>
                <a:spcPct val="115000"/>
              </a:lnSpc>
              <a:buNone/>
            </a:pPr>
            <a:r>
              <a:rPr lang="en-US" sz="1250" dirty="0">
                <a:solidFill>
                  <a:srgbClr val="1B2A3A"/>
                </a:solidFill>
                <a:latin typeface="Calibri" pitchFamily="34" charset="0"/>
                <a:ea typeface="Calibri" pitchFamily="34" charset="-122"/>
                <a:cs typeface="Calibri" pitchFamily="34" charset="-120"/>
              </a:rPr>
              <a:t>SendGrid   ·   Mailchimp   ·   Mailgun</a:t>
            </a:r>
            <a:endParaRPr lang="en-US" sz="1250" dirty="0"/>
          </a:p>
        </p:txBody>
      </p:sp>
      <p:sp>
        <p:nvSpPr>
          <p:cNvPr id="14" name="Shape 12"/>
          <p:cNvSpPr/>
          <p:nvPr/>
        </p:nvSpPr>
        <p:spPr>
          <a:xfrm>
            <a:off x="548640" y="4059936"/>
            <a:ext cx="3639312" cy="1627632"/>
          </a:xfrm>
          <a:prstGeom prst="roundRect">
            <a:avLst>
              <a:gd name="adj" fmla="val 6180"/>
            </a:avLst>
          </a:prstGeom>
          <a:solidFill>
            <a:srgbClr val="FFFFFF"/>
          </a:solidFill>
          <a:ln w="12700">
            <a:solidFill>
              <a:srgbClr val="DCE4EC"/>
            </a:solidFill>
            <a:prstDash val="solid"/>
          </a:ln>
        </p:spPr>
      </p:sp>
      <p:sp>
        <p:nvSpPr>
          <p:cNvPr id="15" name="Text 13"/>
          <p:cNvSpPr txBox="1"/>
          <p:nvPr/>
        </p:nvSpPr>
        <p:spPr>
          <a:xfrm>
            <a:off x="777240" y="4224528"/>
            <a:ext cx="3182112" cy="292608"/>
          </a:xfrm>
          <a:prstGeom prst="rect">
            <a:avLst/>
          </a:prstGeom>
          <a:noFill/>
          <a:ln/>
        </p:spPr>
        <p:txBody>
          <a:bodyPr wrap="square" lIns="0" tIns="0" rIns="0" bIns="0" rtlCol="0" anchor="ctr"/>
          <a:lstStyle/>
          <a:p>
            <a:pPr algn="l" indent="0" marL="0">
              <a:buNone/>
            </a:pPr>
            <a:r>
              <a:rPr lang="en-US" sz="1150" b="1" spc="150" kern="0" dirty="0">
                <a:solidFill>
                  <a:srgbClr val="F5A623"/>
                </a:solidFill>
                <a:latin typeface="Calibri" pitchFamily="34" charset="0"/>
                <a:ea typeface="Calibri" pitchFamily="34" charset="-122"/>
                <a:cs typeface="Calibri" pitchFamily="34" charset="-120"/>
              </a:rPr>
              <a:t>ADS &amp; SOCIAL</a:t>
            </a:r>
            <a:endParaRPr lang="en-US" sz="1150" dirty="0"/>
          </a:p>
        </p:txBody>
      </p:sp>
      <p:sp>
        <p:nvSpPr>
          <p:cNvPr id="16" name="Text 14"/>
          <p:cNvSpPr txBox="1"/>
          <p:nvPr/>
        </p:nvSpPr>
        <p:spPr>
          <a:xfrm>
            <a:off x="777240" y="4562856"/>
            <a:ext cx="3182112" cy="1005840"/>
          </a:xfrm>
          <a:prstGeom prst="rect">
            <a:avLst/>
          </a:prstGeom>
          <a:noFill/>
          <a:ln/>
        </p:spPr>
        <p:txBody>
          <a:bodyPr wrap="square" lIns="0" tIns="0" rIns="0" bIns="0" rtlCol="0" anchor="t"/>
          <a:lstStyle/>
          <a:p>
            <a:pPr algn="l" indent="0" marL="0">
              <a:lnSpc>
                <a:spcPct val="115000"/>
              </a:lnSpc>
              <a:buNone/>
            </a:pPr>
            <a:r>
              <a:rPr lang="en-US" sz="1250" dirty="0">
                <a:solidFill>
                  <a:srgbClr val="1B2A3A"/>
                </a:solidFill>
                <a:latin typeface="Calibri" pitchFamily="34" charset="0"/>
                <a:ea typeface="Calibri" pitchFamily="34" charset="-122"/>
                <a:cs typeface="Calibri" pitchFamily="34" charset="-120"/>
              </a:rPr>
              <a:t>Meta Business Suite   ·   Facebook &amp; Instagram Ads   ·   LinkedIn Campaign Mgr   ·   Google Ad Manager</a:t>
            </a:r>
            <a:endParaRPr lang="en-US" sz="1250" dirty="0"/>
          </a:p>
        </p:txBody>
      </p:sp>
      <p:sp>
        <p:nvSpPr>
          <p:cNvPr id="17" name="Shape 15"/>
          <p:cNvSpPr/>
          <p:nvPr/>
        </p:nvSpPr>
        <p:spPr>
          <a:xfrm>
            <a:off x="4361688" y="4059936"/>
            <a:ext cx="3639312" cy="1627632"/>
          </a:xfrm>
          <a:prstGeom prst="roundRect">
            <a:avLst>
              <a:gd name="adj" fmla="val 6180"/>
            </a:avLst>
          </a:prstGeom>
          <a:solidFill>
            <a:srgbClr val="FFFFFF"/>
          </a:solidFill>
          <a:ln w="12700">
            <a:solidFill>
              <a:srgbClr val="DCE4EC"/>
            </a:solidFill>
            <a:prstDash val="solid"/>
          </a:ln>
        </p:spPr>
      </p:sp>
      <p:sp>
        <p:nvSpPr>
          <p:cNvPr id="18" name="Text 16"/>
          <p:cNvSpPr txBox="1"/>
          <p:nvPr/>
        </p:nvSpPr>
        <p:spPr>
          <a:xfrm>
            <a:off x="4590288" y="4224528"/>
            <a:ext cx="3182112" cy="292608"/>
          </a:xfrm>
          <a:prstGeom prst="rect">
            <a:avLst/>
          </a:prstGeom>
          <a:noFill/>
          <a:ln/>
        </p:spPr>
        <p:txBody>
          <a:bodyPr wrap="square" lIns="0" tIns="0" rIns="0" bIns="0" rtlCol="0" anchor="ctr"/>
          <a:lstStyle/>
          <a:p>
            <a:pPr algn="l" indent="0" marL="0">
              <a:buNone/>
            </a:pPr>
            <a:r>
              <a:rPr lang="en-US" sz="1150" b="1" spc="150" kern="0" dirty="0">
                <a:solidFill>
                  <a:srgbClr val="F5A623"/>
                </a:solidFill>
                <a:latin typeface="Calibri" pitchFamily="34" charset="0"/>
                <a:ea typeface="Calibri" pitchFamily="34" charset="-122"/>
                <a:cs typeface="Calibri" pitchFamily="34" charset="-120"/>
              </a:rPr>
              <a:t>SEO</a:t>
            </a:r>
            <a:endParaRPr lang="en-US" sz="1150" dirty="0"/>
          </a:p>
        </p:txBody>
      </p:sp>
      <p:sp>
        <p:nvSpPr>
          <p:cNvPr id="19" name="Text 17"/>
          <p:cNvSpPr txBox="1"/>
          <p:nvPr/>
        </p:nvSpPr>
        <p:spPr>
          <a:xfrm>
            <a:off x="4590288" y="4562856"/>
            <a:ext cx="3182112" cy="1005840"/>
          </a:xfrm>
          <a:prstGeom prst="rect">
            <a:avLst/>
          </a:prstGeom>
          <a:noFill/>
          <a:ln/>
        </p:spPr>
        <p:txBody>
          <a:bodyPr wrap="square" lIns="0" tIns="0" rIns="0" bIns="0" rtlCol="0" anchor="t"/>
          <a:lstStyle/>
          <a:p>
            <a:pPr algn="l" indent="0" marL="0">
              <a:lnSpc>
                <a:spcPct val="115000"/>
              </a:lnSpc>
              <a:buNone/>
            </a:pPr>
            <a:r>
              <a:rPr lang="en-US" sz="1250" dirty="0">
                <a:solidFill>
                  <a:srgbClr val="1B2A3A"/>
                </a:solidFill>
                <a:latin typeface="Calibri" pitchFamily="34" charset="0"/>
                <a:ea typeface="Calibri" pitchFamily="34" charset="-122"/>
                <a:cs typeface="Calibri" pitchFamily="34" charset="-120"/>
              </a:rPr>
              <a:t>SEMrush   ·   Moz   ·   Yoast SEO   ·   Ahrefs</a:t>
            </a:r>
            <a:endParaRPr lang="en-US" sz="1250" dirty="0"/>
          </a:p>
        </p:txBody>
      </p:sp>
      <p:sp>
        <p:nvSpPr>
          <p:cNvPr id="20" name="Shape 18"/>
          <p:cNvSpPr/>
          <p:nvPr/>
        </p:nvSpPr>
        <p:spPr>
          <a:xfrm>
            <a:off x="8174736" y="4059936"/>
            <a:ext cx="3639312" cy="1627632"/>
          </a:xfrm>
          <a:prstGeom prst="roundRect">
            <a:avLst>
              <a:gd name="adj" fmla="val 6180"/>
            </a:avLst>
          </a:prstGeom>
          <a:solidFill>
            <a:srgbClr val="FFFFFF"/>
          </a:solidFill>
          <a:ln w="12700">
            <a:solidFill>
              <a:srgbClr val="DCE4EC"/>
            </a:solidFill>
            <a:prstDash val="solid"/>
          </a:ln>
        </p:spPr>
      </p:sp>
      <p:sp>
        <p:nvSpPr>
          <p:cNvPr id="21" name="Text 19"/>
          <p:cNvSpPr txBox="1"/>
          <p:nvPr/>
        </p:nvSpPr>
        <p:spPr>
          <a:xfrm>
            <a:off x="8403336" y="4224528"/>
            <a:ext cx="3182112" cy="292608"/>
          </a:xfrm>
          <a:prstGeom prst="rect">
            <a:avLst/>
          </a:prstGeom>
          <a:noFill/>
          <a:ln/>
        </p:spPr>
        <p:txBody>
          <a:bodyPr wrap="square" lIns="0" tIns="0" rIns="0" bIns="0" rtlCol="0" anchor="ctr"/>
          <a:lstStyle/>
          <a:p>
            <a:pPr algn="l" indent="0" marL="0">
              <a:buNone/>
            </a:pPr>
            <a:r>
              <a:rPr lang="en-US" sz="1150" b="1" spc="150" kern="0" dirty="0">
                <a:solidFill>
                  <a:srgbClr val="F5A623"/>
                </a:solidFill>
                <a:latin typeface="Calibri" pitchFamily="34" charset="0"/>
                <a:ea typeface="Calibri" pitchFamily="34" charset="-122"/>
                <a:cs typeface="Calibri" pitchFamily="34" charset="-120"/>
              </a:rPr>
              <a:t>ANALYTICS</a:t>
            </a:r>
            <a:endParaRPr lang="en-US" sz="1150" dirty="0"/>
          </a:p>
        </p:txBody>
      </p:sp>
      <p:sp>
        <p:nvSpPr>
          <p:cNvPr id="22" name="Text 20"/>
          <p:cNvSpPr txBox="1"/>
          <p:nvPr/>
        </p:nvSpPr>
        <p:spPr>
          <a:xfrm>
            <a:off x="8403336" y="4562856"/>
            <a:ext cx="3182112" cy="1005840"/>
          </a:xfrm>
          <a:prstGeom prst="rect">
            <a:avLst/>
          </a:prstGeom>
          <a:noFill/>
          <a:ln/>
        </p:spPr>
        <p:txBody>
          <a:bodyPr wrap="square" lIns="0" tIns="0" rIns="0" bIns="0" rtlCol="0" anchor="t"/>
          <a:lstStyle/>
          <a:p>
            <a:pPr algn="l" indent="0" marL="0">
              <a:lnSpc>
                <a:spcPct val="115000"/>
              </a:lnSpc>
              <a:buNone/>
            </a:pPr>
            <a:r>
              <a:rPr lang="en-US" sz="1250" dirty="0">
                <a:solidFill>
                  <a:srgbClr val="1B2A3A"/>
                </a:solidFill>
                <a:latin typeface="Calibri" pitchFamily="34" charset="0"/>
                <a:ea typeface="Calibri" pitchFamily="34" charset="-122"/>
                <a:cs typeface="Calibri" pitchFamily="34" charset="-120"/>
              </a:rPr>
              <a:t>Google Analytics   ·   Search Console   ·   Data reporting</a:t>
            </a:r>
            <a:endParaRPr lang="en-US" sz="1250" dirty="0"/>
          </a:p>
        </p:txBody>
      </p:sp>
      <p:sp>
        <p:nvSpPr>
          <p:cNvPr id="23" name="Text 21"/>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4" name="Text 22"/>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412480" y="3108960"/>
            <a:ext cx="5669280" cy="5669280"/>
          </a:xfrm>
          <a:prstGeom prst="ellipse">
            <a:avLst/>
          </a:prstGeom>
          <a:solidFill>
            <a:srgbClr val="163A5F"/>
          </a:solidFill>
          <a:ln/>
        </p:spPr>
      </p:sp>
      <p:sp>
        <p:nvSpPr>
          <p:cNvPr id="3" name="Shape 1"/>
          <p:cNvSpPr/>
          <p:nvPr/>
        </p:nvSpPr>
        <p:spPr>
          <a:xfrm>
            <a:off x="-2011680" y="-2194560"/>
            <a:ext cx="4206240" cy="4206240"/>
          </a:xfrm>
          <a:prstGeom prst="ellipse">
            <a:avLst/>
          </a:prstGeom>
          <a:solidFill>
            <a:srgbClr val="163A5F"/>
          </a:solidFill>
          <a:ln/>
        </p:spPr>
      </p:sp>
      <p:sp>
        <p:nvSpPr>
          <p:cNvPr id="4" name="Text 2"/>
          <p:cNvSpPr txBox="1"/>
          <p:nvPr/>
        </p:nvSpPr>
        <p:spPr>
          <a:xfrm>
            <a:off x="7315200" y="182880"/>
            <a:ext cx="4754880" cy="6492240"/>
          </a:xfrm>
          <a:prstGeom prst="rect">
            <a:avLst/>
          </a:prstGeom>
          <a:noFill/>
          <a:ln/>
        </p:spPr>
        <p:txBody>
          <a:bodyPr wrap="square" lIns="0" tIns="0" rIns="0" bIns="0" rtlCol="0" anchor="ctr"/>
          <a:lstStyle/>
          <a:p>
            <a:pPr algn="r" indent="0" marL="0">
              <a:buNone/>
            </a:pPr>
            <a:r>
              <a:rPr lang="en-US" sz="34000" b="1" dirty="0">
                <a:solidFill>
                  <a:srgbClr val="163A5F"/>
                </a:solidFill>
                <a:latin typeface="Calibri" pitchFamily="34" charset="0"/>
                <a:ea typeface="Calibri" pitchFamily="34" charset="-122"/>
                <a:cs typeface="Calibri" pitchFamily="34" charset="-120"/>
              </a:rPr>
              <a:t>05</a:t>
            </a:r>
            <a:endParaRPr lang="en-US" sz="34000" dirty="0"/>
          </a:p>
        </p:txBody>
      </p:sp>
      <p:sp>
        <p:nvSpPr>
          <p:cNvPr id="5" name="Shape 3"/>
          <p:cNvSpPr/>
          <p:nvPr/>
        </p:nvSpPr>
        <p:spPr>
          <a:xfrm>
            <a:off x="914400" y="2331720"/>
            <a:ext cx="457200" cy="82296"/>
          </a:xfrm>
          <a:prstGeom prst="rect">
            <a:avLst/>
          </a:prstGeom>
          <a:solidFill>
            <a:srgbClr val="F5A623"/>
          </a:solidFill>
          <a:ln/>
        </p:spPr>
      </p:sp>
      <p:sp>
        <p:nvSpPr>
          <p:cNvPr id="6" name="Text 4"/>
          <p:cNvSpPr txBox="1"/>
          <p:nvPr/>
        </p:nvSpPr>
        <p:spPr>
          <a:xfrm>
            <a:off x="914400" y="2514600"/>
            <a:ext cx="73152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SECTION FIVE</a:t>
            </a:r>
            <a:endParaRPr lang="en-US" sz="1250" dirty="0"/>
          </a:p>
        </p:txBody>
      </p:sp>
      <p:sp>
        <p:nvSpPr>
          <p:cNvPr id="7" name="Text 5"/>
          <p:cNvSpPr txBox="1"/>
          <p:nvPr/>
        </p:nvSpPr>
        <p:spPr>
          <a:xfrm>
            <a:off x="868680" y="2880360"/>
            <a:ext cx="7498080" cy="1737360"/>
          </a:xfrm>
          <a:prstGeom prst="rect">
            <a:avLst/>
          </a:prstGeom>
          <a:noFill/>
          <a:ln/>
        </p:spPr>
        <p:txBody>
          <a:bodyPr wrap="square" lIns="0" tIns="0" rIns="0" bIns="0" rtlCol="0" anchor="t"/>
          <a:lstStyle/>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Creative</a:t>
            </a:r>
            <a:endParaRPr lang="en-US" sz="5200" dirty="0"/>
          </a:p>
          <a:p>
            <a:pPr algn="l" indent="0" marL="0">
              <a:lnSpc>
                <a:spcPct val="98000"/>
              </a:lnSpc>
              <a:buNone/>
            </a:pPr>
            <a:r>
              <a:rPr lang="en-US" sz="5200" b="1" dirty="0">
                <a:solidFill>
                  <a:srgbClr val="FFFFFF"/>
                </a:solidFill>
                <a:latin typeface="Calibri" pitchFamily="34" charset="0"/>
                <a:ea typeface="Calibri" pitchFamily="34" charset="-122"/>
                <a:cs typeface="Calibri" pitchFamily="34" charset="-120"/>
              </a:rPr>
              <a:t>Showcase</a:t>
            </a:r>
            <a:endParaRPr lang="en-US" sz="5200" dirty="0"/>
          </a:p>
        </p:txBody>
      </p:sp>
      <p:sp>
        <p:nvSpPr>
          <p:cNvPr id="8" name="Text 6"/>
          <p:cNvSpPr txBox="1"/>
          <p:nvPr/>
        </p:nvSpPr>
        <p:spPr>
          <a:xfrm>
            <a:off x="914400" y="4709160"/>
            <a:ext cx="6766560" cy="1097280"/>
          </a:xfrm>
          <a:prstGeom prst="rect">
            <a:avLst/>
          </a:prstGeom>
          <a:noFill/>
          <a:ln/>
        </p:spPr>
        <p:txBody>
          <a:bodyPr wrap="square" lIns="0" tIns="0" rIns="0" bIns="0" rtlCol="0" anchor="t"/>
          <a:lstStyle/>
          <a:p>
            <a:pPr algn="l" indent="0" marL="0">
              <a:lnSpc>
                <a:spcPct val="112000"/>
              </a:lnSpc>
              <a:buNone/>
            </a:pPr>
            <a:r>
              <a:rPr lang="en-US" sz="1500" dirty="0">
                <a:solidFill>
                  <a:srgbClr val="C9D6E5"/>
                </a:solidFill>
                <a:latin typeface="Calibri" pitchFamily="34" charset="0"/>
                <a:ea typeface="Calibri" pitchFamily="34" charset="-122"/>
                <a:cs typeface="Calibri" pitchFamily="34" charset="-120"/>
              </a:rPr>
              <a:t>Digital and print design that gives every campaign a consistent, on-brand look.</a:t>
            </a:r>
            <a:endParaRPr lang="en-US" sz="1500" dirty="0"/>
          </a:p>
        </p:txBody>
      </p:sp>
      <p:sp>
        <p:nvSpPr>
          <p:cNvPr id="9" name="Text 7"/>
          <p:cNvSpPr txBox="1"/>
          <p:nvPr/>
        </p:nvSpPr>
        <p:spPr>
          <a:xfrm>
            <a:off x="914400" y="6172200"/>
            <a:ext cx="5486400" cy="274320"/>
          </a:xfrm>
          <a:prstGeom prst="rect">
            <a:avLst/>
          </a:prstGeom>
          <a:noFill/>
          <a:ln/>
        </p:spPr>
        <p:txBody>
          <a:bodyPr wrap="square" lIns="0" tIns="0" rIns="0" bIns="0" rtlCol="0" anchor="ctr"/>
          <a:lstStyle/>
          <a:p>
            <a:pPr algn="l" indent="0" marL="0">
              <a:buNone/>
            </a:pPr>
            <a:r>
              <a:rPr lang="en-US" sz="1050" b="1" spc="300" kern="0" dirty="0">
                <a:solidFill>
                  <a:srgbClr val="7C93AC"/>
                </a:solidFill>
                <a:latin typeface="Calibri" pitchFamily="34" charset="0"/>
                <a:ea typeface="Calibri" pitchFamily="34" charset="-122"/>
                <a:cs typeface="Calibri" pitchFamily="34" charset="-120"/>
              </a:rPr>
              <a:t>CROWN</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DESIGN</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Creative Capabilities</a:t>
            </a:r>
            <a:endParaRPr lang="en-US" sz="3400" dirty="0"/>
          </a:p>
        </p:txBody>
      </p:sp>
      <p:sp>
        <p:nvSpPr>
          <p:cNvPr id="5" name="Shape 3"/>
          <p:cNvSpPr/>
          <p:nvPr/>
        </p:nvSpPr>
        <p:spPr>
          <a:xfrm>
            <a:off x="548640" y="2286000"/>
            <a:ext cx="3566160" cy="3749040"/>
          </a:xfrm>
          <a:prstGeom prst="roundRect">
            <a:avLst>
              <a:gd name="adj" fmla="val 2821"/>
            </a:avLst>
          </a:prstGeom>
          <a:solidFill>
            <a:srgbClr val="E8F1FB"/>
          </a:solidFill>
          <a:ln/>
          <a:effectLst>
            <a:outerShdw sx="100000" sy="100000" kx="0" ky="0" algn="bl" rotWithShape="0" blurRad="127000" dist="50800" dir="5400000">
              <a:srgbClr val="32506e">
                <a:alpha val="16000"/>
              </a:srgbClr>
            </a:outerShdw>
          </a:effectLst>
        </p:spPr>
      </p:sp>
      <p:sp>
        <p:nvSpPr>
          <p:cNvPr id="6" name="Text 4"/>
          <p:cNvSpPr txBox="1"/>
          <p:nvPr/>
        </p:nvSpPr>
        <p:spPr>
          <a:xfrm>
            <a:off x="777240" y="2514600"/>
            <a:ext cx="3108960" cy="320040"/>
          </a:xfrm>
          <a:prstGeom prst="rect">
            <a:avLst/>
          </a:prstGeom>
          <a:noFill/>
          <a:ln/>
        </p:spPr>
        <p:txBody>
          <a:bodyPr wrap="square" lIns="0" tIns="0" rIns="0" bIns="0" rtlCol="0" anchor="ctr"/>
          <a:lstStyle/>
          <a:p>
            <a:pPr algn="l" indent="0" marL="0">
              <a:buNone/>
            </a:pPr>
            <a:r>
              <a:rPr lang="en-US" sz="1300" b="1" spc="200" kern="0" dirty="0">
                <a:solidFill>
                  <a:srgbClr val="1668B8"/>
                </a:solidFill>
                <a:latin typeface="Calibri" pitchFamily="34" charset="0"/>
                <a:ea typeface="Calibri" pitchFamily="34" charset="-122"/>
                <a:cs typeface="Calibri" pitchFamily="34" charset="-120"/>
              </a:rPr>
              <a:t>DIGITAL</a:t>
            </a:r>
            <a:endParaRPr lang="en-US" sz="1300" dirty="0"/>
          </a:p>
        </p:txBody>
      </p:sp>
      <p:sp>
        <p:nvSpPr>
          <p:cNvPr id="7" name="Text 5"/>
          <p:cNvSpPr txBox="1"/>
          <p:nvPr/>
        </p:nvSpPr>
        <p:spPr>
          <a:xfrm>
            <a:off x="777240" y="2852928"/>
            <a:ext cx="3108960" cy="822960"/>
          </a:xfrm>
          <a:prstGeom prst="rect">
            <a:avLst/>
          </a:prstGeom>
          <a:noFill/>
          <a:ln/>
        </p:spPr>
        <p:txBody>
          <a:bodyPr wrap="square" lIns="0" tIns="0" rIns="0" bIns="0" rtlCol="0" anchor="t"/>
          <a:lstStyle/>
          <a:p>
            <a:pPr algn="l" indent="0" marL="0">
              <a:lnSpc>
                <a:spcPct val="115000"/>
              </a:lnSpc>
              <a:buNone/>
            </a:pPr>
            <a:r>
              <a:rPr lang="en-US" sz="1350" dirty="0">
                <a:solidFill>
                  <a:srgbClr val="1B2A3A"/>
                </a:solidFill>
                <a:latin typeface="Calibri" pitchFamily="34" charset="0"/>
                <a:ea typeface="Calibri" pitchFamily="34" charset="-122"/>
                <a:cs typeface="Calibri" pitchFamily="34" charset="-120"/>
              </a:rPr>
              <a:t>Websites, blogs, social media and digital devices.</a:t>
            </a:r>
            <a:endParaRPr lang="en-US" sz="1350" dirty="0"/>
          </a:p>
        </p:txBody>
      </p:sp>
      <p:sp>
        <p:nvSpPr>
          <p:cNvPr id="8" name="Text 6"/>
          <p:cNvSpPr txBox="1"/>
          <p:nvPr/>
        </p:nvSpPr>
        <p:spPr>
          <a:xfrm>
            <a:off x="777240" y="3840480"/>
            <a:ext cx="3108960" cy="320040"/>
          </a:xfrm>
          <a:prstGeom prst="rect">
            <a:avLst/>
          </a:prstGeom>
          <a:noFill/>
          <a:ln/>
        </p:spPr>
        <p:txBody>
          <a:bodyPr wrap="square" lIns="0" tIns="0" rIns="0" bIns="0" rtlCol="0" anchor="ctr"/>
          <a:lstStyle/>
          <a:p>
            <a:pPr algn="l" indent="0" marL="0">
              <a:buNone/>
            </a:pPr>
            <a:r>
              <a:rPr lang="en-US" sz="1300" b="1" spc="200" kern="0" dirty="0">
                <a:solidFill>
                  <a:srgbClr val="1668B8"/>
                </a:solidFill>
                <a:latin typeface="Calibri" pitchFamily="34" charset="0"/>
                <a:ea typeface="Calibri" pitchFamily="34" charset="-122"/>
                <a:cs typeface="Calibri" pitchFamily="34" charset="-120"/>
              </a:rPr>
              <a:t>PRINT</a:t>
            </a:r>
            <a:endParaRPr lang="en-US" sz="1300" dirty="0"/>
          </a:p>
        </p:txBody>
      </p:sp>
      <p:sp>
        <p:nvSpPr>
          <p:cNvPr id="9" name="Text 7"/>
          <p:cNvSpPr txBox="1"/>
          <p:nvPr/>
        </p:nvSpPr>
        <p:spPr>
          <a:xfrm>
            <a:off x="777240" y="4178808"/>
            <a:ext cx="3108960" cy="1280160"/>
          </a:xfrm>
          <a:prstGeom prst="rect">
            <a:avLst/>
          </a:prstGeom>
          <a:noFill/>
          <a:ln/>
        </p:spPr>
        <p:txBody>
          <a:bodyPr wrap="square" lIns="0" tIns="0" rIns="0" bIns="0" rtlCol="0" anchor="t"/>
          <a:lstStyle/>
          <a:p>
            <a:pPr algn="l" indent="0" marL="0">
              <a:lnSpc>
                <a:spcPct val="115000"/>
              </a:lnSpc>
              <a:buNone/>
            </a:pPr>
            <a:r>
              <a:rPr lang="en-US" sz="1350" dirty="0">
                <a:solidFill>
                  <a:srgbClr val="1B2A3A"/>
                </a:solidFill>
                <a:latin typeface="Calibri" pitchFamily="34" charset="0"/>
                <a:ea typeface="Calibri" pitchFamily="34" charset="-122"/>
                <a:cs typeface="Calibri" pitchFamily="34" charset="-120"/>
              </a:rPr>
              <a:t>Business stationery, advertising, packaging, brochures, flyers, roll-ups and more.</a:t>
            </a:r>
            <a:endParaRPr lang="en-US" sz="1350" dirty="0"/>
          </a:p>
        </p:txBody>
      </p:sp>
      <p:sp>
        <p:nvSpPr>
          <p:cNvPr id="10" name="Shape 8"/>
          <p:cNvSpPr/>
          <p:nvPr/>
        </p:nvSpPr>
        <p:spPr>
          <a:xfrm>
            <a:off x="4343400" y="2286000"/>
            <a:ext cx="3566160" cy="3749040"/>
          </a:xfrm>
          <a:prstGeom prst="roundRect">
            <a:avLst>
              <a:gd name="adj" fmla="val 282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1" name="Image 0" descr="img/5c48a2dfaa.png">    </p:cNvPr>
          <p:cNvPicPr>
            <a:picLocks noChangeAspect="1"/>
          </p:cNvPicPr>
          <p:nvPr/>
        </p:nvPicPr>
        <p:blipFill>
          <a:blip r:embed="rId1"/>
          <a:stretch>
            <a:fillRect/>
          </a:stretch>
        </p:blipFill>
        <p:spPr>
          <a:xfrm>
            <a:off x="4471416" y="2508872"/>
            <a:ext cx="3310128" cy="3303296"/>
          </a:xfrm>
          <a:prstGeom prst="rect">
            <a:avLst/>
          </a:prstGeom>
        </p:spPr>
      </p:pic>
      <p:sp>
        <p:nvSpPr>
          <p:cNvPr id="12" name="Shape 9"/>
          <p:cNvSpPr/>
          <p:nvPr/>
        </p:nvSpPr>
        <p:spPr>
          <a:xfrm>
            <a:off x="8046720" y="2286000"/>
            <a:ext cx="3566160" cy="3749040"/>
          </a:xfrm>
          <a:prstGeom prst="roundRect">
            <a:avLst>
              <a:gd name="adj" fmla="val 2821"/>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3" name="Image 1" descr="img/2527c1e143.png">    </p:cNvPr>
          <p:cNvPicPr>
            <a:picLocks noChangeAspect="1"/>
          </p:cNvPicPr>
          <p:nvPr/>
        </p:nvPicPr>
        <p:blipFill>
          <a:blip r:embed="rId2"/>
          <a:stretch>
            <a:fillRect/>
          </a:stretch>
        </p:blipFill>
        <p:spPr>
          <a:xfrm>
            <a:off x="8174736" y="2507834"/>
            <a:ext cx="3310128" cy="3305372"/>
          </a:xfrm>
          <a:prstGeom prst="rect">
            <a:avLst/>
          </a:prstGeom>
        </p:spPr>
      </p:pic>
      <p:sp>
        <p:nvSpPr>
          <p:cNvPr id="14" name="Text 10"/>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15" name="Text 11"/>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rect">
            <a:avLst/>
          </a:prstGeom>
          <a:solidFill>
            <a:srgbClr val="F5A623"/>
          </a:solidFill>
          <a:ln/>
        </p:spPr>
      </p:sp>
      <p:sp>
        <p:nvSpPr>
          <p:cNvPr id="3" name="Text 1"/>
          <p:cNvSpPr txBox="1"/>
          <p:nvPr/>
        </p:nvSpPr>
        <p:spPr>
          <a:xfrm>
            <a:off x="548640" y="896112"/>
            <a:ext cx="54864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PORTFOLIO</a:t>
            </a:r>
            <a:endParaRPr lang="en-US" sz="1250" dirty="0"/>
          </a:p>
        </p:txBody>
      </p:sp>
      <p:sp>
        <p:nvSpPr>
          <p:cNvPr id="4" name="Text 2"/>
          <p:cNvSpPr txBox="1"/>
          <p:nvPr/>
        </p:nvSpPr>
        <p:spPr>
          <a:xfrm>
            <a:off x="548640" y="1170432"/>
            <a:ext cx="9144000" cy="822960"/>
          </a:xfrm>
          <a:prstGeom prst="rect">
            <a:avLst/>
          </a:prstGeom>
          <a:noFill/>
          <a:ln/>
        </p:spPr>
        <p:txBody>
          <a:bodyPr wrap="square" lIns="0" tIns="0" rIns="0" bIns="0" rtlCol="0" anchor="t"/>
          <a:lstStyle/>
          <a:p>
            <a:pPr algn="l" indent="0" marL="0">
              <a:lnSpc>
                <a:spcPct val="98000"/>
              </a:lnSpc>
              <a:buNone/>
            </a:pPr>
            <a:r>
              <a:rPr lang="en-US" sz="3400" b="1" dirty="0">
                <a:solidFill>
                  <a:srgbClr val="0E2A47"/>
                </a:solidFill>
                <a:latin typeface="Calibri" pitchFamily="34" charset="0"/>
                <a:ea typeface="Calibri" pitchFamily="34" charset="-122"/>
                <a:cs typeface="Calibri" pitchFamily="34" charset="-120"/>
              </a:rPr>
              <a:t>Selected Creative Work</a:t>
            </a:r>
            <a:endParaRPr lang="en-US" sz="3400" dirty="0"/>
          </a:p>
        </p:txBody>
      </p:sp>
      <p:sp>
        <p:nvSpPr>
          <p:cNvPr id="5" name="Shape 3"/>
          <p:cNvSpPr/>
          <p:nvPr/>
        </p:nvSpPr>
        <p:spPr>
          <a:xfrm>
            <a:off x="548640" y="233172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6" name="Image 0" descr="img/5c8aaa5143.png">    </p:cNvPr>
          <p:cNvPicPr>
            <a:picLocks noChangeAspect="1"/>
          </p:cNvPicPr>
          <p:nvPr/>
        </p:nvPicPr>
        <p:blipFill>
          <a:blip r:embed="rId1"/>
          <a:stretch>
            <a:fillRect/>
          </a:stretch>
        </p:blipFill>
        <p:spPr>
          <a:xfrm>
            <a:off x="1110996" y="2423160"/>
            <a:ext cx="1554480" cy="1554480"/>
          </a:xfrm>
          <a:prstGeom prst="rect">
            <a:avLst/>
          </a:prstGeom>
        </p:spPr>
      </p:pic>
      <p:sp>
        <p:nvSpPr>
          <p:cNvPr id="7" name="Shape 4"/>
          <p:cNvSpPr/>
          <p:nvPr/>
        </p:nvSpPr>
        <p:spPr>
          <a:xfrm>
            <a:off x="3364992" y="233172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8" name="Image 1" descr="img/5bdd8a01fe.png">    </p:cNvPr>
          <p:cNvPicPr>
            <a:picLocks noChangeAspect="1"/>
          </p:cNvPicPr>
          <p:nvPr/>
        </p:nvPicPr>
        <p:blipFill>
          <a:blip r:embed="rId2"/>
          <a:stretch>
            <a:fillRect/>
          </a:stretch>
        </p:blipFill>
        <p:spPr>
          <a:xfrm>
            <a:off x="3927348" y="2423160"/>
            <a:ext cx="1554480" cy="1554480"/>
          </a:xfrm>
          <a:prstGeom prst="rect">
            <a:avLst/>
          </a:prstGeom>
        </p:spPr>
      </p:pic>
      <p:sp>
        <p:nvSpPr>
          <p:cNvPr id="9" name="Shape 5"/>
          <p:cNvSpPr/>
          <p:nvPr/>
        </p:nvSpPr>
        <p:spPr>
          <a:xfrm>
            <a:off x="6181344" y="233172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0" name="Image 2" descr="img/30db49dac2.png">    </p:cNvPr>
          <p:cNvPicPr>
            <a:picLocks noChangeAspect="1"/>
          </p:cNvPicPr>
          <p:nvPr/>
        </p:nvPicPr>
        <p:blipFill>
          <a:blip r:embed="rId3"/>
          <a:stretch>
            <a:fillRect/>
          </a:stretch>
        </p:blipFill>
        <p:spPr>
          <a:xfrm>
            <a:off x="6743700" y="2423160"/>
            <a:ext cx="1554480" cy="1554480"/>
          </a:xfrm>
          <a:prstGeom prst="rect">
            <a:avLst/>
          </a:prstGeom>
        </p:spPr>
      </p:pic>
      <p:sp>
        <p:nvSpPr>
          <p:cNvPr id="11" name="Shape 6"/>
          <p:cNvSpPr/>
          <p:nvPr/>
        </p:nvSpPr>
        <p:spPr>
          <a:xfrm>
            <a:off x="8997696" y="233172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2" name="Image 3" descr="img/89132a381e.png">    </p:cNvPr>
          <p:cNvPicPr>
            <a:picLocks noChangeAspect="1"/>
          </p:cNvPicPr>
          <p:nvPr/>
        </p:nvPicPr>
        <p:blipFill>
          <a:blip r:embed="rId4"/>
          <a:stretch>
            <a:fillRect/>
          </a:stretch>
        </p:blipFill>
        <p:spPr>
          <a:xfrm>
            <a:off x="9560052" y="2423160"/>
            <a:ext cx="1554480" cy="1554480"/>
          </a:xfrm>
          <a:prstGeom prst="rect">
            <a:avLst/>
          </a:prstGeom>
        </p:spPr>
      </p:pic>
      <p:sp>
        <p:nvSpPr>
          <p:cNvPr id="13" name="Shape 7"/>
          <p:cNvSpPr/>
          <p:nvPr/>
        </p:nvSpPr>
        <p:spPr>
          <a:xfrm>
            <a:off x="548640" y="420624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4" name="Image 4" descr="img/58df33f7c4.png">    </p:cNvPr>
          <p:cNvPicPr>
            <a:picLocks noChangeAspect="1"/>
          </p:cNvPicPr>
          <p:nvPr/>
        </p:nvPicPr>
        <p:blipFill>
          <a:blip r:embed="rId5"/>
          <a:stretch>
            <a:fillRect/>
          </a:stretch>
        </p:blipFill>
        <p:spPr>
          <a:xfrm>
            <a:off x="1110996" y="4297680"/>
            <a:ext cx="1554480" cy="1554480"/>
          </a:xfrm>
          <a:prstGeom prst="rect">
            <a:avLst/>
          </a:prstGeom>
        </p:spPr>
      </p:pic>
      <p:sp>
        <p:nvSpPr>
          <p:cNvPr id="15" name="Shape 8"/>
          <p:cNvSpPr/>
          <p:nvPr/>
        </p:nvSpPr>
        <p:spPr>
          <a:xfrm>
            <a:off x="3364992" y="420624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6" name="Image 5" descr="img/f9afce934b.png">    </p:cNvPr>
          <p:cNvPicPr>
            <a:picLocks noChangeAspect="1"/>
          </p:cNvPicPr>
          <p:nvPr/>
        </p:nvPicPr>
        <p:blipFill>
          <a:blip r:embed="rId6"/>
          <a:stretch>
            <a:fillRect/>
          </a:stretch>
        </p:blipFill>
        <p:spPr>
          <a:xfrm>
            <a:off x="3927348" y="4297680"/>
            <a:ext cx="1554480" cy="1554480"/>
          </a:xfrm>
          <a:prstGeom prst="rect">
            <a:avLst/>
          </a:prstGeom>
        </p:spPr>
      </p:pic>
      <p:sp>
        <p:nvSpPr>
          <p:cNvPr id="17" name="Shape 9"/>
          <p:cNvSpPr/>
          <p:nvPr/>
        </p:nvSpPr>
        <p:spPr>
          <a:xfrm>
            <a:off x="6181344" y="420624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18" name="Image 6" descr="img/5c48a2dfaa.png">    </p:cNvPr>
          <p:cNvPicPr>
            <a:picLocks noChangeAspect="1"/>
          </p:cNvPicPr>
          <p:nvPr/>
        </p:nvPicPr>
        <p:blipFill>
          <a:blip r:embed="rId7"/>
          <a:stretch>
            <a:fillRect/>
          </a:stretch>
        </p:blipFill>
        <p:spPr>
          <a:xfrm>
            <a:off x="6742092" y="4297680"/>
            <a:ext cx="1557695" cy="1554480"/>
          </a:xfrm>
          <a:prstGeom prst="rect">
            <a:avLst/>
          </a:prstGeom>
        </p:spPr>
      </p:pic>
      <p:sp>
        <p:nvSpPr>
          <p:cNvPr id="19" name="Shape 10"/>
          <p:cNvSpPr/>
          <p:nvPr/>
        </p:nvSpPr>
        <p:spPr>
          <a:xfrm>
            <a:off x="8997696" y="4206240"/>
            <a:ext cx="2679192" cy="1737360"/>
          </a:xfrm>
          <a:prstGeom prst="roundRect">
            <a:avLst>
              <a:gd name="adj" fmla="val 5789"/>
            </a:avLst>
          </a:prstGeom>
          <a:solidFill>
            <a:srgbClr val="FFFFFF"/>
          </a:solidFill>
          <a:ln w="12700">
            <a:solidFill>
              <a:srgbClr val="DCE4EC"/>
            </a:solidFill>
            <a:prstDash val="solid"/>
          </a:ln>
          <a:effectLst>
            <a:outerShdw sx="100000" sy="100000" kx="0" ky="0" algn="bl" rotWithShape="0" blurRad="127000" dist="50800" dir="5400000">
              <a:srgbClr val="32506e">
                <a:alpha val="16000"/>
              </a:srgbClr>
            </a:outerShdw>
          </a:effectLst>
        </p:spPr>
      </p:sp>
      <p:pic>
        <p:nvPicPr>
          <p:cNvPr id="20" name="Image 7" descr="img/6a09c3aae2.png">    </p:cNvPr>
          <p:cNvPicPr>
            <a:picLocks noChangeAspect="1"/>
          </p:cNvPicPr>
          <p:nvPr/>
        </p:nvPicPr>
        <p:blipFill>
          <a:blip r:embed="rId8"/>
          <a:stretch>
            <a:fillRect/>
          </a:stretch>
        </p:blipFill>
        <p:spPr>
          <a:xfrm>
            <a:off x="9560052" y="4297680"/>
            <a:ext cx="1554480" cy="1554480"/>
          </a:xfrm>
          <a:prstGeom prst="rect">
            <a:avLst/>
          </a:prstGeom>
        </p:spPr>
      </p:pic>
      <p:sp>
        <p:nvSpPr>
          <p:cNvPr id="21" name="Text 11"/>
          <p:cNvSpPr txBox="1"/>
          <p:nvPr/>
        </p:nvSpPr>
        <p:spPr>
          <a:xfrm>
            <a:off x="548640" y="6419088"/>
            <a:ext cx="6400800" cy="274320"/>
          </a:xfrm>
          <a:prstGeom prst="rect">
            <a:avLst/>
          </a:prstGeom>
          <a:noFill/>
          <a:ln/>
        </p:spPr>
        <p:txBody>
          <a:bodyPr wrap="square" lIns="0" tIns="0" rIns="0" bIns="0" rtlCol="0" anchor="ctr"/>
          <a:lstStyle/>
          <a:p>
            <a:pPr algn="l" indent="0" marL="0">
              <a:buNone/>
            </a:pPr>
            <a:r>
              <a:rPr lang="en-US" sz="950" b="1" dirty="0">
                <a:solidFill>
                  <a:srgbClr val="5F7183"/>
                </a:solidFill>
                <a:latin typeface="Calibri" pitchFamily="34" charset="0"/>
                <a:ea typeface="Calibri" pitchFamily="34" charset="-122"/>
                <a:cs typeface="Calibri" pitchFamily="34" charset="-120"/>
              </a:rPr>
              <a:t>Crown</a:t>
            </a:r>
            <a:pPr algn="l" indent="0" marL="0">
              <a:buNone/>
            </a:pPr>
            <a:r>
              <a:rPr lang="en-US" sz="950" dirty="0">
                <a:solidFill>
                  <a:srgbClr val="9AA9B8"/>
                </a:solidFill>
                <a:latin typeface="Calibri" pitchFamily="34" charset="0"/>
                <a:ea typeface="Calibri" pitchFamily="34" charset="-122"/>
                <a:cs typeface="Calibri" pitchFamily="34" charset="-120"/>
              </a:rPr>
              <a:t>   ·   Digital Marketing Agency</a:t>
            </a:r>
            <a:endParaRPr lang="en-US" sz="950" dirty="0"/>
          </a:p>
        </p:txBody>
      </p:sp>
      <p:sp>
        <p:nvSpPr>
          <p:cNvPr id="22" name="Text 12"/>
          <p:cNvSpPr txBox="1"/>
          <p:nvPr/>
        </p:nvSpPr>
        <p:spPr>
          <a:xfrm>
            <a:off x="11155680" y="6419088"/>
            <a:ext cx="502920" cy="274320"/>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412480" y="3108960"/>
            <a:ext cx="5669280" cy="5669280"/>
          </a:xfrm>
          <a:prstGeom prst="ellipse">
            <a:avLst/>
          </a:prstGeom>
          <a:solidFill>
            <a:srgbClr val="163A5F"/>
          </a:solidFill>
          <a:ln/>
        </p:spPr>
      </p:sp>
      <p:sp>
        <p:nvSpPr>
          <p:cNvPr id="3" name="Shape 1"/>
          <p:cNvSpPr/>
          <p:nvPr/>
        </p:nvSpPr>
        <p:spPr>
          <a:xfrm>
            <a:off x="-2011680" y="-2194560"/>
            <a:ext cx="4206240" cy="4206240"/>
          </a:xfrm>
          <a:prstGeom prst="ellipse">
            <a:avLst/>
          </a:prstGeom>
          <a:solidFill>
            <a:srgbClr val="163A5F"/>
          </a:solidFill>
          <a:ln/>
        </p:spPr>
      </p:sp>
      <p:sp>
        <p:nvSpPr>
          <p:cNvPr id="4" name="Shape 2"/>
          <p:cNvSpPr/>
          <p:nvPr/>
        </p:nvSpPr>
        <p:spPr>
          <a:xfrm>
            <a:off x="914400" y="1371600"/>
            <a:ext cx="457200" cy="82296"/>
          </a:xfrm>
          <a:prstGeom prst="rect">
            <a:avLst/>
          </a:prstGeom>
          <a:solidFill>
            <a:srgbClr val="F5A623"/>
          </a:solidFill>
          <a:ln/>
        </p:spPr>
      </p:sp>
      <p:sp>
        <p:nvSpPr>
          <p:cNvPr id="5" name="Text 3"/>
          <p:cNvSpPr txBox="1"/>
          <p:nvPr/>
        </p:nvSpPr>
        <p:spPr>
          <a:xfrm>
            <a:off x="914400" y="1554480"/>
            <a:ext cx="7315200" cy="292608"/>
          </a:xfrm>
          <a:prstGeom prst="rect">
            <a:avLst/>
          </a:prstGeom>
          <a:noFill/>
          <a:ln/>
        </p:spPr>
        <p:txBody>
          <a:bodyPr wrap="square" lIns="0" tIns="0" rIns="0" bIns="0" rtlCol="0" anchor="ctr"/>
          <a:lstStyle/>
          <a:p>
            <a:pPr algn="l" indent="0" marL="0">
              <a:buNone/>
            </a:pPr>
            <a:r>
              <a:rPr lang="en-US" sz="1250" b="1" spc="300" kern="0" dirty="0">
                <a:solidFill>
                  <a:srgbClr val="F5A623"/>
                </a:solidFill>
                <a:latin typeface="Calibri" pitchFamily="34" charset="0"/>
                <a:ea typeface="Calibri" pitchFamily="34" charset="-122"/>
                <a:cs typeface="Calibri" pitchFamily="34" charset="-120"/>
              </a:rPr>
              <a:t>LET'S WORK TOGETHER</a:t>
            </a:r>
            <a:endParaRPr lang="en-US" sz="1250" dirty="0"/>
          </a:p>
        </p:txBody>
      </p:sp>
      <p:sp>
        <p:nvSpPr>
          <p:cNvPr id="6" name="Text 4"/>
          <p:cNvSpPr txBox="1"/>
          <p:nvPr/>
        </p:nvSpPr>
        <p:spPr>
          <a:xfrm>
            <a:off x="868680" y="1874520"/>
            <a:ext cx="7315200" cy="118872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Get in Touch</a:t>
            </a:r>
            <a:endParaRPr lang="en-US" sz="5400" dirty="0"/>
          </a:p>
        </p:txBody>
      </p:sp>
      <p:sp>
        <p:nvSpPr>
          <p:cNvPr id="7" name="Text 5"/>
          <p:cNvSpPr txBox="1"/>
          <p:nvPr/>
        </p:nvSpPr>
        <p:spPr>
          <a:xfrm>
            <a:off x="914400" y="3154680"/>
            <a:ext cx="6766560" cy="822960"/>
          </a:xfrm>
          <a:prstGeom prst="rect">
            <a:avLst/>
          </a:prstGeom>
          <a:noFill/>
          <a:ln/>
        </p:spPr>
        <p:txBody>
          <a:bodyPr wrap="square" lIns="0" tIns="0" rIns="0" bIns="0" rtlCol="0" anchor="t"/>
          <a:lstStyle/>
          <a:p>
            <a:pPr algn="l" indent="0" marL="0">
              <a:lnSpc>
                <a:spcPct val="120000"/>
              </a:lnSpc>
              <a:buNone/>
            </a:pPr>
            <a:r>
              <a:rPr lang="en-US" sz="1800" dirty="0">
                <a:solidFill>
                  <a:srgbClr val="C9D6E5"/>
                </a:solidFill>
                <a:latin typeface="Calibri" pitchFamily="34" charset="0"/>
                <a:ea typeface="Calibri" pitchFamily="34" charset="-122"/>
                <a:cs typeface="Calibri" pitchFamily="34" charset="-120"/>
              </a:rPr>
              <a:t>Ready to grow your brand with data-driven digital marketing?</a:t>
            </a:r>
            <a:endParaRPr lang="en-US" sz="1800" dirty="0"/>
          </a:p>
        </p:txBody>
      </p:sp>
      <p:sp>
        <p:nvSpPr>
          <p:cNvPr id="8" name="Text 6"/>
          <p:cNvSpPr txBox="1"/>
          <p:nvPr/>
        </p:nvSpPr>
        <p:spPr>
          <a:xfrm>
            <a:off x="914400" y="4160520"/>
            <a:ext cx="6766560" cy="54864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Let's build something remarkable together.</a:t>
            </a:r>
            <a:endParaRPr lang="en-US" sz="2000" dirty="0"/>
          </a:p>
        </p:txBody>
      </p:sp>
      <p:sp>
        <p:nvSpPr>
          <p:cNvPr id="9" name="Shape 7"/>
          <p:cNvSpPr/>
          <p:nvPr/>
        </p:nvSpPr>
        <p:spPr>
          <a:xfrm>
            <a:off x="8778240" y="3200400"/>
            <a:ext cx="2743200" cy="2743200"/>
          </a:xfrm>
          <a:prstGeom prst="ellipse">
            <a:avLst/>
          </a:prstGeom>
          <a:solidFill>
            <a:srgbClr val="FFFFFF"/>
          </a:solidFill>
          <a:ln w="19050">
            <a:solidFill>
              <a:srgbClr val="1668B8"/>
            </a:solidFill>
            <a:prstDash val="solid"/>
          </a:ln>
        </p:spPr>
      </p:sp>
      <p:pic>
        <p:nvPicPr>
          <p:cNvPr id="10" name="Image 0" descr="img/6d9add46d2.png">    </p:cNvPr>
          <p:cNvPicPr>
            <a:picLocks noChangeAspect="1"/>
          </p:cNvPicPr>
          <p:nvPr/>
        </p:nvPicPr>
        <p:blipFill>
          <a:blip r:embed="rId1"/>
          <a:stretch>
            <a:fillRect/>
          </a:stretch>
        </p:blipFill>
        <p:spPr>
          <a:xfrm>
            <a:off x="9089136" y="3511296"/>
            <a:ext cx="2121408" cy="2121408"/>
          </a:xfrm>
          <a:prstGeom prst="rect">
            <a:avLst/>
          </a:prstGeom>
        </p:spPr>
      </p:pic>
      <p:sp>
        <p:nvSpPr>
          <p:cNvPr id="11" name="Text 8"/>
          <p:cNvSpPr txBox="1"/>
          <p:nvPr/>
        </p:nvSpPr>
        <p:spPr>
          <a:xfrm>
            <a:off x="7863840" y="5989320"/>
            <a:ext cx="3840480" cy="320040"/>
          </a:xfrm>
          <a:prstGeom prst="rect">
            <a:avLst/>
          </a:prstGeom>
          <a:noFill/>
          <a:ln/>
        </p:spPr>
        <p:txBody>
          <a:bodyPr wrap="square" lIns="0" tIns="0" rIns="0" bIns="0" rtlCol="0" anchor="ctr"/>
          <a:lstStyle/>
          <a:p>
            <a:pPr algn="ctr" indent="0" marL="0">
              <a:buNone/>
            </a:pPr>
            <a:r>
              <a:rPr lang="en-US" sz="1000" b="1" spc="150" kern="0" dirty="0">
                <a:solidFill>
                  <a:srgbClr val="7C93AC"/>
                </a:solidFill>
                <a:latin typeface="Calibri" pitchFamily="34" charset="0"/>
                <a:ea typeface="Calibri" pitchFamily="34" charset="-122"/>
                <a:cs typeface="Calibri" pitchFamily="34" charset="-120"/>
              </a:rPr>
              <a:t>CROWN  ·  DIGITAL MARKETING AGENCY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Crown — Digital Marketing Agency Portfolio</dc:title>
  <dc:subject>PptxGenJS Presentation</dc:subject>
  <dc:creator>Crown</dc:creator>
  <cp:lastModifiedBy>Crown</cp:lastModifiedBy>
  <cp:revision>1</cp:revision>
  <dcterms:created xsi:type="dcterms:W3CDTF">2026-09-09T03:59:45Z</dcterms:created>
  <dcterms:modified xsi:type="dcterms:W3CDTF">2026-09-09T03:59:45Z</dcterms:modified>
</cp:coreProperties>
</file>